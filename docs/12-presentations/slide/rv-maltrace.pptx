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</p:sldIdLst>
  <p:notesMasterIdLst>
    <p:notesMasterId r:id="rId8"/>
  </p:notesMaster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customXml" Target="../customXml/item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&lt;!--pageType:cover--&gt;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&lt;!--pageType:table_of_contents--&gt;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&lt;!--pageType:chapter--&gt;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&lt;!--pageType:content--&gt;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&lt;!--pageType:content--&gt;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&lt;!--pageType:content--&gt;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&lt;!--pageType:content--&gt;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&lt;!--pageType:chapter--&gt;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&lt;!--pageType:content--&gt;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&lt;!--pageType:content--&gt;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&lt;!--pageType:content--&gt;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&lt;!--pageType:chapter--&gt;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&lt;!--pageType:content--&gt;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&lt;!--pageType:content--&gt;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&lt;!--pageType:content--&gt;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&lt;!--pageType:chapter--&gt;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&lt;!--pageType:content--&gt;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&lt;!--pageType:content--&gt;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&lt;!--pageType:content--&gt;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&lt;!--pageType:content--&gt;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&lt;!--pageType:chapter--&gt;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&lt;!--pageType:content--&gt;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&lt;!--pageType:content--&gt;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&lt;!--pageType:content--&gt;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&lt;!--pageType:content--&gt;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&lt;!--pageType:chapter--&gt;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&lt;!--pageType:content--&gt;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&lt;!--pageType:content--&gt;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&lt;!--pageType:content--&gt;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&lt;!--pageType:content--&gt;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&lt;!--pageType:chapter--&gt;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&lt;!--pageType:content--&gt;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&lt;!--pageType:content--&gt;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&lt;!--pageType:content--&gt;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&lt;!--pageType:content--&gt;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&lt;!--pageType:content--&gt;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&lt;!--pageType:content--&gt;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&lt;!--pageType:content--&gt;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&lt;!--pageType:chapter--&gt;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&lt;!--pageType:content--&gt;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&lt;!--pageType:content--&gt;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&lt;!--pageType:content--&gt;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&lt;!--pageType:content--&gt;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&lt;!--pageType:content--&gt;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&lt;!--pageType:content--&gt;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&lt;!--pageType:content--&gt;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&lt;!--pageType:final--&gt;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cover-title|s=$hero"/>
          <p:cNvSpPr txBox="1"/>
          <p:nvPr/>
        </p:nvSpPr>
        <p:spPr>
          <a:xfrm>
            <a:off x="762000" y="1524000"/>
            <a:ext cx="6667500" cy="1143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b="1" sz="3600" noProof="1">
                <a:solidFill>
                  <a:srgbClr val="FFFFFF"/>
                </a:solidFill>
                <a:latin typeface="QuattrocentoSans"/>
                <a:ea typeface="MiSans"/>
              </a:rPr>
              <a:t>RV-MalTrace</a:t>
            </a:r>
          </a:p>
          <a:p>
            <a:pPr algn="l"/>
            <a:r>
              <a:rPr sz="3600" noProof="1">
                <a:solidFill>
                  <a:srgbClr val="FFFFFF"/>
                </a:solidFill>
                <a:latin typeface="QuattrocentoSans"/>
                <a:ea typeface="MiSans"/>
              </a:rPr>
              <a:t>深度技术汇报</a:t>
            </a:r>
          </a:p>
        </p:txBody>
      </p:sp>
      <p:sp>
        <p:nvSpPr>
          <p:cNvPr id="3" name="dsl:cover-subtitle"/>
          <p:cNvSpPr txBox="1"/>
          <p:nvPr/>
        </p:nvSpPr>
        <p:spPr>
          <a:xfrm>
            <a:off x="762000" y="2762250"/>
            <a:ext cx="6667500" cy="762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500" noProof="1">
                <a:solidFill>
                  <a:srgbClr val="FFFFFF">
                    <a:alpha val="80000"/>
                  </a:srgbClr>
                </a:solidFill>
                <a:latin typeface="QuattrocentoSans"/>
                <a:ea typeface="MiSans"/>
              </a:rPr>
              <a:t>受控 RISC-V Linux Workload 的硬件辅助行为重建证据链</a:t>
            </a:r>
          </a:p>
          <a:p>
            <a:pPr algn="l">
              <a:lnSpc>
                <a:spcPct val="150000"/>
              </a:lnSpc>
            </a:pPr>
            <a:r>
              <a:rPr sz="1500" noProof="1">
                <a:solidFill>
                  <a:srgbClr val="FFFFFF">
                    <a:alpha val="80000"/>
                  </a:srgbClr>
                </a:solidFill>
                <a:latin typeface="QuattrocentoSans"/>
                <a:ea typeface="MiSans"/>
              </a:rPr>
              <a:t>Genesys2 / CVA6 / RVFI</a:t>
            </a:r>
          </a:p>
        </p:txBody>
      </p:sp>
      <p:sp>
        <p:nvSpPr>
          <p:cNvPr id="4" name="dsl:cover-divider"/>
          <p:cNvSpPr/>
          <p:nvPr/>
        </p:nvSpPr>
        <p:spPr>
          <a:xfrm>
            <a:off x="762000" y="3714750"/>
            <a:ext cx="7620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sl:cover-claim"/>
          <p:cNvSpPr txBox="1"/>
          <p:nvPr/>
        </p:nvSpPr>
        <p:spPr>
          <a:xfrm>
            <a:off x="762000" y="3905250"/>
            <a:ext cx="6667500" cy="1143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60000"/>
              </a:lnSpc>
            </a:pPr>
            <a:r>
              <a:rPr b="1" sz="1200" noProof="1">
                <a:solidFill>
                  <a:srgbClr val="FFFFFF">
                    <a:alpha val="73333"/>
                  </a:srgbClr>
                </a:solidFill>
                <a:latin typeface="QuattrocentoSans"/>
                <a:ea typeface="MiSans"/>
              </a:rPr>
              <a:t>核心主张</a:t>
            </a:r>
            <a:r>
              <a:rPr sz="1200" noProof="1">
                <a:solidFill>
                  <a:srgbClr val="FFFFFF">
                    <a:alpha val="73333"/>
                  </a:srgbClr>
                </a:solidFill>
                <a:latin typeface="QuattrocentoSans"/>
                <a:ea typeface="MiSans"/>
              </a:rPr>
              <a:t>：不是 malware detector 的检测准确率实验，</a:t>
            </a:r>
          </a:p>
          <a:p>
            <a:pPr algn="l">
              <a:lnSpc>
                <a:spcPct val="160000"/>
              </a:lnSpc>
            </a:pPr>
            <a:r>
              <a:rPr sz="1200" noProof="1">
                <a:solidFill>
                  <a:srgbClr val="FFFFFF">
                    <a:alpha val="73333"/>
                  </a:srgbClr>
                </a:solidFill>
                <a:latin typeface="QuattrocentoSans"/>
                <a:ea typeface="MiSans"/>
              </a:rPr>
              <a:t>而是闭合的一条硬件辅助行为重建证据链。</a:t>
            </a:r>
          </a:p>
          <a:p>
            <a:pPr algn="l">
              <a:lnSpc>
                <a:spcPct val="160000"/>
              </a:lnSpc>
            </a:pPr>
            <a:r>
              <a:rPr sz="1200" noProof="1">
                <a:solidFill>
                  <a:srgbClr val="FFFFFF">
                    <a:alpha val="73333"/>
                  </a:srgbClr>
                </a:solidFill>
                <a:latin typeface="QuattrocentoSans"/>
                <a:ea typeface="MiSans"/>
              </a:rPr>
              <a:t>硬件捕获处理器提交级事件，通过 标记窗口准入检查、</a:t>
            </a:r>
          </a:p>
          <a:p>
            <a:pPr algn="l">
              <a:lnSpc>
                <a:spcPct val="160000"/>
              </a:lnSpc>
            </a:pPr>
            <a:r>
              <a:rPr sz="1200" noProof="1">
                <a:solidFill>
                  <a:srgbClr val="FFFFFF">
                    <a:alpha val="73333"/>
                  </a:srgbClr>
                </a:solidFill>
                <a:latin typeface="QuattrocentoSans"/>
                <a:ea typeface="MiSans"/>
              </a:rPr>
              <a:t>ELF/runtime binding、semantic recovery 和 字段来源标签，</a:t>
            </a:r>
          </a:p>
          <a:p>
            <a:pPr algn="l">
              <a:lnSpc>
                <a:spcPct val="160000"/>
              </a:lnSpc>
            </a:pPr>
            <a:r>
              <a:rPr sz="1200" noProof="1">
                <a:solidFill>
                  <a:srgbClr val="FFFFFF">
                    <a:alpha val="73333"/>
                  </a:srgbClr>
                </a:solidFill>
                <a:latin typeface="QuattrocentoSans"/>
                <a:ea typeface="MiSans"/>
              </a:rPr>
              <a:t>把低层硬件事实恢复成可审查的行为语义。</a:t>
            </a:r>
          </a:p>
        </p:txBody>
      </p:sp>
      <p:sp>
        <p:nvSpPr>
          <p:cNvPr id="6" name="dsl:card-bg-1"/>
          <p:cNvSpPr/>
          <p:nvPr/>
        </p:nvSpPr>
        <p:spPr>
          <a:xfrm>
            <a:off x="7620000" y="1524000"/>
            <a:ext cx="4000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sl:card-num-1|s=$dataNumber"/>
          <p:cNvSpPr txBox="1"/>
          <p:nvPr/>
        </p:nvSpPr>
        <p:spPr>
          <a:xfrm>
            <a:off x="7810500" y="1666875"/>
            <a:ext cx="1905000" cy="523875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3300" noProof="1">
                <a:solidFill>
                  <a:srgbClr val="2563EB"/>
                </a:solidFill>
                <a:latin typeface="QuattrocentoSans"/>
                <a:ea typeface="MiSans"/>
              </a:rPr>
              <a:t>128</a:t>
            </a:r>
          </a:p>
        </p:txBody>
      </p:sp>
      <p:sp>
        <p:nvSpPr>
          <p:cNvPr id="8" name="dsl:card-label-1|s=$dataLabel"/>
          <p:cNvSpPr txBox="1"/>
          <p:nvPr/>
        </p:nvSpPr>
        <p:spPr>
          <a:xfrm>
            <a:off x="7810500" y="2190750"/>
            <a:ext cx="1905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BOARD REPS ACCEPTED</a:t>
            </a:r>
          </a:p>
        </p:txBody>
      </p:sp>
      <p:sp>
        <p:nvSpPr>
          <p:cNvPr id="9" name="dsl:card-bg-2"/>
          <p:cNvSpPr/>
          <p:nvPr/>
        </p:nvSpPr>
        <p:spPr>
          <a:xfrm>
            <a:off x="7620000" y="2857500"/>
            <a:ext cx="1905000" cy="9525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l:card-num-2"/>
          <p:cNvSpPr txBox="1"/>
          <p:nvPr/>
        </p:nvSpPr>
        <p:spPr>
          <a:xfrm>
            <a:off x="7810500" y="3000375"/>
            <a:ext cx="1524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700" noProof="1">
                <a:solidFill>
                  <a:srgbClr val="FFFFFF"/>
                </a:solidFill>
                <a:latin typeface="QuattrocentoSans"/>
                <a:ea typeface="MiSans"/>
              </a:rPr>
              <a:t>142</a:t>
            </a:r>
          </a:p>
        </p:txBody>
      </p:sp>
      <p:sp>
        <p:nvSpPr>
          <p:cNvPr id="11" name="dsl:card-label-2"/>
          <p:cNvSpPr txBox="1"/>
          <p:nvPr/>
        </p:nvSpPr>
        <p:spPr>
          <a:xfrm>
            <a:off x="7810500" y="3381375"/>
            <a:ext cx="1524000" cy="238125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900" noProof="1">
                <a:solidFill>
                  <a:srgbClr val="FFFFFF">
                    <a:alpha val="60000"/>
                  </a:srgbClr>
                </a:solidFill>
                <a:latin typeface="QuattrocentoSans"/>
                <a:ea typeface="MiSans"/>
              </a:rPr>
              <a:t>BOARD ATTEMPTS</a:t>
            </a:r>
          </a:p>
        </p:txBody>
      </p:sp>
      <p:sp>
        <p:nvSpPr>
          <p:cNvPr id="12" name="dsl:card-bg-3"/>
          <p:cNvSpPr/>
          <p:nvPr/>
        </p:nvSpPr>
        <p:spPr>
          <a:xfrm>
            <a:off x="9715500" y="2857500"/>
            <a:ext cx="1905000" cy="9525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l:card-num-3"/>
          <p:cNvSpPr txBox="1"/>
          <p:nvPr/>
        </p:nvSpPr>
        <p:spPr>
          <a:xfrm>
            <a:off x="9906000" y="3000375"/>
            <a:ext cx="1524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700" noProof="1">
                <a:solidFill>
                  <a:srgbClr val="2563EB"/>
                </a:solidFill>
                <a:latin typeface="QuattrocentoSans"/>
                <a:ea typeface="MiSans"/>
              </a:rPr>
              <a:t>12</a:t>
            </a:r>
          </a:p>
        </p:txBody>
      </p:sp>
      <p:sp>
        <p:nvSpPr>
          <p:cNvPr id="14" name="dsl:card-label-3"/>
          <p:cNvSpPr txBox="1"/>
          <p:nvPr/>
        </p:nvSpPr>
        <p:spPr>
          <a:xfrm>
            <a:off x="9906000" y="3381375"/>
            <a:ext cx="1524000" cy="238125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900" noProof="1">
                <a:solidFill>
                  <a:srgbClr val="64748B"/>
                </a:solidFill>
                <a:latin typeface="QuattrocentoSans"/>
                <a:ea typeface="MiSans"/>
              </a:rPr>
              <a:t>WORKLOADS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toc-title|s=$title"/>
          <p:cNvSpPr txBox="1"/>
          <p:nvPr/>
        </p:nvSpPr>
        <p:spPr>
          <a:xfrm>
            <a:off x="571500" y="381000"/>
            <a:ext cx="5715000" cy="4762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400" noProof="1">
                <a:solidFill>
                  <a:srgbClr val="2563EB"/>
                </a:solidFill>
                <a:latin typeface="QuattrocentoSans"/>
                <a:ea typeface="MiSans"/>
              </a:rPr>
              <a:t>汇报结构</a:t>
            </a:r>
          </a:p>
        </p:txBody>
      </p:sp>
      <p:sp>
        <p:nvSpPr>
          <p:cNvPr id="3" name="dsl:toc-line"/>
          <p:cNvSpPr/>
          <p:nvPr/>
        </p:nvSpPr>
        <p:spPr>
          <a:xfrm>
            <a:off x="571500" y="904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sl:ch1-num"/>
          <p:cNvSpPr txBox="1"/>
          <p:nvPr/>
        </p:nvSpPr>
        <p:spPr>
          <a:xfrm>
            <a:off x="571500" y="1047750"/>
            <a:ext cx="571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100" noProof="1">
                <a:solidFill>
                  <a:srgbClr val="2563EB"/>
                </a:solidFill>
                <a:latin typeface="QuattrocentoSans"/>
                <a:ea typeface="MiSans"/>
              </a:rPr>
              <a:t>01</a:t>
            </a:r>
          </a:p>
        </p:txBody>
      </p:sp>
      <p:sp>
        <p:nvSpPr>
          <p:cNvPr id="5" name="dsl:ch1-title"/>
          <p:cNvSpPr txBox="1"/>
          <p:nvPr/>
        </p:nvSpPr>
        <p:spPr>
          <a:xfrm>
            <a:off x="1238250" y="104775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350" noProof="1">
                <a:solidFill>
                  <a:srgbClr val="1E293B"/>
                </a:solidFill>
                <a:latin typeface="QuattrocentoSans"/>
                <a:ea typeface="MiSans"/>
              </a:rPr>
              <a:t>当前研究的问题</a:t>
            </a:r>
          </a:p>
        </p:txBody>
      </p:sp>
      <p:sp>
        <p:nvSpPr>
          <p:cNvPr id="6" name="dsl:ch1-desc"/>
          <p:cNvSpPr txBox="1"/>
          <p:nvPr/>
        </p:nvSpPr>
        <p:spPr>
          <a:xfrm>
            <a:off x="1238250" y="1428750"/>
            <a:ext cx="3810000" cy="238125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观察困境、硬件辅助、证据路径分离</a:t>
            </a:r>
          </a:p>
        </p:txBody>
      </p:sp>
      <p:sp>
        <p:nvSpPr>
          <p:cNvPr id="7" name="dsl:ch2-num"/>
          <p:cNvSpPr txBox="1"/>
          <p:nvPr/>
        </p:nvSpPr>
        <p:spPr>
          <a:xfrm>
            <a:off x="571500" y="1809750"/>
            <a:ext cx="571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100" noProof="1">
                <a:solidFill>
                  <a:srgbClr val="2563EB"/>
                </a:solidFill>
                <a:latin typeface="QuattrocentoSans"/>
                <a:ea typeface="MiSans"/>
              </a:rPr>
              <a:t>02</a:t>
            </a:r>
          </a:p>
        </p:txBody>
      </p:sp>
      <p:sp>
        <p:nvSpPr>
          <p:cNvPr id="8" name="dsl:ch2-title"/>
          <p:cNvSpPr txBox="1"/>
          <p:nvPr/>
        </p:nvSpPr>
        <p:spPr>
          <a:xfrm>
            <a:off x="1238250" y="180975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350" noProof="1">
                <a:solidFill>
                  <a:srgbClr val="1E293B"/>
                </a:solidFill>
                <a:latin typeface="QuattrocentoSans"/>
                <a:ea typeface="MiSans"/>
              </a:rPr>
              <a:t>解决这个问题的难点</a:t>
            </a:r>
          </a:p>
        </p:txBody>
      </p:sp>
      <p:sp>
        <p:nvSpPr>
          <p:cNvPr id="9" name="dsl:ch2-desc"/>
          <p:cNvSpPr txBox="1"/>
          <p:nvPr/>
        </p:nvSpPr>
        <p:spPr>
          <a:xfrm>
            <a:off x="1238250" y="2190750"/>
            <a:ext cx="3810000" cy="238125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硬件低语义、PC/指针无上下文、BRAM有限</a:t>
            </a:r>
          </a:p>
        </p:txBody>
      </p:sp>
      <p:sp>
        <p:nvSpPr>
          <p:cNvPr id="10" name="dsl:ch3-num"/>
          <p:cNvSpPr txBox="1"/>
          <p:nvPr/>
        </p:nvSpPr>
        <p:spPr>
          <a:xfrm>
            <a:off x="571500" y="2571750"/>
            <a:ext cx="571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100" noProof="1">
                <a:solidFill>
                  <a:srgbClr val="2563EB"/>
                </a:solidFill>
                <a:latin typeface="QuattrocentoSans"/>
                <a:ea typeface="MiSans"/>
              </a:rPr>
              <a:t>03</a:t>
            </a:r>
          </a:p>
        </p:txBody>
      </p:sp>
      <p:sp>
        <p:nvSpPr>
          <p:cNvPr id="11" name="dsl:ch3-title"/>
          <p:cNvSpPr txBox="1"/>
          <p:nvPr/>
        </p:nvSpPr>
        <p:spPr>
          <a:xfrm>
            <a:off x="1238250" y="257175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350" noProof="1">
                <a:solidFill>
                  <a:srgbClr val="1E293B"/>
                </a:solidFill>
                <a:latin typeface="QuattrocentoSans"/>
                <a:ea typeface="MiSans"/>
              </a:rPr>
              <a:t>提出的解决方案</a:t>
            </a:r>
          </a:p>
        </p:txBody>
      </p:sp>
      <p:sp>
        <p:nvSpPr>
          <p:cNvPr id="12" name="dsl:ch3-desc"/>
          <p:cNvSpPr txBox="1"/>
          <p:nvPr/>
        </p:nvSpPr>
        <p:spPr>
          <a:xfrm>
            <a:off x="1238250" y="2952750"/>
            <a:ext cx="3810000" cy="238125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五阶段流水线、架构分层、失败保留</a:t>
            </a:r>
          </a:p>
        </p:txBody>
      </p:sp>
      <p:sp>
        <p:nvSpPr>
          <p:cNvPr id="13" name="dsl:ch4-num"/>
          <p:cNvSpPr txBox="1"/>
          <p:nvPr/>
        </p:nvSpPr>
        <p:spPr>
          <a:xfrm>
            <a:off x="571500" y="3333750"/>
            <a:ext cx="571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100" noProof="1">
                <a:solidFill>
                  <a:srgbClr val="2563EB"/>
                </a:solidFill>
                <a:latin typeface="QuattrocentoSans"/>
                <a:ea typeface="MiSans"/>
              </a:rPr>
              <a:t>04</a:t>
            </a:r>
          </a:p>
        </p:txBody>
      </p:sp>
      <p:sp>
        <p:nvSpPr>
          <p:cNvPr id="14" name="dsl:ch4-title"/>
          <p:cNvSpPr txBox="1"/>
          <p:nvPr/>
        </p:nvSpPr>
        <p:spPr>
          <a:xfrm>
            <a:off x="1238250" y="333375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350" noProof="1">
                <a:solidFill>
                  <a:srgbClr val="1E293B"/>
                </a:solidFill>
                <a:latin typeface="QuattrocentoSans"/>
                <a:ea typeface="MiSans"/>
              </a:rPr>
              <a:t>实现该方案的挑战</a:t>
            </a:r>
          </a:p>
        </p:txBody>
      </p:sp>
      <p:sp>
        <p:nvSpPr>
          <p:cNvPr id="15" name="dsl:ch4-desc"/>
          <p:cNvSpPr txBox="1"/>
          <p:nvPr/>
        </p:nvSpPr>
        <p:spPr>
          <a:xfrm>
            <a:off x="1238250" y="3714750"/>
            <a:ext cx="3810000" cy="238125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Claim边界、BRAM有限、窗口完整性、Pointer</a:t>
            </a:r>
          </a:p>
        </p:txBody>
      </p:sp>
      <p:sp>
        <p:nvSpPr>
          <p:cNvPr id="16" name="dsl:ch5-num"/>
          <p:cNvSpPr txBox="1"/>
          <p:nvPr/>
        </p:nvSpPr>
        <p:spPr>
          <a:xfrm>
            <a:off x="571500" y="4095750"/>
            <a:ext cx="571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100" noProof="1">
                <a:solidFill>
                  <a:srgbClr val="2563EB"/>
                </a:solidFill>
                <a:latin typeface="QuattrocentoSans"/>
                <a:ea typeface="MiSans"/>
              </a:rPr>
              <a:t>05</a:t>
            </a:r>
          </a:p>
        </p:txBody>
      </p:sp>
      <p:sp>
        <p:nvSpPr>
          <p:cNvPr id="17" name="dsl:ch5-title"/>
          <p:cNvSpPr txBox="1"/>
          <p:nvPr/>
        </p:nvSpPr>
        <p:spPr>
          <a:xfrm>
            <a:off x="1238250" y="409575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350" noProof="1">
                <a:solidFill>
                  <a:srgbClr val="1E293B"/>
                </a:solidFill>
                <a:latin typeface="QuattrocentoSans"/>
                <a:ea typeface="MiSans"/>
              </a:rPr>
              <a:t>应对这些挑战的方法/策略</a:t>
            </a:r>
          </a:p>
        </p:txBody>
      </p:sp>
      <p:sp>
        <p:nvSpPr>
          <p:cNvPr id="18" name="dsl:ch5-desc"/>
          <p:cNvSpPr txBox="1"/>
          <p:nvPr/>
        </p:nvSpPr>
        <p:spPr>
          <a:xfrm>
            <a:off x="1238250" y="4476750"/>
            <a:ext cx="3810000" cy="238125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Marker gate、Provenance、Pointer 约束s、Process</a:t>
            </a:r>
          </a:p>
        </p:txBody>
      </p:sp>
      <p:sp>
        <p:nvSpPr>
          <p:cNvPr id="19" name="dsl:ch6-num"/>
          <p:cNvSpPr txBox="1"/>
          <p:nvPr/>
        </p:nvSpPr>
        <p:spPr>
          <a:xfrm>
            <a:off x="6286500" y="1047750"/>
            <a:ext cx="571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100" noProof="1">
                <a:solidFill>
                  <a:srgbClr val="2563EB"/>
                </a:solidFill>
                <a:latin typeface="QuattrocentoSans"/>
                <a:ea typeface="MiSans"/>
              </a:rPr>
              <a:t>06</a:t>
            </a:r>
          </a:p>
        </p:txBody>
      </p:sp>
      <p:sp>
        <p:nvSpPr>
          <p:cNvPr id="20" name="dsl:ch6-title"/>
          <p:cNvSpPr txBox="1"/>
          <p:nvPr/>
        </p:nvSpPr>
        <p:spPr>
          <a:xfrm>
            <a:off x="6953250" y="104775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350" noProof="1">
                <a:solidFill>
                  <a:srgbClr val="1E293B"/>
                </a:solidFill>
                <a:latin typeface="QuattrocentoSans"/>
                <a:ea typeface="MiSans"/>
              </a:rPr>
              <a:t>必要的技术背景知识</a:t>
            </a:r>
          </a:p>
        </p:txBody>
      </p:sp>
      <p:sp>
        <p:nvSpPr>
          <p:cNvPr id="21" name="dsl:ch6-desc"/>
          <p:cNvSpPr txBox="1"/>
          <p:nvPr/>
        </p:nvSpPr>
        <p:spPr>
          <a:xfrm>
            <a:off x="6953250" y="1428750"/>
            <a:ext cx="3810000" cy="238125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Syscall-Trap路径、CVA6-RVFI、事件枚举、数据溯源</a:t>
            </a:r>
          </a:p>
        </p:txBody>
      </p:sp>
      <p:sp>
        <p:nvSpPr>
          <p:cNvPr id="22" name="dsl:ch7-num"/>
          <p:cNvSpPr txBox="1"/>
          <p:nvPr/>
        </p:nvSpPr>
        <p:spPr>
          <a:xfrm>
            <a:off x="6286500" y="1809750"/>
            <a:ext cx="571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100" noProof="1">
                <a:solidFill>
                  <a:srgbClr val="2563EB"/>
                </a:solidFill>
                <a:latin typeface="QuattrocentoSans"/>
                <a:ea typeface="MiSans"/>
              </a:rPr>
              <a:t>07</a:t>
            </a:r>
          </a:p>
        </p:txBody>
      </p:sp>
      <p:sp>
        <p:nvSpPr>
          <p:cNvPr id="23" name="dsl:ch7-title"/>
          <p:cNvSpPr txBox="1"/>
          <p:nvPr/>
        </p:nvSpPr>
        <p:spPr>
          <a:xfrm>
            <a:off x="6953250" y="180975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350" noProof="1">
                <a:solidFill>
                  <a:srgbClr val="1E293B"/>
                </a:solidFill>
                <a:latin typeface="QuattrocentoSans"/>
                <a:ea typeface="MiSans"/>
              </a:rPr>
              <a:t>具体方案/方法细节</a:t>
            </a:r>
          </a:p>
        </p:txBody>
      </p:sp>
      <p:sp>
        <p:nvSpPr>
          <p:cNvPr id="24" name="dsl:ch7-desc"/>
          <p:cNvSpPr txBox="1"/>
          <p:nvPr/>
        </p:nvSpPr>
        <p:spPr>
          <a:xfrm>
            <a:off x="6953250" y="2190750"/>
            <a:ext cx="3810000" cy="238125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Context binding、Semantic recovery、Artifact、Results</a:t>
            </a:r>
          </a:p>
        </p:txBody>
      </p:sp>
      <p:sp>
        <p:nvSpPr>
          <p:cNvPr id="25" name="dsl:ch8-num"/>
          <p:cNvSpPr txBox="1"/>
          <p:nvPr/>
        </p:nvSpPr>
        <p:spPr>
          <a:xfrm>
            <a:off x="6286500" y="2571750"/>
            <a:ext cx="571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100" noProof="1">
                <a:solidFill>
                  <a:srgbClr val="2563EB"/>
                </a:solidFill>
                <a:latin typeface="QuattrocentoSans"/>
                <a:ea typeface="MiSans"/>
              </a:rPr>
              <a:t>08</a:t>
            </a:r>
          </a:p>
        </p:txBody>
      </p:sp>
      <p:sp>
        <p:nvSpPr>
          <p:cNvPr id="26" name="dsl:ch8-title"/>
          <p:cNvSpPr txBox="1"/>
          <p:nvPr/>
        </p:nvSpPr>
        <p:spPr>
          <a:xfrm>
            <a:off x="6953250" y="257175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350" noProof="1">
                <a:solidFill>
                  <a:srgbClr val="1E293B"/>
                </a:solidFill>
                <a:latin typeface="QuattrocentoSans"/>
                <a:ea typeface="MiSans"/>
              </a:rPr>
              <a:t>Related Work</a:t>
            </a:r>
          </a:p>
        </p:txBody>
      </p:sp>
      <p:sp>
        <p:nvSpPr>
          <p:cNvPr id="27" name="dsl:ch8-desc"/>
          <p:cNvSpPr txBox="1"/>
          <p:nvPr/>
        </p:nvSpPr>
        <p:spPr>
          <a:xfrm>
            <a:off x="6953250" y="2952750"/>
            <a:ext cx="3810000" cy="238125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五篇 A 会论文的差异对比与定位</a:t>
            </a:r>
          </a:p>
        </p:txBody>
      </p:sp>
      <p:sp>
        <p:nvSpPr>
          <p:cNvPr id="28" name="dsl:ch9-num"/>
          <p:cNvSpPr txBox="1"/>
          <p:nvPr/>
        </p:nvSpPr>
        <p:spPr>
          <a:xfrm>
            <a:off x="6286500" y="3333750"/>
            <a:ext cx="571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100" noProof="1">
                <a:solidFill>
                  <a:srgbClr val="2563EB"/>
                </a:solidFill>
                <a:latin typeface="QuattrocentoSans"/>
                <a:ea typeface="MiSans"/>
              </a:rPr>
              <a:t>09</a:t>
            </a:r>
          </a:p>
        </p:txBody>
      </p:sp>
      <p:sp>
        <p:nvSpPr>
          <p:cNvPr id="29" name="dsl:ch9-title"/>
          <p:cNvSpPr txBox="1"/>
          <p:nvPr/>
        </p:nvSpPr>
        <p:spPr>
          <a:xfrm>
            <a:off x="6953250" y="333375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350" noProof="1">
                <a:solidFill>
                  <a:srgbClr val="1E293B"/>
                </a:solidFill>
                <a:latin typeface="QuattrocentoSans"/>
                <a:ea typeface="MiSans"/>
              </a:rPr>
              <a:t>结果与边界</a:t>
            </a:r>
          </a:p>
        </p:txBody>
      </p:sp>
      <p:sp>
        <p:nvSpPr>
          <p:cNvPr id="30" name="dsl:ch9-desc"/>
          <p:cNvSpPr txBox="1"/>
          <p:nvPr/>
        </p:nvSpPr>
        <p:spPr>
          <a:xfrm>
            <a:off x="6953250" y="3714750"/>
            <a:ext cx="3810000" cy="238125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128/142、Evidence Matrix、Open Questions</a:t>
            </a:r>
          </a:p>
        </p:txBody>
      </p:sp>
      <p:sp>
        <p:nvSpPr>
          <p:cNvPr id="31" name="dsl:ch10-num"/>
          <p:cNvSpPr txBox="1"/>
          <p:nvPr/>
        </p:nvSpPr>
        <p:spPr>
          <a:xfrm>
            <a:off x="6286500" y="4095750"/>
            <a:ext cx="571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100" noProof="1">
                <a:solidFill>
                  <a:srgbClr val="2563EB"/>
                </a:solidFill>
                <a:latin typeface="QuattrocentoSans"/>
                <a:ea typeface="MiSans"/>
              </a:rPr>
              <a:t>10</a:t>
            </a:r>
          </a:p>
        </p:txBody>
      </p:sp>
      <p:sp>
        <p:nvSpPr>
          <p:cNvPr id="32" name="dsl:ch10-title"/>
          <p:cNvSpPr txBox="1"/>
          <p:nvPr/>
        </p:nvSpPr>
        <p:spPr>
          <a:xfrm>
            <a:off x="6953250" y="409575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350" noProof="1">
                <a:solidFill>
                  <a:srgbClr val="1E293B"/>
                </a:solidFill>
                <a:latin typeface="QuattrocentoSans"/>
                <a:ea typeface="MiSans"/>
              </a:rPr>
              <a:t>Q&amp;A 备忘</a:t>
            </a:r>
          </a:p>
        </p:txBody>
      </p:sp>
      <p:sp>
        <p:nvSpPr>
          <p:cNvPr id="33" name="dsl:ch10-desc"/>
          <p:cNvSpPr txBox="1"/>
          <p:nvPr/>
        </p:nvSpPr>
        <p:spPr>
          <a:xfrm>
            <a:off x="6953250" y="4476750"/>
            <a:ext cx="3810000" cy="238125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导师可能追问的 8 个问题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ch1-label"/>
          <p:cNvSpPr txBox="1"/>
          <p:nvPr/>
        </p:nvSpPr>
        <p:spPr>
          <a:xfrm>
            <a:off x="952500" y="2286000"/>
            <a:ext cx="2857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350" noProof="1">
                <a:solidFill>
                  <a:srgbClr val="FFFFFF">
                    <a:alpha val="60000"/>
                  </a:srgbClr>
                </a:solidFill>
                <a:latin typeface="QuattrocentoSans"/>
                <a:ea typeface="MiSans"/>
              </a:rPr>
              <a:t>PART 01</a:t>
            </a:r>
          </a:p>
        </p:txBody>
      </p:sp>
      <p:sp>
        <p:nvSpPr>
          <p:cNvPr id="3" name="dsl:ch1-title|s=$chapterTitle"/>
          <p:cNvSpPr txBox="1"/>
          <p:nvPr/>
        </p:nvSpPr>
        <p:spPr>
          <a:xfrm>
            <a:off x="952500" y="2762250"/>
            <a:ext cx="7620000" cy="666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3000" noProof="1">
                <a:solidFill>
                  <a:srgbClr val="FFFFFF"/>
                </a:solidFill>
                <a:latin typeface="QuattrocentoSans"/>
                <a:ea typeface="MiSans"/>
              </a:rPr>
              <a:t>当前研究的问题</a:t>
            </a:r>
          </a:p>
        </p:txBody>
      </p:sp>
      <p:sp>
        <p:nvSpPr>
          <p:cNvPr id="4" name="dsl:ch1-subtitle"/>
          <p:cNvSpPr txBox="1"/>
          <p:nvPr/>
        </p:nvSpPr>
        <p:spPr>
          <a:xfrm>
            <a:off x="952500" y="3524250"/>
            <a:ext cx="762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500" noProof="1">
                <a:solidFill>
                  <a:srgbClr val="FFFFFF">
                    <a:alpha val="80000"/>
                  </a:srgbClr>
                </a:solidFill>
                <a:latin typeface="QuattrocentoSans"/>
                <a:ea typeface="MiSans"/>
              </a:rPr>
              <a:t>恶意软件分析中的观察困境与硬件辅助破局点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nav-bg"/>
          <p:cNvSpPr/>
          <p:nvPr/>
        </p:nvSpPr>
        <p:spPr>
          <a:xfrm>
            <a:off x="0" y="0"/>
            <a:ext cx="12192000" cy="381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sl:nav-text"/>
          <p:cNvSpPr txBox="1"/>
          <p:nvPr/>
        </p:nvSpPr>
        <p:spPr>
          <a:xfrm>
            <a:off x="571500" y="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FFFFFF"/>
                </a:solidFill>
                <a:latin typeface="QuattrocentoSans"/>
                <a:ea typeface="MiSans"/>
              </a:rPr>
              <a:t>01 当前研究的问题</a:t>
            </a:r>
          </a:p>
        </p:txBody>
      </p:sp>
      <p:sp>
        <p:nvSpPr>
          <p:cNvPr id="4" name="dsl:page-title|s=$title"/>
          <p:cNvSpPr txBox="1"/>
          <p:nvPr/>
        </p:nvSpPr>
        <p:spPr>
          <a:xfrm>
            <a:off x="571500" y="523875"/>
            <a:ext cx="8572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400" noProof="1">
                <a:solidFill>
                  <a:srgbClr val="2563EB"/>
                </a:solidFill>
                <a:latin typeface="QuattrocentoSans"/>
                <a:ea typeface="MiSans"/>
              </a:rPr>
              <a:t>核心问题：恶意软件分析中的"观察困境"</a:t>
            </a:r>
          </a:p>
        </p:txBody>
      </p:sp>
      <p:sp>
        <p:nvSpPr>
          <p:cNvPr id="5" name="dsl:left-card-bg"/>
          <p:cNvSpPr/>
          <p:nvPr/>
        </p:nvSpPr>
        <p:spPr>
          <a:xfrm>
            <a:off x="571500" y="1047750"/>
            <a:ext cx="5334000" cy="2667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sl:left-card-title"/>
          <p:cNvSpPr txBox="1"/>
          <p:nvPr/>
        </p:nvSpPr>
        <p:spPr>
          <a:xfrm>
            <a:off x="762000" y="1143000"/>
            <a:ext cx="4953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350" noProof="1">
                <a:solidFill>
                  <a:srgbClr val="EF4444"/>
                </a:solidFill>
                <a:latin typeface="QuattrocentoSans"/>
                <a:ea typeface="MiSans"/>
              </a:rPr>
              <a:t>软件观察者的局限</a:t>
            </a:r>
          </a:p>
        </p:txBody>
      </p:sp>
      <p:sp>
        <p:nvSpPr>
          <p:cNvPr id="7" name="dsl:left-card-body"/>
          <p:cNvSpPr txBox="1"/>
          <p:nvPr/>
        </p:nvSpPr>
        <p:spPr>
          <a:xfrm>
            <a:off x="762000" y="1476375"/>
            <a:ext cx="4953000" cy="20955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60000"/>
              </a:lnSpc>
            </a:pPr>
            <a:r>
              <a:rPr sz="1200" noProof="1">
                <a:solidFill>
                  <a:srgbClr val="1E293B"/>
                </a:solidFill>
                <a:latin typeface="QuattrocentoSans"/>
                <a:ea typeface="MiSans"/>
              </a:rPr>
              <a:t>strace、eBPF、QEMU 可以给出丰富的语义信息</a:t>
            </a:r>
          </a:p>
          <a:p>
            <a:pPr algn="l">
              <a:lnSpc>
                <a:spcPct val="160000"/>
              </a:lnSpc>
            </a:pPr>
            <a:r>
              <a:rPr sz="1200" noProof="1">
                <a:solidFill>
                  <a:srgbClr val="1E293B"/>
                </a:solidFill>
                <a:latin typeface="QuattrocentoSans"/>
                <a:ea typeface="MiSans"/>
              </a:rPr>
              <a:t>但 </a:t>
            </a:r>
            <a:r>
              <a:rPr b="1" sz="1200" noProof="1">
                <a:solidFill>
                  <a:srgbClr val="1E293B"/>
                </a:solidFill>
                <a:latin typeface="QuattrocentoSans"/>
                <a:ea typeface="MiSans"/>
              </a:rPr>
              <a:t>观察者本身处在 workload 可以感知和影响的边界内</a:t>
            </a:r>
          </a:p>
          <a:p>
            <a:pPr algn="l">
              <a:lnSpc>
                <a:spcPct val="160000"/>
              </a:lnSpc>
              <a:spcBef>
                <a:spcPts val="450"/>
              </a:spcBef>
            </a:pPr>
            <a:r>
              <a:rPr sz="1200" noProof="1">
                <a:solidFill>
                  <a:srgbClr val="1E293B"/>
                </a:solidFill>
                <a:latin typeface="QuattrocentoSans"/>
                <a:ea typeface="MiSans"/>
              </a:rPr>
              <a:t>• </a:t>
            </a:r>
            <a:r>
              <a:rPr b="1" sz="1200" noProof="1">
                <a:solidFill>
                  <a:srgbClr val="1E293B"/>
                </a:solidFill>
                <a:latin typeface="QuattrocentoSans"/>
                <a:ea typeface="MiSans"/>
              </a:rPr>
              <a:t>反调试</a:t>
            </a:r>
            <a:r>
              <a:rPr sz="1200" noProof="1">
                <a:solidFill>
                  <a:srgbClr val="1E293B"/>
                </a:solidFill>
                <a:latin typeface="QuattrocentoSans"/>
                <a:ea typeface="MiSans"/>
              </a:rPr>
              <a:t>：检测 strace/ptrace，改变行为</a:t>
            </a:r>
          </a:p>
          <a:p>
            <a:pPr algn="l">
              <a:lnSpc>
                <a:spcPct val="160000"/>
              </a:lnSpc>
            </a:pPr>
            <a:r>
              <a:rPr sz="1200" noProof="1">
                <a:solidFill>
                  <a:srgbClr val="1E293B"/>
                </a:solidFill>
                <a:latin typeface="QuattrocentoSans"/>
                <a:ea typeface="MiSans"/>
              </a:rPr>
              <a:t>• </a:t>
            </a:r>
            <a:r>
              <a:rPr b="1" sz="1200" noProof="1">
                <a:solidFill>
                  <a:srgbClr val="1E293B"/>
                </a:solidFill>
                <a:latin typeface="QuattrocentoSans"/>
                <a:ea typeface="MiSans"/>
              </a:rPr>
              <a:t>反沙箱</a:t>
            </a:r>
            <a:r>
              <a:rPr sz="1200" noProof="1">
                <a:solidFill>
                  <a:srgbClr val="1E293B"/>
                </a:solidFill>
                <a:latin typeface="QuattrocentoSans"/>
                <a:ea typeface="MiSans"/>
              </a:rPr>
              <a:t>：检测 QEMU 虚拟化，拒绝核心逻辑</a:t>
            </a:r>
          </a:p>
          <a:p>
            <a:pPr algn="l">
              <a:lnSpc>
                <a:spcPct val="160000"/>
              </a:lnSpc>
            </a:pPr>
            <a:r>
              <a:rPr sz="1200" noProof="1">
                <a:solidFill>
                  <a:srgbClr val="1E293B"/>
                </a:solidFill>
                <a:latin typeface="QuattrocentoSans"/>
                <a:ea typeface="MiSans"/>
              </a:rPr>
              <a:t>• </a:t>
            </a:r>
            <a:r>
              <a:rPr b="1" sz="1200" noProof="1">
                <a:solidFill>
                  <a:srgbClr val="1E293B"/>
                </a:solidFill>
                <a:latin typeface="QuattrocentoSans"/>
                <a:ea typeface="MiSans"/>
              </a:rPr>
              <a:t>Hook 绕过</a:t>
            </a:r>
            <a:r>
              <a:rPr sz="1200" noProof="1">
                <a:solidFill>
                  <a:srgbClr val="1E293B"/>
                </a:solidFill>
                <a:latin typeface="QuattrocentoSans"/>
                <a:ea typeface="MiSans"/>
              </a:rPr>
              <a:t>：修改 syscall 路径，绕过软件拦截</a:t>
            </a:r>
          </a:p>
          <a:p>
            <a:pPr algn="l">
              <a:lnSpc>
                <a:spcPct val="160000"/>
              </a:lnSpc>
            </a:pPr>
            <a:r>
              <a:rPr sz="1200" noProof="1">
                <a:solidFill>
                  <a:srgbClr val="1E293B"/>
                </a:solidFill>
                <a:latin typeface="QuattrocentoSans"/>
                <a:ea typeface="MiSans"/>
              </a:rPr>
              <a:t>• </a:t>
            </a:r>
            <a:r>
              <a:rPr b="1" sz="1200" noProof="1">
                <a:solidFill>
                  <a:srgbClr val="1E293B"/>
                </a:solidFill>
                <a:latin typeface="QuattrocentoSans"/>
                <a:ea typeface="MiSans"/>
              </a:rPr>
              <a:t>Observer Effect</a:t>
            </a:r>
            <a:r>
              <a:rPr sz="1200" noProof="1">
                <a:solidFill>
                  <a:srgbClr val="1E293B"/>
                </a:solidFill>
                <a:latin typeface="QuattrocentoSans"/>
                <a:ea typeface="MiSans"/>
              </a:rPr>
              <a:t>：被观察改变行为</a:t>
            </a:r>
          </a:p>
        </p:txBody>
      </p:sp>
      <p:sp>
        <p:nvSpPr>
          <p:cNvPr id="8" name="dsl:right-card-bg"/>
          <p:cNvSpPr/>
          <p:nvPr/>
        </p:nvSpPr>
        <p:spPr>
          <a:xfrm>
            <a:off x="6096000" y="1047750"/>
            <a:ext cx="5524500" cy="2667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sl:right-card-title"/>
          <p:cNvSpPr txBox="1"/>
          <p:nvPr/>
        </p:nvSpPr>
        <p:spPr>
          <a:xfrm>
            <a:off x="6286500" y="1143000"/>
            <a:ext cx="5143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350" noProof="1">
                <a:solidFill>
                  <a:srgbClr val="10B981"/>
                </a:solidFill>
                <a:latin typeface="QuattrocentoSans"/>
                <a:ea typeface="MiSans"/>
              </a:rPr>
              <a:t>硬件辅助的核心价值</a:t>
            </a:r>
          </a:p>
        </p:txBody>
      </p:sp>
      <p:sp>
        <p:nvSpPr>
          <p:cNvPr id="10" name="dsl:right-card-body"/>
          <p:cNvSpPr txBox="1"/>
          <p:nvPr/>
        </p:nvSpPr>
        <p:spPr>
          <a:xfrm>
            <a:off x="6286500" y="1476375"/>
            <a:ext cx="5143500" cy="20955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60000"/>
              </a:lnSpc>
            </a:pPr>
            <a:r>
              <a:rPr sz="1200" noProof="1">
                <a:solidFill>
                  <a:srgbClr val="1E293B"/>
                </a:solidFill>
                <a:latin typeface="QuattrocentoSans"/>
                <a:ea typeface="MiSans"/>
              </a:rPr>
              <a:t>证据来源下沉到</a:t>
            </a:r>
            <a:r>
              <a:rPr b="1" sz="1200" noProof="1">
                <a:solidFill>
                  <a:srgbClr val="1E293B"/>
                </a:solidFill>
                <a:latin typeface="QuattrocentoSans"/>
                <a:ea typeface="MiSans"/>
              </a:rPr>
              <a:t>处理器提交路径</a:t>
            </a:r>
          </a:p>
          <a:p>
            <a:pPr algn="l">
              <a:lnSpc>
                <a:spcPct val="160000"/>
              </a:lnSpc>
            </a:pPr>
            <a:r>
              <a:rPr sz="1200" noProof="1">
                <a:solidFill>
                  <a:srgbClr val="1E293B"/>
                </a:solidFill>
                <a:latin typeface="QuattrocentoSans"/>
                <a:ea typeface="MiSans"/>
              </a:rPr>
              <a:t>workload </a:t>
            </a:r>
            <a:r>
              <a:rPr b="1" sz="1200" noProof="1">
                <a:solidFill>
                  <a:srgbClr val="1E293B"/>
                </a:solidFill>
                <a:latin typeface="QuattrocentoSans"/>
                <a:ea typeface="MiSans"/>
              </a:rPr>
              <a:t>不直接控制</a:t>
            </a:r>
            <a:r>
              <a:rPr sz="1200" noProof="1">
                <a:solidFill>
                  <a:srgbClr val="1E293B"/>
                </a:solidFill>
                <a:latin typeface="QuattrocentoSans"/>
                <a:ea typeface="MiSans"/>
              </a:rPr>
              <a:t> trace packet 生成</a:t>
            </a:r>
          </a:p>
          <a:p>
            <a:pPr algn="l">
              <a:lnSpc>
                <a:spcPct val="160000"/>
              </a:lnSpc>
            </a:pPr>
            <a:r>
              <a:rPr sz="1200" noProof="1">
                <a:solidFill>
                  <a:srgbClr val="1E293B"/>
                </a:solidFill>
                <a:latin typeface="QuattrocentoSans"/>
                <a:ea typeface="MiSans"/>
              </a:rPr>
              <a:t>workload </a:t>
            </a:r>
            <a:r>
              <a:rPr b="1" sz="1200" noProof="1">
                <a:solidFill>
                  <a:srgbClr val="1E293B"/>
                </a:solidFill>
                <a:latin typeface="QuattrocentoSans"/>
                <a:ea typeface="MiSans"/>
              </a:rPr>
              <a:t>不控制</a:t>
            </a:r>
            <a:r>
              <a:rPr sz="1200" noProof="1">
                <a:solidFill>
                  <a:srgbClr val="1E293B"/>
                </a:solidFill>
                <a:latin typeface="QuattrocentoSans"/>
                <a:ea typeface="MiSans"/>
              </a:rPr>
              <a:t> 标记窗口准入检查 判定</a:t>
            </a:r>
          </a:p>
          <a:p>
            <a:pPr algn="l">
              <a:lnSpc>
                <a:spcPct val="160000"/>
              </a:lnSpc>
            </a:pPr>
            <a:r>
              <a:rPr sz="1200" noProof="1">
                <a:solidFill>
                  <a:srgbClr val="1E293B"/>
                </a:solidFill>
                <a:latin typeface="QuattrocentoSans"/>
                <a:ea typeface="MiSans"/>
              </a:rPr>
              <a:t>workload </a:t>
            </a:r>
            <a:r>
              <a:rPr b="1" sz="1200" noProof="1">
                <a:solidFill>
                  <a:srgbClr val="1E293B"/>
                </a:solidFill>
                <a:latin typeface="QuattrocentoSans"/>
                <a:ea typeface="MiSans"/>
              </a:rPr>
              <a:t>不控制</a:t>
            </a:r>
            <a:r>
              <a:rPr sz="1200" noProof="1">
                <a:solidFill>
                  <a:srgbClr val="1E293B"/>
                </a:solidFill>
                <a:latin typeface="QuattrocentoSans"/>
                <a:ea typeface="MiSans"/>
              </a:rPr>
              <a:t> drop/wrap 计数和数据溯源</a:t>
            </a:r>
          </a:p>
          <a:p>
            <a:pPr algn="l">
              <a:lnSpc>
                <a:spcPct val="160000"/>
              </a:lnSpc>
              <a:spcBef>
                <a:spcPts val="450"/>
              </a:spcBef>
            </a:pPr>
            <a:r>
              <a:rPr sz="1200" noProof="1">
                <a:solidFill>
                  <a:srgbClr val="1E293B"/>
                </a:solidFill>
                <a:latin typeface="QuattrocentoSans"/>
                <a:ea typeface="MiSans"/>
              </a:rPr>
              <a:t>不是"日志说发生了什么"</a:t>
            </a:r>
          </a:p>
          <a:p>
            <a:pPr algn="l">
              <a:lnSpc>
                <a:spcPct val="160000"/>
              </a:lnSpc>
            </a:pPr>
            <a:r>
              <a:rPr sz="1200" noProof="1">
                <a:solidFill>
                  <a:srgbClr val="1E293B"/>
                </a:solidFill>
                <a:latin typeface="QuattrocentoSans"/>
                <a:ea typeface="MiSans"/>
              </a:rPr>
              <a:t>而是"</a:t>
            </a:r>
            <a:r>
              <a:rPr b="1" sz="1200" noProof="1">
                <a:solidFill>
                  <a:srgbClr val="1E293B"/>
                </a:solidFill>
                <a:latin typeface="QuattrocentoSans"/>
                <a:ea typeface="MiSans"/>
              </a:rPr>
              <a:t>处理器硬件实际提交了哪些事件</a:t>
            </a:r>
            <a:r>
              <a:rPr sz="1200" noProof="1">
                <a:solidFill>
                  <a:srgbClr val="1E293B"/>
                </a:solidFill>
                <a:latin typeface="QuattrocentoSans"/>
                <a:ea typeface="MiSans"/>
              </a:rPr>
              <a:t>"</a:t>
            </a:r>
          </a:p>
        </p:txBody>
      </p:sp>
      <p:sp>
        <p:nvSpPr>
          <p:cNvPr id="11" name="dsl:bottom-insight"/>
          <p:cNvSpPr txBox="1"/>
          <p:nvPr/>
        </p:nvSpPr>
        <p:spPr>
          <a:xfrm>
            <a:off x="571500" y="3905250"/>
            <a:ext cx="11049000" cy="47625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50000"/>
              </a:lnSpc>
            </a:pPr>
            <a:r>
              <a:rPr b="1" sz="1200" noProof="1">
                <a:solidFill>
                  <a:srgbClr val="2563EB"/>
                </a:solidFill>
                <a:latin typeface="QuattrocentoSans"/>
                <a:ea typeface="MiSans"/>
              </a:rPr>
              <a:t>研究问题的本质</a:t>
            </a:r>
            <a:r>
              <a:rPr sz="1200" noProof="1">
                <a:solidFill>
                  <a:srgbClr val="2563EB"/>
                </a:solidFill>
                <a:latin typeface="QuattrocentoSans"/>
                <a:ea typeface="MiSans"/>
              </a:rPr>
              <a:t>：如何建立一条 workload 难以感知、难以伪造、可被独立审查的行为证据路径？</a:t>
            </a:r>
          </a:p>
        </p:txBody>
      </p:sp>
      <p:sp>
        <p:nvSpPr>
          <p:cNvPr id="12" name="dsl:bottom-note-bg"/>
          <p:cNvSpPr/>
          <p:nvPr/>
        </p:nvSpPr>
        <p:spPr>
          <a:xfrm>
            <a:off x="571500" y="4476750"/>
            <a:ext cx="11049000" cy="7620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l:bottom-note-text"/>
          <p:cNvSpPr txBox="1"/>
          <p:nvPr/>
        </p:nvSpPr>
        <p:spPr>
          <a:xfrm>
            <a:off x="762000" y="4572000"/>
            <a:ext cx="10668000" cy="5715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软件-only 路径的问题不是"没有信息"，而是最终证据的可信边界弱——日志本身可能被 workload 欺骗、规避或改变。</a:t>
            </a:r>
          </a:p>
        </p:txBody>
      </p:sp>
      <p:sp>
        <p:nvSpPr>
          <p:cNvPr id="14" name="dsl:footer|s=$caption"/>
          <p:cNvSpPr txBox="1"/>
          <p:nvPr/>
        </p:nvSpPr>
        <p:spPr>
          <a:xfrm>
            <a:off x="571500" y="647700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RV-MalTrace 深度技术汇报</a:t>
            </a:r>
          </a:p>
        </p:txBody>
      </p:sp>
      <p:sp>
        <p:nvSpPr>
          <p:cNvPr id="15" name="dsl:page-num|s=$caption"/>
          <p:cNvSpPr txBox="1"/>
          <p:nvPr/>
        </p:nvSpPr>
        <p:spPr>
          <a:xfrm>
            <a:off x="11239500" y="6477000"/>
            <a:ext cx="571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r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nav-bg"/>
          <p:cNvSpPr/>
          <p:nvPr/>
        </p:nvSpPr>
        <p:spPr>
          <a:xfrm>
            <a:off x="0" y="0"/>
            <a:ext cx="12192000" cy="381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sl:nav-text"/>
          <p:cNvSpPr txBox="1"/>
          <p:nvPr/>
        </p:nvSpPr>
        <p:spPr>
          <a:xfrm>
            <a:off x="571500" y="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FFFFFF"/>
                </a:solidFill>
                <a:latin typeface="QuattrocentoSans"/>
                <a:ea typeface="MiSans"/>
              </a:rPr>
              <a:t>01 当前研究的问题</a:t>
            </a:r>
          </a:p>
        </p:txBody>
      </p:sp>
      <p:sp>
        <p:nvSpPr>
          <p:cNvPr id="4" name="dsl:page-title|s=$title"/>
          <p:cNvSpPr txBox="1"/>
          <p:nvPr/>
        </p:nvSpPr>
        <p:spPr>
          <a:xfrm>
            <a:off x="571500" y="523875"/>
            <a:ext cx="8572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400" noProof="1">
                <a:solidFill>
                  <a:srgbClr val="2563EB"/>
                </a:solidFill>
                <a:latin typeface="QuattrocentoSans"/>
                <a:ea typeface="MiSans"/>
              </a:rPr>
              <a:t>关键洞察：两条证据路径必须分开</a:t>
            </a:r>
          </a:p>
        </p:txBody>
      </p:sp>
      <p:sp>
        <p:nvSpPr>
          <p:cNvPr id="5" name="dsl:hw-path-bg"/>
          <p:cNvSpPr/>
          <p:nvPr/>
        </p:nvSpPr>
        <p:spPr>
          <a:xfrm>
            <a:off x="571500" y="1047750"/>
            <a:ext cx="5334000" cy="2667000"/>
          </a:xfrm>
          <a:prstGeom prst="roundRect">
            <a:avLst>
              <a:gd name="adj" fmla="val 6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sl:hw-path-title"/>
          <p:cNvSpPr txBox="1"/>
          <p:nvPr/>
        </p:nvSpPr>
        <p:spPr>
          <a:xfrm>
            <a:off x="762000" y="1143000"/>
            <a:ext cx="2857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350" noProof="1">
                <a:solidFill>
                  <a:srgbClr val="2563EB"/>
                </a:solidFill>
                <a:latin typeface="QuattrocentoSans"/>
                <a:ea typeface="MiSans"/>
              </a:rPr>
              <a:t>蓝色路径（可报告证据）</a:t>
            </a:r>
          </a:p>
        </p:txBody>
      </p:sp>
      <p:sp>
        <p:nvSpPr>
          <p:cNvPr id="7" name="dsl:hw-path-body"/>
          <p:cNvSpPr txBox="1"/>
          <p:nvPr/>
        </p:nvSpPr>
        <p:spPr>
          <a:xfrm>
            <a:off x="762000" y="1476375"/>
            <a:ext cx="4953000" cy="20955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来源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：硬件 trace、目标 ELF 精确映射、runtime OS map</a:t>
            </a:r>
          </a:p>
          <a:p>
            <a:pPr algn="l">
              <a:lnSpc>
                <a:spcPct val="15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用途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</a:t>
            </a: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支撑报告结论</a:t>
            </a:r>
          </a:p>
          <a:p>
            <a:pPr algn="l">
              <a:lnSpc>
                <a:spcPct val="15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产物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：带有来源标注的 semantic events</a:t>
            </a:r>
          </a:p>
          <a:p>
            <a:pPr algn="l">
              <a:lnSpc>
                <a:spcPct val="150000"/>
              </a:lnSpc>
              <a:spcBef>
                <a:spcPts val="450"/>
              </a:spcBef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数据溯源机制是安全阀：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确保每字段来源可追溯到具体 artifact</a:t>
            </a:r>
          </a:p>
          <a:p>
            <a:pPr algn="l">
              <a:lnSpc>
                <a:spcPct val="150000"/>
              </a:lnSpc>
              <a:spcBef>
                <a:spcPts val="450"/>
              </a:spcBef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最终结论只能从蓝色路径和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明确标注的 目标 ELF 精确映射/runtime map 来</a:t>
            </a:r>
          </a:p>
        </p:txBody>
      </p:sp>
      <p:sp>
        <p:nvSpPr>
          <p:cNvPr id="8" name="dsl:oracle-path-bg"/>
          <p:cNvSpPr/>
          <p:nvPr/>
        </p:nvSpPr>
        <p:spPr>
          <a:xfrm>
            <a:off x="6096000" y="1047750"/>
            <a:ext cx="5524500" cy="2667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sl:oracle-path-title"/>
          <p:cNvSpPr txBox="1"/>
          <p:nvPr/>
        </p:nvSpPr>
        <p:spPr>
          <a:xfrm>
            <a:off x="6286500" y="1143000"/>
            <a:ext cx="2857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350" noProof="1">
                <a:solidFill>
                  <a:srgbClr val="64748B"/>
                </a:solidFill>
                <a:latin typeface="QuattrocentoSans"/>
                <a:ea typeface="MiSans"/>
              </a:rPr>
              <a:t>灰色路径（验证神谕）</a:t>
            </a:r>
          </a:p>
        </p:txBody>
      </p:sp>
      <p:sp>
        <p:nvSpPr>
          <p:cNvPr id="10" name="dsl:oracle-path-body"/>
          <p:cNvSpPr txBox="1"/>
          <p:nvPr/>
        </p:nvSpPr>
        <p:spPr>
          <a:xfrm>
            <a:off x="6286500" y="1476375"/>
            <a:ext cx="5143500" cy="20955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来源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：qemu/strace、host/control transcript</a:t>
            </a:r>
          </a:p>
          <a:p>
            <a:pPr algn="l">
              <a:lnSpc>
                <a:spcPct val="15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用途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：确认 expected order、辅助调试</a:t>
            </a:r>
          </a:p>
          <a:p>
            <a:pPr algn="l">
              <a:lnSpc>
                <a:spcPct val="15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限制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：对 workload 可见</a:t>
            </a:r>
          </a:p>
          <a:p>
            <a:pPr algn="l">
              <a:lnSpc>
                <a:spcPct val="15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标签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：validation_oracle</a:t>
            </a:r>
          </a:p>
          <a:p>
            <a:pPr algn="l">
              <a:lnSpc>
                <a:spcPct val="150000"/>
              </a:lnSpc>
              <a:spcBef>
                <a:spcPts val="450"/>
              </a:spcBef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276 个 验证基准字段被挡在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验证通道，不会进入 report</a:t>
            </a:r>
          </a:p>
          <a:p>
            <a:pPr algn="l">
              <a:lnSpc>
                <a:spcPct val="150000"/>
              </a:lnSpc>
              <a:spcBef>
                <a:spcPts val="450"/>
              </a:spcBef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验证基准字段必须被 数据溯源机制明确拦住</a:t>
            </a:r>
          </a:p>
        </p:txBody>
      </p:sp>
      <p:sp>
        <p:nvSpPr>
          <p:cNvPr id="11" name="dsl:marker-note-bg"/>
          <p:cNvSpPr/>
          <p:nvPr/>
        </p:nvSpPr>
        <p:spPr>
          <a:xfrm>
            <a:off x="571500" y="3905250"/>
            <a:ext cx="11049000" cy="76200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l:marker-note-text"/>
          <p:cNvSpPr txBox="1"/>
          <p:nvPr/>
        </p:nvSpPr>
        <p:spPr>
          <a:xfrm>
            <a:off x="762000" y="4000500"/>
            <a:ext cx="10668000" cy="5715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5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Marker 只约束观测窗口，不约束硬件执行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。begin/end marker 决定哪些硬件事件进入 证据链路；窗口外事件不参与 claim。它给低语义硬件事件加了可验证边界。</a:t>
            </a:r>
          </a:p>
        </p:txBody>
      </p:sp>
      <p:sp>
        <p:nvSpPr>
          <p:cNvPr id="13" name="dsl:footer|s=$caption"/>
          <p:cNvSpPr txBox="1"/>
          <p:nvPr/>
        </p:nvSpPr>
        <p:spPr>
          <a:xfrm>
            <a:off x="571500" y="647700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RV-MalTrace 深度技术汇报</a:t>
            </a:r>
          </a:p>
        </p:txBody>
      </p:sp>
      <p:sp>
        <p:nvSpPr>
          <p:cNvPr id="14" name="dsl:page-num|s=$caption"/>
          <p:cNvSpPr txBox="1"/>
          <p:nvPr/>
        </p:nvSpPr>
        <p:spPr>
          <a:xfrm>
            <a:off x="11239500" y="6477000"/>
            <a:ext cx="571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r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nav-bg"/>
          <p:cNvSpPr/>
          <p:nvPr/>
        </p:nvSpPr>
        <p:spPr>
          <a:xfrm>
            <a:off x="0" y="0"/>
            <a:ext cx="12192000" cy="381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sl:nav-text"/>
          <p:cNvSpPr txBox="1"/>
          <p:nvPr/>
        </p:nvSpPr>
        <p:spPr>
          <a:xfrm>
            <a:off x="571500" y="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FFFFFF"/>
                </a:solidFill>
                <a:latin typeface="QuattrocentoSans"/>
                <a:ea typeface="MiSans"/>
              </a:rPr>
              <a:t>01 当前研究的问题</a:t>
            </a:r>
          </a:p>
        </p:txBody>
      </p:sp>
      <p:sp>
        <p:nvSpPr>
          <p:cNvPr id="4" name="dsl:page-title|s=$title"/>
          <p:cNvSpPr txBox="1"/>
          <p:nvPr/>
        </p:nvSpPr>
        <p:spPr>
          <a:xfrm>
            <a:off x="571500" y="523875"/>
            <a:ext cx="8572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400" noProof="1">
                <a:solidFill>
                  <a:srgbClr val="2563EB"/>
                </a:solidFill>
                <a:latin typeface="QuattrocentoSans"/>
                <a:ea typeface="MiSans"/>
              </a:rPr>
              <a:t>研究范围与当前边界</a:t>
            </a:r>
          </a:p>
        </p:txBody>
      </p:sp>
      <p:sp>
        <p:nvSpPr>
          <p:cNvPr id="5" name="dsl:intro"/>
          <p:cNvSpPr txBox="1"/>
          <p:nvPr/>
        </p:nvSpPr>
        <p:spPr>
          <a:xfrm>
            <a:off x="571500" y="1047750"/>
            <a:ext cx="11049000" cy="381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noProof="1">
                <a:solidFill>
                  <a:srgbClr val="1E293B"/>
                </a:solidFill>
                <a:latin typeface="QuattrocentoSans"/>
                <a:ea typeface="MiSans"/>
              </a:rPr>
              <a:t>讨论阶段需要明确：我们目前做了哪些尝试，验证了哪些方向，还有哪些是待探索的？</a:t>
            </a:r>
          </a:p>
        </p:txBody>
      </p:sp>
      <p:graphicFrame>
        <p:nvGraphicFramePr>
          <p:cNvPr id="6" name="dsl:claim-table"/>
          <p:cNvGraphicFramePr>
            <a:graphicFrameLocks noGrp="1"/>
          </p:cNvGraphicFramePr>
          <p:nvPr/>
        </p:nvGraphicFramePr>
        <p:xfrm>
          <a:off x="571500" y="1524000"/>
          <a:ext cx="11049000" cy="352425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3314700"/>
                <a:gridCol w="3867150"/>
                <a:gridCol w="3867150"/>
              </a:tblGrid>
              <a:tr h="35242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方向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我们目前正在做 ✅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目前尚未做到 ❌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35242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研究目标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受控样本上的行为重建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Malware detector（恶意/良性分类）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5242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输出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带数据溯源标签的行为摘要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"恶意/良性"分类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35242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证据来源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Hardware trace + ELF + Runtime map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Signature / ML model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5242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覆盖范围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受控程序 (12个)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In-the-wild malware family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35242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实验进展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128/142 次 board 重复通过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Detection accuracy / FP rate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5242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数据传输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Marker-window BRAM 缓存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Production DMA streaming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35242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运行时开销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静态 FPGA 资源增量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Cycle-level 运行时开销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5242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路径字符串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截断前缀（硬件捕获）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完整路径自动恢复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352425">
                <a:tc>
                  <a:txBody>
                    <a:bodyPr wrap="square" anchor="t">
                      <a:noAutofit/>
                    </a:bodyPr>
                    <a:lstStyle/>
                    <a:p>
                      <a:pPr algn="l">
                        <a:defRPr sz="1350">
                          <a:latin typeface="MiSans"/>
                          <a:ea typeface="MiSans"/>
                        </a:defRPr>
                      </a:pPr>
                      <a:r>
                        <a:rPr sz="1350" b="1">
                          <a:solidFill>
                            <a:srgbClr val="1E293B"/>
                          </a:solidFill>
                          <a:latin typeface="MiSans"/>
                          <a:ea typeface="MiSans"/>
                        </a:rPr>
                        <a:t/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>
                      <a:noAutofit/>
                    </a:bodyPr>
                    <a:lstStyle/>
                    <a:p>
                      <a:pPr algn="l">
                        <a:defRPr sz="1350">
                          <a:latin typeface="MiSans"/>
                          <a:ea typeface="MiSans"/>
                        </a:defRPr>
                      </a:pPr>
                      <a:r>
                        <a:rPr sz="1350">
                          <a:solidFill>
                            <a:srgbClr val="1E293B"/>
                          </a:solidFill>
                          <a:latin typeface="MiSans"/>
                          <a:ea typeface="MiSans"/>
                        </a:rPr>
                        <a:t/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>
                      <a:noAutofit/>
                    </a:bodyPr>
                    <a:lstStyle/>
                    <a:p>
                      <a:pPr algn="l">
                        <a:defRPr sz="1350">
                          <a:latin typeface="MiSans"/>
                          <a:ea typeface="MiSans"/>
                        </a:defRPr>
                      </a:pPr>
                      <a:r>
                        <a:rPr sz="1350">
                          <a:solidFill>
                            <a:srgbClr val="1E293B"/>
                          </a:solidFill>
                          <a:latin typeface="MiSans"/>
                          <a:ea typeface="MiSans"/>
                        </a:rPr>
                        <a:t/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dsl:bottom-note"/>
          <p:cNvSpPr txBox="1"/>
          <p:nvPr/>
        </p:nvSpPr>
        <p:spPr>
          <a:xfrm>
            <a:off x="571500" y="5191125"/>
            <a:ext cx="11049000" cy="762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50000"/>
              </a:lnSpc>
            </a:pPr>
            <a:r>
              <a:rPr b="1" sz="1200" noProof="1">
                <a:solidFill>
                  <a:srgbClr val="2563EB"/>
                </a:solidFill>
                <a:latin typeface="QuattrocentoSans"/>
                <a:ea typeface="MiSans"/>
              </a:rPr>
              <a:t>讨论阶段的原则：先把有证据的方向做扎实，不急于扩展到还没有验证的领域。</a:t>
            </a:r>
            <a:r>
              <a:rPr sz="1200" noProof="1">
                <a:solidFill>
                  <a:srgbClr val="2563EB"/>
                </a:solidFill>
                <a:latin typeface="QuattrocentoSans"/>
                <a:ea typeface="MiSans"/>
              </a:rPr>
              <a:t>这不是说"不能"，而是"目前还没做、证据不够"，需要后续继续探索。</a:t>
            </a:r>
          </a:p>
        </p:txBody>
      </p:sp>
      <p:sp>
        <p:nvSpPr>
          <p:cNvPr id="8" name="dsl:footer|s=$caption"/>
          <p:cNvSpPr txBox="1"/>
          <p:nvPr/>
        </p:nvSpPr>
        <p:spPr>
          <a:xfrm>
            <a:off x="571500" y="647700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RV-MalTrace 深度技术汇报</a:t>
            </a:r>
          </a:p>
        </p:txBody>
      </p:sp>
      <p:sp>
        <p:nvSpPr>
          <p:cNvPr id="9" name="dsl:page-num|s=$caption"/>
          <p:cNvSpPr txBox="1"/>
          <p:nvPr/>
        </p:nvSpPr>
        <p:spPr>
          <a:xfrm>
            <a:off x="11239500" y="6477000"/>
            <a:ext cx="571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r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nav-bg"/>
          <p:cNvSpPr/>
          <p:nvPr/>
        </p:nvSpPr>
        <p:spPr>
          <a:xfrm>
            <a:off x="0" y="0"/>
            <a:ext cx="12192000" cy="381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sl:nav-text"/>
          <p:cNvSpPr txBox="1"/>
          <p:nvPr/>
        </p:nvSpPr>
        <p:spPr>
          <a:xfrm>
            <a:off x="571500" y="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FFFFFF"/>
                </a:solidFill>
                <a:latin typeface="QuattrocentoSans"/>
                <a:ea typeface="MiSans"/>
              </a:rPr>
              <a:t>01 当前研究的问题</a:t>
            </a:r>
          </a:p>
        </p:txBody>
      </p:sp>
      <p:sp>
        <p:nvSpPr>
          <p:cNvPr id="4" name="dsl:page-title|s=$title"/>
          <p:cNvSpPr txBox="1"/>
          <p:nvPr/>
        </p:nvSpPr>
        <p:spPr>
          <a:xfrm>
            <a:off x="571500" y="523875"/>
            <a:ext cx="8572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400" noProof="1">
                <a:solidFill>
                  <a:srgbClr val="2563EB"/>
                </a:solidFill>
                <a:latin typeface="QuattrocentoSans"/>
                <a:ea typeface="MiSans"/>
              </a:rPr>
              <a:t>目标：建立可独立审查的行为证据链</a:t>
            </a:r>
          </a:p>
        </p:txBody>
      </p:sp>
      <p:sp>
        <p:nvSpPr>
          <p:cNvPr id="5" name="dsl:evidence-chain-bg"/>
          <p:cNvSpPr/>
          <p:nvPr/>
        </p:nvSpPr>
        <p:spPr>
          <a:xfrm>
            <a:off x="571500" y="1047750"/>
            <a:ext cx="11049000" cy="28575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sl:evidence-chain-title"/>
          <p:cNvSpPr txBox="1"/>
          <p:nvPr/>
        </p:nvSpPr>
        <p:spPr>
          <a:xfrm>
            <a:off x="762000" y="114300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350" noProof="1">
                <a:solidFill>
                  <a:srgbClr val="2563EB"/>
                </a:solidFill>
                <a:latin typeface="QuattrocentoSans"/>
                <a:ea typeface="MiSans"/>
              </a:rPr>
              <a:t>证据链的完整路径</a:t>
            </a:r>
          </a:p>
        </p:txBody>
      </p:sp>
      <p:sp>
        <p:nvSpPr>
          <p:cNvPr id="7" name="dsl:evidence-chain-body"/>
          <p:cNvSpPr txBox="1"/>
          <p:nvPr/>
        </p:nvSpPr>
        <p:spPr>
          <a:xfrm>
            <a:off x="762000" y="1524000"/>
            <a:ext cx="10668000" cy="2286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60000"/>
              </a:lnSpc>
            </a:pPr>
            <a:r>
              <a:rPr b="1" sz="1125" noProof="1">
                <a:solidFill>
                  <a:srgbClr val="1E293B"/>
                </a:solidFill>
                <a:latin typeface="QuattrocentoSans"/>
                <a:ea typeface="MiSans"/>
              </a:rPr>
              <a:t>① 硬件事实</a:t>
            </a:r>
            <a:r>
              <a:rPr sz="1125" noProof="1">
                <a:solidFill>
                  <a:srgbClr val="1E293B"/>
                </a:solidFill>
                <a:latin typeface="QuattrocentoSans"/>
                <a:ea typeface="MiSans"/>
              </a:rPr>
              <a:t>：CVA6/RVFI 提交级事件 → cva6_rvfi_trace_adapter.sv → trace_packet_t</a:t>
            </a:r>
          </a:p>
          <a:p>
            <a:pPr algn="l">
              <a:lnSpc>
                <a:spcPct val="160000"/>
              </a:lnSpc>
            </a:pPr>
            <a:r>
              <a:rPr b="1" sz="1125" noProof="1">
                <a:solidFill>
                  <a:srgbClr val="1E293B"/>
                </a:solidFill>
                <a:latin typeface="QuattrocentoSans"/>
                <a:ea typeface="MiSans"/>
              </a:rPr>
              <a:t>② 存储质量</a:t>
            </a:r>
            <a:r>
              <a:rPr sz="1125" noProof="1">
                <a:solidFill>
                  <a:srgbClr val="1E293B"/>
                </a:solidFill>
                <a:latin typeface="QuattrocentoSans"/>
                <a:ea typeface="MiSans"/>
              </a:rPr>
              <a:t>：trace_bram_ring.sv → 1024 深度 ring + sequence + drop/wrap counters</a:t>
            </a:r>
          </a:p>
          <a:p>
            <a:pPr algn="l">
              <a:lnSpc>
                <a:spcPct val="160000"/>
              </a:lnSpc>
            </a:pPr>
            <a:r>
              <a:rPr b="1" sz="1125" noProof="1">
                <a:solidFill>
                  <a:srgbClr val="1E293B"/>
                </a:solidFill>
                <a:latin typeface="QuattrocentoSans"/>
                <a:ea typeface="MiSans"/>
              </a:rPr>
              <a:t>③ 窗口验证</a:t>
            </a:r>
            <a:r>
              <a:rPr sz="1125" noProof="1">
                <a:solidFill>
                  <a:srgbClr val="1E293B"/>
                </a:solidFill>
                <a:latin typeface="QuattrocentoSans"/>
                <a:ea typeface="MiSans"/>
              </a:rPr>
              <a:t>：标记窗口准入检查 → begin/end + seq 连续 + wrap=0 + drop=0</a:t>
            </a:r>
          </a:p>
          <a:p>
            <a:pPr algn="l">
              <a:lnSpc>
                <a:spcPct val="160000"/>
              </a:lnSpc>
            </a:pPr>
            <a:r>
              <a:rPr b="1" sz="1125" noProof="1">
                <a:solidFill>
                  <a:srgbClr val="1E293B"/>
                </a:solidFill>
                <a:latin typeface="QuattrocentoSans"/>
                <a:ea typeface="MiSans"/>
              </a:rPr>
              <a:t>④ 语义绑定</a:t>
            </a:r>
            <a:r>
              <a:rPr sz="1125" noProof="1">
                <a:solidFill>
                  <a:srgbClr val="1E293B"/>
                </a:solidFill>
                <a:latin typeface="QuattrocentoSans"/>
                <a:ea typeface="MiSans"/>
              </a:rPr>
              <a:t>：目标 ELF 精确映射 + runtime OS map → PC → binary/function/process</a:t>
            </a:r>
          </a:p>
          <a:p>
            <a:pPr algn="l">
              <a:lnSpc>
                <a:spcPct val="160000"/>
              </a:lnSpc>
            </a:pPr>
            <a:r>
              <a:rPr b="1" sz="1125" noProof="1">
                <a:solidFill>
                  <a:srgbClr val="1E293B"/>
                </a:solidFill>
                <a:latin typeface="QuattrocentoSans"/>
                <a:ea typeface="MiSans"/>
              </a:rPr>
              <a:t>⑤ 行为恢复</a:t>
            </a:r>
            <a:r>
              <a:rPr sz="1125" noProof="1">
                <a:solidFill>
                  <a:srgbClr val="1E293B"/>
                </a:solidFill>
                <a:latin typeface="QuattrocentoSans"/>
                <a:ea typeface="MiSans"/>
              </a:rPr>
              <a:t>：syscall pairing + fd/path graph + 行为图</a:t>
            </a:r>
          </a:p>
          <a:p>
            <a:pPr algn="l">
              <a:lnSpc>
                <a:spcPct val="160000"/>
              </a:lnSpc>
            </a:pPr>
            <a:r>
              <a:rPr b="1" sz="1125" noProof="1">
                <a:solidFill>
                  <a:srgbClr val="1E293B"/>
                </a:solidFill>
                <a:latin typeface="QuattrocentoSans"/>
                <a:ea typeface="MiSans"/>
              </a:rPr>
              <a:t>⑥ 来源过滤</a:t>
            </a:r>
            <a:r>
              <a:rPr sz="1125" noProof="1">
                <a:solidFill>
                  <a:srgbClr val="1E293B"/>
                </a:solidFill>
                <a:latin typeface="QuattrocentoSans"/>
                <a:ea typeface="MiSans"/>
              </a:rPr>
              <a:t>：字段来源标签 → hardware/exact_elf/runtime_os_map vs validation_oracle</a:t>
            </a:r>
          </a:p>
        </p:txBody>
      </p:sp>
      <p:graphicFrame>
        <p:nvGraphicFramePr>
          <p:cNvPr id="8" name="dsl:bottom-table"/>
          <p:cNvGraphicFramePr>
            <a:graphicFrameLocks noGrp="1"/>
          </p:cNvGraphicFramePr>
          <p:nvPr/>
        </p:nvGraphicFramePr>
        <p:xfrm>
          <a:off x="571500" y="4095750"/>
          <a:ext cx="11049000" cy="19050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209800"/>
                <a:gridCol w="4419600"/>
                <a:gridCol w="4419600"/>
              </a:tblGrid>
              <a:tr h="2857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审查问题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回应机制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对应 Artifact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3238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数据被篡改？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硬件 旁路采集，不修改 CVA6 状态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trace_pkg.sv + trace_bram_ring.sv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38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窗口不完整？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accepted_window gate 拒绝不完整窗口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p0_bram_trace_summary.json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3238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语义来源不清？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字段级 数据溯源标签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semantic_provenance_summary.json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38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验证基准污染？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验证基准字段被系统性地排除在 claim 外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validation_oracle 标签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3238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选择性偏差？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14 个失败尝试完整保留，参与 robustness 统计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statistical_robustness_summary.json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dsl:footer|s=$caption"/>
          <p:cNvSpPr txBox="1"/>
          <p:nvPr/>
        </p:nvSpPr>
        <p:spPr>
          <a:xfrm>
            <a:off x="571500" y="647700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RV-MalTrace 深度技术汇报</a:t>
            </a:r>
          </a:p>
        </p:txBody>
      </p:sp>
      <p:sp>
        <p:nvSpPr>
          <p:cNvPr id="10" name="dsl:page-num|s=$caption"/>
          <p:cNvSpPr txBox="1"/>
          <p:nvPr/>
        </p:nvSpPr>
        <p:spPr>
          <a:xfrm>
            <a:off x="11239500" y="6477000"/>
            <a:ext cx="571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r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ch2-label"/>
          <p:cNvSpPr txBox="1"/>
          <p:nvPr/>
        </p:nvSpPr>
        <p:spPr>
          <a:xfrm>
            <a:off x="952500" y="2286000"/>
            <a:ext cx="2857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350" noProof="1">
                <a:solidFill>
                  <a:srgbClr val="FFFFFF">
                    <a:alpha val="60000"/>
                  </a:srgbClr>
                </a:solidFill>
                <a:latin typeface="QuattrocentoSans"/>
                <a:ea typeface="MiSans"/>
              </a:rPr>
              <a:t>PART 02</a:t>
            </a:r>
          </a:p>
        </p:txBody>
      </p:sp>
      <p:sp>
        <p:nvSpPr>
          <p:cNvPr id="3" name="dsl:ch2-title|s=$chapterTitle"/>
          <p:cNvSpPr txBox="1"/>
          <p:nvPr/>
        </p:nvSpPr>
        <p:spPr>
          <a:xfrm>
            <a:off x="952500" y="2762250"/>
            <a:ext cx="7620000" cy="666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3000" noProof="1">
                <a:solidFill>
                  <a:srgbClr val="FFFFFF"/>
                </a:solidFill>
                <a:latin typeface="QuattrocentoSans"/>
                <a:ea typeface="MiSans"/>
              </a:rPr>
              <a:t>解决这个问题的难点</a:t>
            </a:r>
          </a:p>
        </p:txBody>
      </p:sp>
      <p:sp>
        <p:nvSpPr>
          <p:cNvPr id="4" name="dsl:ch2-subtitle"/>
          <p:cNvSpPr txBox="1"/>
          <p:nvPr/>
        </p:nvSpPr>
        <p:spPr>
          <a:xfrm>
            <a:off x="952500" y="3524250"/>
            <a:ext cx="762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500" noProof="1">
                <a:solidFill>
                  <a:srgbClr val="FFFFFF">
                    <a:alpha val="80000"/>
                  </a:srgbClr>
                </a:solidFill>
                <a:latin typeface="QuattrocentoSans"/>
                <a:ea typeface="MiSans"/>
              </a:rPr>
              <a:t>硬件低语义、PC/指针无上下文、BRAM有限、验证基准易污染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nav-bg"/>
          <p:cNvSpPr/>
          <p:nvPr/>
        </p:nvSpPr>
        <p:spPr>
          <a:xfrm>
            <a:off x="0" y="0"/>
            <a:ext cx="12192000" cy="381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sl:nav-text"/>
          <p:cNvSpPr txBox="1"/>
          <p:nvPr/>
        </p:nvSpPr>
        <p:spPr>
          <a:xfrm>
            <a:off x="571500" y="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FFFFFF"/>
                </a:solidFill>
                <a:latin typeface="QuattrocentoSans"/>
                <a:ea typeface="MiSans"/>
              </a:rPr>
              <a:t>02 解决这个问题的难点</a:t>
            </a:r>
          </a:p>
        </p:txBody>
      </p:sp>
      <p:sp>
        <p:nvSpPr>
          <p:cNvPr id="4" name="dsl:page-title|s=$title"/>
          <p:cNvSpPr txBox="1"/>
          <p:nvPr/>
        </p:nvSpPr>
        <p:spPr>
          <a:xfrm>
            <a:off x="571500" y="523875"/>
            <a:ext cx="8572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400" noProof="1">
                <a:solidFill>
                  <a:srgbClr val="2563EB"/>
                </a:solidFill>
                <a:latin typeface="QuattrocentoSans"/>
                <a:ea typeface="MiSans"/>
              </a:rPr>
              <a:t>难点一：硬件 trace 的语义极其低</a:t>
            </a:r>
          </a:p>
        </p:txBody>
      </p:sp>
      <p:sp>
        <p:nvSpPr>
          <p:cNvPr id="5" name="dsl:intro"/>
          <p:cNvSpPr txBox="1"/>
          <p:nvPr/>
        </p:nvSpPr>
        <p:spPr>
          <a:xfrm>
            <a:off x="571500" y="1047750"/>
            <a:ext cx="11049000" cy="381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noProof="1">
                <a:solidFill>
                  <a:srgbClr val="1E293B"/>
                </a:solidFill>
                <a:latin typeface="QuattrocentoSans"/>
                <a:ea typeface="MiSans"/>
              </a:rPr>
              <a:t>硬件直接输出的不是"这个程序 open 了某个文件"，而是一串低层事件。以下是 12 种 RTL 事件类型：</a:t>
            </a:r>
          </a:p>
        </p:txBody>
      </p:sp>
      <p:graphicFrame>
        <p:nvGraphicFramePr>
          <p:cNvPr id="6" name="dsl:event-table"/>
          <p:cNvGraphicFramePr>
            <a:graphicFrameLocks noGrp="1"/>
          </p:cNvGraphicFramePr>
          <p:nvPr/>
        </p:nvGraphicFramePr>
        <p:xfrm>
          <a:off x="571500" y="1524000"/>
          <a:ext cx="11048999" cy="38100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8819"/>
                <a:gridCol w="3867150"/>
                <a:gridCol w="2430780"/>
                <a:gridCol w="2762250"/>
              </a:tblGrid>
              <a:tr h="26670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RTL 事件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硬件输出字段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直观语义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语义缺失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29337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SYSCALL_ENTRY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PC, a7, a0-a7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ECALL 进入 trap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不说明进程/Binary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9337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SYSCALL_RET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PC, target, a0, duration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SRET 返回 U-mode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不关联到哪个 entry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29337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TRAP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cause, tval, PC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异常/中断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不说明触发上下文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9337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ARG_MEM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addr, data, size, last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内存片段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不是完整字符串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29337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PRIV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old_priv, new_priv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特权切换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不说明原因/进程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9337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RETIRE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PC, instr, priv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指令提交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不说明函数/行为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29337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BRANCH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PC, taken, target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分支跳转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不说明控制流意图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9337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JUMP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PC, target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无条件跳转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不说明调用关系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29337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CSR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csr, value, PC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CSR 写入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不说明上下文变化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9337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SATP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satp, value, PC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页表切换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不说明进程切换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29337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MARKER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value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窗口标记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不说明行为语义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623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DROP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value (drop count)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溢出丢弃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不说明哪些事件丢失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dsl:bottom-note"/>
          <p:cNvSpPr txBox="1"/>
          <p:nvPr/>
        </p:nvSpPr>
        <p:spPr>
          <a:xfrm>
            <a:off x="571500" y="5476875"/>
            <a:ext cx="11049000" cy="47625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50000"/>
              </a:lnSpc>
            </a:pPr>
            <a:r>
              <a:rPr sz="1200" noProof="1">
                <a:solidFill>
                  <a:srgbClr val="2563EB"/>
                </a:solidFill>
                <a:latin typeface="QuattrocentoSans"/>
                <a:ea typeface="MiSans"/>
              </a:rPr>
              <a:t>核心观察：裸 trace 只能说明低层事件；binary/function/process owner 依赖 ELF + ASLR/PIE + runtime map 绑定。</a:t>
            </a:r>
          </a:p>
        </p:txBody>
      </p:sp>
      <p:sp>
        <p:nvSpPr>
          <p:cNvPr id="8" name="dsl:footer|s=$caption"/>
          <p:cNvSpPr txBox="1"/>
          <p:nvPr/>
        </p:nvSpPr>
        <p:spPr>
          <a:xfrm>
            <a:off x="571500" y="647700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RV-MalTrace 深度技术汇报</a:t>
            </a:r>
          </a:p>
        </p:txBody>
      </p:sp>
      <p:sp>
        <p:nvSpPr>
          <p:cNvPr id="9" name="dsl:page-num|s=$caption"/>
          <p:cNvSpPr txBox="1"/>
          <p:nvPr/>
        </p:nvSpPr>
        <p:spPr>
          <a:xfrm>
            <a:off x="11239500" y="6477000"/>
            <a:ext cx="571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r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nav-bg"/>
          <p:cNvSpPr/>
          <p:nvPr/>
        </p:nvSpPr>
        <p:spPr>
          <a:xfrm>
            <a:off x="0" y="0"/>
            <a:ext cx="12192000" cy="381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sl:nav-text"/>
          <p:cNvSpPr txBox="1"/>
          <p:nvPr/>
        </p:nvSpPr>
        <p:spPr>
          <a:xfrm>
            <a:off x="571500" y="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FFFFFF"/>
                </a:solidFill>
                <a:latin typeface="QuattrocentoSans"/>
                <a:ea typeface="MiSans"/>
              </a:rPr>
              <a:t>02 解决这个问题的难点</a:t>
            </a:r>
          </a:p>
        </p:txBody>
      </p:sp>
      <p:sp>
        <p:nvSpPr>
          <p:cNvPr id="4" name="dsl:page-title|s=$title"/>
          <p:cNvSpPr txBox="1"/>
          <p:nvPr/>
        </p:nvSpPr>
        <p:spPr>
          <a:xfrm>
            <a:off x="571500" y="523875"/>
            <a:ext cx="8572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400" noProof="1">
                <a:solidFill>
                  <a:srgbClr val="2563EB"/>
                </a:solidFill>
                <a:latin typeface="QuattrocentoSans"/>
                <a:ea typeface="MiSans"/>
              </a:rPr>
              <a:t>难点二：PC 和指针都不自带上下文</a:t>
            </a:r>
          </a:p>
        </p:txBody>
      </p:sp>
      <p:graphicFrame>
        <p:nvGraphicFramePr>
          <p:cNvPr id="5" name="dsl:gap-table"/>
          <p:cNvGraphicFramePr>
            <a:graphicFrameLocks noGrp="1"/>
          </p:cNvGraphicFramePr>
          <p:nvPr/>
        </p:nvGraphicFramePr>
        <p:xfrm>
          <a:off x="571500" y="1047750"/>
          <a:ext cx="11049000" cy="40005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209800"/>
                <a:gridCol w="3867150"/>
                <a:gridCol w="4972050"/>
              </a:tblGrid>
              <a:tr h="4000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Gap 类型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具体表现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需要补齐的内容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60007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PC → Binary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PC 值不说明属于哪个 ELF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目标 ELF 精确映射 code map (sections, symbols, build-id)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PC → Function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PC 值不说明函数名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Symbol table + debug line info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60007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PC → Process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PC 不说明属于 target child 还是 runner parent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Runtime OS map (/proc/pid/maps, exe)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Pointer → String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ARG_MEM 只给 bytes 片段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截断前缀 + 外部补充验证基准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60007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ASLR/PIE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同一 binary 不同运行时 PC 不同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load_base offset + /proc/self/maps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fork/exec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进程切换后 owner 变化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fork/exec event tracking + parent-child map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dsl:bottom-note-bg"/>
          <p:cNvSpPr/>
          <p:nvPr/>
        </p:nvSpPr>
        <p:spPr>
          <a:xfrm>
            <a:off x="571500" y="5191125"/>
            <a:ext cx="11049000" cy="7620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sl:bottom-note-text"/>
          <p:cNvSpPr txBox="1"/>
          <p:nvPr/>
        </p:nvSpPr>
        <p:spPr>
          <a:xfrm>
            <a:off x="762000" y="5286375"/>
            <a:ext cx="10668000" cy="5715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必须引入两种外部上下文：</a:t>
            </a: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目标 ELF 精确映射 code map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（静态分析）和 </a:t>
            </a: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Runtime OS map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（/proc/pid/maps）。对于 PIE/ASLR/动态库/fork-exec 链，光有静态 ELF 是不够的。</a:t>
            </a:r>
          </a:p>
        </p:txBody>
      </p:sp>
      <p:sp>
        <p:nvSpPr>
          <p:cNvPr id="8" name="dsl:footer|s=$caption"/>
          <p:cNvSpPr txBox="1"/>
          <p:nvPr/>
        </p:nvSpPr>
        <p:spPr>
          <a:xfrm>
            <a:off x="571500" y="647700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RV-MalTrace 深度技术汇报</a:t>
            </a:r>
          </a:p>
        </p:txBody>
      </p:sp>
      <p:sp>
        <p:nvSpPr>
          <p:cNvPr id="9" name="dsl:page-num|s=$caption"/>
          <p:cNvSpPr txBox="1"/>
          <p:nvPr/>
        </p:nvSpPr>
        <p:spPr>
          <a:xfrm>
            <a:off x="11239500" y="6477000"/>
            <a:ext cx="571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r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nav-bg"/>
          <p:cNvSpPr/>
          <p:nvPr/>
        </p:nvSpPr>
        <p:spPr>
          <a:xfrm>
            <a:off x="0" y="0"/>
            <a:ext cx="12192000" cy="381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sl:nav-text"/>
          <p:cNvSpPr txBox="1"/>
          <p:nvPr/>
        </p:nvSpPr>
        <p:spPr>
          <a:xfrm>
            <a:off x="571500" y="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FFFFFF"/>
                </a:solidFill>
                <a:latin typeface="QuattrocentoSans"/>
                <a:ea typeface="MiSans"/>
              </a:rPr>
              <a:t>02 解决这个问题的难点</a:t>
            </a:r>
          </a:p>
        </p:txBody>
      </p:sp>
      <p:sp>
        <p:nvSpPr>
          <p:cNvPr id="4" name="dsl:page-title|s=$title"/>
          <p:cNvSpPr txBox="1"/>
          <p:nvPr/>
        </p:nvSpPr>
        <p:spPr>
          <a:xfrm>
            <a:off x="571500" y="523875"/>
            <a:ext cx="8572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400" noProof="1">
                <a:solidFill>
                  <a:srgbClr val="2563EB"/>
                </a:solidFill>
                <a:latin typeface="QuattrocentoSans"/>
                <a:ea typeface="MiSans"/>
              </a:rPr>
              <a:t>难点三：BRAM 有限缓冲与 验证基准易污染</a:t>
            </a:r>
          </a:p>
        </p:txBody>
      </p:sp>
      <p:sp>
        <p:nvSpPr>
          <p:cNvPr id="5" name="dsl:left-card-bg"/>
          <p:cNvSpPr/>
          <p:nvPr/>
        </p:nvSpPr>
        <p:spPr>
          <a:xfrm>
            <a:off x="571500" y="1047750"/>
            <a:ext cx="5334000" cy="2667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sl:left-card-title"/>
          <p:cNvSpPr txBox="1"/>
          <p:nvPr/>
        </p:nvSpPr>
        <p:spPr>
          <a:xfrm>
            <a:off x="762000" y="1143000"/>
            <a:ext cx="4953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350" noProof="1">
                <a:solidFill>
                  <a:srgbClr val="EF4444"/>
                </a:solidFill>
                <a:latin typeface="QuattrocentoSans"/>
                <a:ea typeface="MiSans"/>
              </a:rPr>
              <a:t>BRAM Ring 是有限证据缓冲</a:t>
            </a:r>
          </a:p>
        </p:txBody>
      </p:sp>
      <p:sp>
        <p:nvSpPr>
          <p:cNvPr id="7" name="dsl:left-card-body"/>
          <p:cNvSpPr txBox="1"/>
          <p:nvPr/>
        </p:nvSpPr>
        <p:spPr>
          <a:xfrm>
            <a:off x="762000" y="1476375"/>
            <a:ext cx="4953000" cy="214312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BRAM ring 深度只有 </a:t>
            </a: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1024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 条记录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Compact record 宽度受硬件约束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trace_compact_record_t = 396 bits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debug probe payload = 716 bits</a:t>
            </a:r>
          </a:p>
          <a:p>
            <a:pPr algn="l">
              <a:lnSpc>
                <a:spcPct val="150000"/>
              </a:lnSpc>
              <a:spcBef>
                <a:spcPts val="450"/>
              </a:spcBef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必须做两件事：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① </a:t>
            </a: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压缩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：trace_packet_t → trace_compact_record_t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② </a:t>
            </a: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窗口限定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：begin/end marker 限定感兴趣时间段</a:t>
            </a:r>
          </a:p>
          <a:p>
            <a:pPr algn="l">
              <a:lnSpc>
                <a:spcPct val="150000"/>
              </a:lnSpc>
              <a:spcBef>
                <a:spcPts val="450"/>
              </a:spcBef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不是 production streaming</a:t>
            </a:r>
          </a:p>
        </p:txBody>
      </p:sp>
      <p:sp>
        <p:nvSpPr>
          <p:cNvPr id="8" name="dsl:right-card-bg"/>
          <p:cNvSpPr/>
          <p:nvPr/>
        </p:nvSpPr>
        <p:spPr>
          <a:xfrm>
            <a:off x="6096000" y="1047750"/>
            <a:ext cx="5524500" cy="2667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sl:right-card-title"/>
          <p:cNvSpPr txBox="1"/>
          <p:nvPr/>
        </p:nvSpPr>
        <p:spPr>
          <a:xfrm>
            <a:off x="6286500" y="1143000"/>
            <a:ext cx="5143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350" noProof="1">
                <a:solidFill>
                  <a:srgbClr val="EF4444"/>
                </a:solidFill>
                <a:latin typeface="QuattrocentoSans"/>
                <a:ea typeface="MiSans"/>
              </a:rPr>
              <a:t>验证基准易污染</a:t>
            </a:r>
          </a:p>
        </p:txBody>
      </p:sp>
      <p:sp>
        <p:nvSpPr>
          <p:cNvPr id="10" name="dsl:right-card-body"/>
          <p:cNvSpPr txBox="1"/>
          <p:nvPr/>
        </p:nvSpPr>
        <p:spPr>
          <a:xfrm>
            <a:off x="6286500" y="1476375"/>
            <a:ext cx="5143500" cy="214312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qemu/strace 是 </a:t>
            </a: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验证基准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不是 hardware evidence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对 workload 可见，可被感知、被篡改</a:t>
            </a:r>
          </a:p>
          <a:p>
            <a:pPr algn="l">
              <a:lnSpc>
                <a:spcPct val="150000"/>
              </a:lnSpc>
              <a:spcBef>
                <a:spcPts val="450"/>
              </a:spcBef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若把 验证基准日志误当成硬件恢复结果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→ </a:t>
            </a: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过度声称</a:t>
            </a:r>
          </a:p>
          <a:p>
            <a:pPr algn="l">
              <a:lnSpc>
                <a:spcPct val="150000"/>
              </a:lnSpc>
              <a:spcBef>
                <a:spcPts val="450"/>
              </a:spcBef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解决方案：数据溯源标签强制分离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276 个 验证基准字段被挡在 验证通道</a:t>
            </a:r>
          </a:p>
        </p:txBody>
      </p:sp>
      <p:graphicFrame>
        <p:nvGraphicFramePr>
          <p:cNvPr id="11" name="dsl:bottom-table"/>
          <p:cNvGraphicFramePr>
            <a:graphicFrameLocks noGrp="1"/>
          </p:cNvGraphicFramePr>
          <p:nvPr/>
        </p:nvGraphicFramePr>
        <p:xfrm>
          <a:off x="571500" y="3905250"/>
          <a:ext cx="6667498" cy="11430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00250"/>
                <a:gridCol w="2333624"/>
                <a:gridCol w="2333624"/>
              </a:tblGrid>
              <a:tr h="34290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参数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值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说明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4000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BRAM depth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1024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可参数化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Compact record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396 bits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trace_compact_record_t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2" name="dsl:bottom-note"/>
          <p:cNvSpPr txBox="1"/>
          <p:nvPr/>
        </p:nvSpPr>
        <p:spPr>
          <a:xfrm>
            <a:off x="571500" y="5191125"/>
            <a:ext cx="11049000" cy="762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5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设计约束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：trace 逻辑是 sideband-only。full trace sink 必须 never backpressure CVA6；当带宽超过时，必须 drop trace records 并 emit/count EVT_DROP。</a:t>
            </a:r>
          </a:p>
        </p:txBody>
      </p:sp>
      <p:sp>
        <p:nvSpPr>
          <p:cNvPr id="13" name="dsl:footer|s=$caption"/>
          <p:cNvSpPr txBox="1"/>
          <p:nvPr/>
        </p:nvSpPr>
        <p:spPr>
          <a:xfrm>
            <a:off x="571500" y="647700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RV-MalTrace 深度技术汇报</a:t>
            </a:r>
          </a:p>
        </p:txBody>
      </p:sp>
      <p:sp>
        <p:nvSpPr>
          <p:cNvPr id="14" name="dsl:page-num|s=$caption"/>
          <p:cNvSpPr txBox="1"/>
          <p:nvPr/>
        </p:nvSpPr>
        <p:spPr>
          <a:xfrm>
            <a:off x="11239500" y="6477000"/>
            <a:ext cx="571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r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ch3-label"/>
          <p:cNvSpPr txBox="1"/>
          <p:nvPr/>
        </p:nvSpPr>
        <p:spPr>
          <a:xfrm>
            <a:off x="952500" y="2286000"/>
            <a:ext cx="2857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350" noProof="1">
                <a:solidFill>
                  <a:srgbClr val="FFFFFF">
                    <a:alpha val="60000"/>
                  </a:srgbClr>
                </a:solidFill>
                <a:latin typeface="QuattrocentoSans"/>
                <a:ea typeface="MiSans"/>
              </a:rPr>
              <a:t>PART 03</a:t>
            </a:r>
          </a:p>
        </p:txBody>
      </p:sp>
      <p:sp>
        <p:nvSpPr>
          <p:cNvPr id="3" name="dsl:ch3-title|s=$chapterTitle"/>
          <p:cNvSpPr txBox="1"/>
          <p:nvPr/>
        </p:nvSpPr>
        <p:spPr>
          <a:xfrm>
            <a:off x="952500" y="2762250"/>
            <a:ext cx="7620000" cy="666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3000" noProof="1">
                <a:solidFill>
                  <a:srgbClr val="FFFFFF"/>
                </a:solidFill>
                <a:latin typeface="QuattrocentoSans"/>
                <a:ea typeface="MiSans"/>
              </a:rPr>
              <a:t>提出的解决方案</a:t>
            </a:r>
          </a:p>
        </p:txBody>
      </p:sp>
      <p:sp>
        <p:nvSpPr>
          <p:cNvPr id="4" name="dsl:ch3-subtitle"/>
          <p:cNvSpPr txBox="1"/>
          <p:nvPr/>
        </p:nvSpPr>
        <p:spPr>
          <a:xfrm>
            <a:off x="952500" y="3524250"/>
            <a:ext cx="762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500" noProof="1">
                <a:solidFill>
                  <a:srgbClr val="FFFFFF">
                    <a:alpha val="80000"/>
                  </a:srgbClr>
                </a:solidFill>
                <a:latin typeface="QuattrocentoSans"/>
                <a:ea typeface="MiSans"/>
              </a:rPr>
              <a:t>五阶段可检查流水线 + 架构分层 + 失败保留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nav-bg"/>
          <p:cNvSpPr/>
          <p:nvPr/>
        </p:nvSpPr>
        <p:spPr>
          <a:xfrm>
            <a:off x="0" y="0"/>
            <a:ext cx="12192000" cy="381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sl:nav-text"/>
          <p:cNvSpPr txBox="1"/>
          <p:nvPr/>
        </p:nvSpPr>
        <p:spPr>
          <a:xfrm>
            <a:off x="571500" y="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FFFFFF"/>
                </a:solidFill>
                <a:latin typeface="QuattrocentoSans"/>
                <a:ea typeface="MiSans"/>
              </a:rPr>
              <a:t>03 提出的解决方案</a:t>
            </a:r>
          </a:p>
        </p:txBody>
      </p:sp>
      <p:sp>
        <p:nvSpPr>
          <p:cNvPr id="4" name="dsl:page-title|s=$title"/>
          <p:cNvSpPr txBox="1"/>
          <p:nvPr/>
        </p:nvSpPr>
        <p:spPr>
          <a:xfrm>
            <a:off x="571500" y="523875"/>
            <a:ext cx="8572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400" noProof="1">
                <a:solidFill>
                  <a:srgbClr val="2563EB"/>
                </a:solidFill>
                <a:latin typeface="QuattrocentoSans"/>
                <a:ea typeface="MiSans"/>
              </a:rPr>
              <a:t>总体方案：五阶段可检查流水线</a:t>
            </a:r>
          </a:p>
        </p:txBody>
      </p:sp>
      <p:sp>
        <p:nvSpPr>
          <p:cNvPr id="5" name="dsl:pipeline-bg"/>
          <p:cNvSpPr/>
          <p:nvPr/>
        </p:nvSpPr>
        <p:spPr>
          <a:xfrm>
            <a:off x="571500" y="1047750"/>
            <a:ext cx="11049000" cy="2667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sl:pipeline-text"/>
          <p:cNvSpPr txBox="1"/>
          <p:nvPr/>
        </p:nvSpPr>
        <p:spPr>
          <a:xfrm>
            <a:off x="762000" y="1143000"/>
            <a:ext cx="10668000" cy="24765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6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① Marker 限定窗口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：用户态 marker syscall (a7=1023, a0=0xb0000a01/e0000a01) 标记 begin/end</a:t>
            </a:r>
          </a:p>
          <a:p>
            <a:pPr algn="l">
              <a:lnSpc>
                <a:spcPct val="16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② CVA6 RVFI 捕获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：cva6_rvfi_trace_adapter.sv → trace_packet_t（12 种事件类型）</a:t>
            </a:r>
          </a:p>
          <a:p>
            <a:pPr algn="l">
              <a:lnSpc>
                <a:spcPct val="16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③ BRAM Ring 存储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：trace_bram_ring.sv → trace_compact_record_t（1024 深度，sequence + counters）</a:t>
            </a:r>
          </a:p>
          <a:p>
            <a:pPr algn="l">
              <a:lnSpc>
                <a:spcPct val="16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④ 主机 Gate 检查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：ILA/JTAG readout → decode → 标记窗口准入检查（完整性检查）</a:t>
            </a:r>
          </a:p>
          <a:p>
            <a:pPr algn="l">
              <a:lnSpc>
                <a:spcPct val="16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⑤ 语义恢复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：目标 ELF 精确映射 code map + Runtime process map → PC 绑定</a:t>
            </a:r>
          </a:p>
          <a:p>
            <a:pPr algn="l">
              <a:lnSpc>
                <a:spcPct val="16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　　　　　→ Semantic recovery → syscall sequence / fd-path graph / 行为图</a:t>
            </a:r>
          </a:p>
          <a:p>
            <a:pPr algn="l">
              <a:lnSpc>
                <a:spcPct val="16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　　　　　→ Field 来源标签过滤 → Reportable Scoped Claims</a:t>
            </a:r>
          </a:p>
        </p:txBody>
      </p:sp>
      <p:sp>
        <p:nvSpPr>
          <p:cNvPr id="7" name="dsl:principle-title"/>
          <p:cNvSpPr txBox="1"/>
          <p:nvPr/>
        </p:nvSpPr>
        <p:spPr>
          <a:xfrm>
            <a:off x="571500" y="390525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200" noProof="1">
                <a:solidFill>
                  <a:srgbClr val="2563EB"/>
                </a:solidFill>
                <a:latin typeface="QuattrocentoSans"/>
                <a:ea typeface="MiSans"/>
              </a:rPr>
              <a:t>核心设计原则：硬件给事实，离线给语义，数据溯源决定 claim</a:t>
            </a:r>
          </a:p>
        </p:txBody>
      </p:sp>
      <p:graphicFrame>
        <p:nvGraphicFramePr>
          <p:cNvPr id="8" name="dsl:principle-table"/>
          <p:cNvGraphicFramePr>
            <a:graphicFrameLocks noGrp="1"/>
          </p:cNvGraphicFramePr>
          <p:nvPr/>
        </p:nvGraphicFramePr>
        <p:xfrm>
          <a:off x="571500" y="4286250"/>
          <a:ext cx="11049000" cy="17145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762250"/>
                <a:gridCol w="3867150"/>
                <a:gridCol w="4419600"/>
              </a:tblGrid>
              <a:tr h="34290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层级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职责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产出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46291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硬件侧（RTL）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只捕获提交级事件，不尝试理解语义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trace_packet_t / compact record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291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主机侧（Python）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低层事件绑定 ELF/runtime 上下文，恢复语义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annotated events / semantic_events / behavior_graph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数据溯源层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给每个字段贴来源标签，决定哪些能进 claim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semantic_provenance_summary.json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dsl:footer|s=$caption"/>
          <p:cNvSpPr txBox="1"/>
          <p:nvPr/>
        </p:nvSpPr>
        <p:spPr>
          <a:xfrm>
            <a:off x="571500" y="647700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RV-MalTrace 深度技术汇报</a:t>
            </a:r>
          </a:p>
        </p:txBody>
      </p:sp>
      <p:sp>
        <p:nvSpPr>
          <p:cNvPr id="10" name="dsl:page-num|s=$caption"/>
          <p:cNvSpPr txBox="1"/>
          <p:nvPr/>
        </p:nvSpPr>
        <p:spPr>
          <a:xfrm>
            <a:off x="11239500" y="6477000"/>
            <a:ext cx="571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r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nav-bg"/>
          <p:cNvSpPr/>
          <p:nvPr/>
        </p:nvSpPr>
        <p:spPr>
          <a:xfrm>
            <a:off x="0" y="0"/>
            <a:ext cx="12192000" cy="381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sl:nav-text"/>
          <p:cNvSpPr txBox="1"/>
          <p:nvPr/>
        </p:nvSpPr>
        <p:spPr>
          <a:xfrm>
            <a:off x="571500" y="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FFFFFF"/>
                </a:solidFill>
                <a:latin typeface="QuattrocentoSans"/>
                <a:ea typeface="MiSans"/>
              </a:rPr>
              <a:t>03 提出的解决方案</a:t>
            </a:r>
          </a:p>
        </p:txBody>
      </p:sp>
      <p:sp>
        <p:nvSpPr>
          <p:cNvPr id="4" name="dsl:page-title|s=$title"/>
          <p:cNvSpPr txBox="1"/>
          <p:nvPr/>
        </p:nvSpPr>
        <p:spPr>
          <a:xfrm>
            <a:off x="571500" y="523875"/>
            <a:ext cx="8572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400" noProof="1">
                <a:solidFill>
                  <a:srgbClr val="2563EB"/>
                </a:solidFill>
                <a:latin typeface="QuattrocentoSans"/>
                <a:ea typeface="MiSans"/>
              </a:rPr>
              <a:t>架构分层：RTL 层 + 主机层 + 数据溯源层</a:t>
            </a:r>
          </a:p>
        </p:txBody>
      </p:sp>
      <p:sp>
        <p:nvSpPr>
          <p:cNvPr id="5" name="dsl:rtl-bg"/>
          <p:cNvSpPr/>
          <p:nvPr/>
        </p:nvSpPr>
        <p:spPr>
          <a:xfrm>
            <a:off x="571500" y="1047750"/>
            <a:ext cx="3524250" cy="2667000"/>
          </a:xfrm>
          <a:prstGeom prst="roundRect">
            <a:avLst>
              <a:gd name="adj" fmla="val 6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sl:rtl-title"/>
          <p:cNvSpPr txBox="1"/>
          <p:nvPr/>
        </p:nvSpPr>
        <p:spPr>
          <a:xfrm>
            <a:off x="762000" y="1143000"/>
            <a:ext cx="314325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200" noProof="1">
                <a:solidFill>
                  <a:srgbClr val="2563EB"/>
                </a:solidFill>
                <a:latin typeface="QuattrocentoSans"/>
                <a:ea typeface="MiSans"/>
              </a:rPr>
              <a:t>RTL 层（硬件）</a:t>
            </a:r>
          </a:p>
        </p:txBody>
      </p:sp>
      <p:sp>
        <p:nvSpPr>
          <p:cNvPr id="7" name="dsl:rtl-body"/>
          <p:cNvSpPr txBox="1"/>
          <p:nvPr/>
        </p:nvSpPr>
        <p:spPr>
          <a:xfrm>
            <a:off x="762000" y="1476375"/>
            <a:ext cx="3143250" cy="20955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cva6_rvfi_trace_adapter.sv</a:t>
            </a:r>
          </a:p>
          <a:p>
            <a:pPr algn="l">
              <a:lnSpc>
                <a:spcPct val="150000"/>
              </a:lnSpc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trace_bram_ring.sv</a:t>
            </a:r>
          </a:p>
          <a:p>
            <a:pPr algn="l">
              <a:lnSpc>
                <a:spcPct val="150000"/>
              </a:lnSpc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trace_board_minimal_ctrl.sv</a:t>
            </a:r>
          </a:p>
          <a:p>
            <a:pPr algn="l">
              <a:lnSpc>
                <a:spcPct val="150000"/>
              </a:lnSpc>
              <a:spcBef>
                <a:spcPts val="450"/>
              </a:spcBef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职责：只给事实</a:t>
            </a:r>
          </a:p>
          <a:p>
            <a:pPr algn="l">
              <a:lnSpc>
                <a:spcPct val="150000"/>
              </a:lnSpc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• 12 种事件类型</a:t>
            </a:r>
          </a:p>
          <a:p>
            <a:pPr algn="l">
              <a:lnSpc>
                <a:spcPct val="150000"/>
              </a:lnSpc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• sequence + counters</a:t>
            </a:r>
          </a:p>
          <a:p>
            <a:pPr algn="l">
              <a:lnSpc>
                <a:spcPct val="150000"/>
              </a:lnSpc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• marker 窗口管理</a:t>
            </a:r>
          </a:p>
          <a:p>
            <a:pPr algn="l">
              <a:lnSpc>
                <a:spcPct val="150000"/>
              </a:lnSpc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• 不修改 CVA6 状态</a:t>
            </a:r>
          </a:p>
        </p:txBody>
      </p:sp>
      <p:sp>
        <p:nvSpPr>
          <p:cNvPr id="8" name="dsl:host-bg"/>
          <p:cNvSpPr/>
          <p:nvPr/>
        </p:nvSpPr>
        <p:spPr>
          <a:xfrm>
            <a:off x="4286250" y="1047750"/>
            <a:ext cx="3524250" cy="266700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sl:host-title"/>
          <p:cNvSpPr txBox="1"/>
          <p:nvPr/>
        </p:nvSpPr>
        <p:spPr>
          <a:xfrm>
            <a:off x="4476750" y="1143000"/>
            <a:ext cx="314325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200" noProof="1">
                <a:solidFill>
                  <a:srgbClr val="10B981"/>
                </a:solidFill>
                <a:latin typeface="QuattrocentoSans"/>
                <a:ea typeface="MiSans"/>
              </a:rPr>
              <a:t>主机层（软件）</a:t>
            </a:r>
          </a:p>
        </p:txBody>
      </p:sp>
      <p:sp>
        <p:nvSpPr>
          <p:cNvPr id="10" name="dsl:host-body"/>
          <p:cNvSpPr txBox="1"/>
          <p:nvPr/>
        </p:nvSpPr>
        <p:spPr>
          <a:xfrm>
            <a:off x="4476750" y="1476375"/>
            <a:ext cx="3143250" cy="20955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tools/join_trace_code_map.py</a:t>
            </a:r>
          </a:p>
          <a:p>
            <a:pPr algn="l">
              <a:lnSpc>
                <a:spcPct val="150000"/>
              </a:lnSpc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tools/recover_behavior.py</a:t>
            </a:r>
          </a:p>
          <a:p>
            <a:pPr algn="l">
              <a:lnSpc>
                <a:spcPct val="150000"/>
              </a:lnSpc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tools/build_code_map.py</a:t>
            </a:r>
          </a:p>
          <a:p>
            <a:pPr algn="l">
              <a:lnSpc>
                <a:spcPct val="150000"/>
              </a:lnSpc>
              <a:spcBef>
                <a:spcPts val="450"/>
              </a:spcBef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职责：恢复语义</a:t>
            </a:r>
          </a:p>
          <a:p>
            <a:pPr algn="l">
              <a:lnSpc>
                <a:spcPct val="150000"/>
              </a:lnSpc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• ELF/Runtime 绑定</a:t>
            </a:r>
          </a:p>
          <a:p>
            <a:pPr algn="l">
              <a:lnSpc>
                <a:spcPct val="150000"/>
              </a:lnSpc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• Syscall pairing</a:t>
            </a:r>
          </a:p>
          <a:p>
            <a:pPr algn="l">
              <a:lnSpc>
                <a:spcPct val="150000"/>
              </a:lnSpc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• FD/Process graph</a:t>
            </a:r>
          </a:p>
          <a:p>
            <a:pPr algn="l">
              <a:lnSpc>
                <a:spcPct val="150000"/>
              </a:lnSpc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• 数据溯源过滤</a:t>
            </a:r>
          </a:p>
        </p:txBody>
      </p:sp>
      <p:sp>
        <p:nvSpPr>
          <p:cNvPr id="11" name="dsl:prov-bg"/>
          <p:cNvSpPr/>
          <p:nvPr/>
        </p:nvSpPr>
        <p:spPr>
          <a:xfrm>
            <a:off x="8001000" y="1047750"/>
            <a:ext cx="3619500" cy="26670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l:prov-title"/>
          <p:cNvSpPr txBox="1"/>
          <p:nvPr/>
        </p:nvSpPr>
        <p:spPr>
          <a:xfrm>
            <a:off x="8191500" y="1143000"/>
            <a:ext cx="3238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200" noProof="1">
                <a:solidFill>
                  <a:srgbClr val="F59E0B"/>
                </a:solidFill>
                <a:latin typeface="QuattrocentoSans"/>
                <a:ea typeface="MiSans"/>
              </a:rPr>
              <a:t>数据溯源层</a:t>
            </a:r>
          </a:p>
        </p:txBody>
      </p:sp>
      <p:sp>
        <p:nvSpPr>
          <p:cNvPr id="13" name="dsl:prov-body"/>
          <p:cNvSpPr txBox="1"/>
          <p:nvPr/>
        </p:nvSpPr>
        <p:spPr>
          <a:xfrm>
            <a:off x="8191500" y="1476375"/>
            <a:ext cx="3238500" cy="20955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4 类来源标签：</a:t>
            </a:r>
          </a:p>
          <a:p>
            <a:pPr algn="l">
              <a:lnSpc>
                <a:spcPct val="150000"/>
              </a:lnSpc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• hardware ✅</a:t>
            </a:r>
          </a:p>
          <a:p>
            <a:pPr algn="l">
              <a:lnSpc>
                <a:spcPct val="150000"/>
              </a:lnSpc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• exact_elf ✅</a:t>
            </a:r>
          </a:p>
          <a:p>
            <a:pPr algn="l">
              <a:lnSpc>
                <a:spcPct val="150000"/>
              </a:lnSpc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• runtime_os_map ✅</a:t>
            </a:r>
          </a:p>
          <a:p>
            <a:pPr algn="l">
              <a:lnSpc>
                <a:spcPct val="150000"/>
              </a:lnSpc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• validation_oracle ❌</a:t>
            </a:r>
          </a:p>
          <a:p>
            <a:pPr algn="l">
              <a:lnSpc>
                <a:spcPct val="150000"/>
              </a:lnSpc>
              <a:spcBef>
                <a:spcPts val="450"/>
              </a:spcBef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职责：决定可报告性</a:t>
            </a:r>
          </a:p>
          <a:p>
            <a:pPr algn="l">
              <a:lnSpc>
                <a:spcPct val="150000"/>
              </a:lnSpc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只有前 3 类可进入 report</a:t>
            </a:r>
          </a:p>
        </p:txBody>
      </p:sp>
      <p:graphicFrame>
        <p:nvGraphicFramePr>
          <p:cNvPr id="14" name="dsl:artifact-table"/>
          <p:cNvGraphicFramePr>
            <a:graphicFrameLocks noGrp="1"/>
          </p:cNvGraphicFramePr>
          <p:nvPr/>
        </p:nvGraphicFramePr>
        <p:xfrm>
          <a:off x="571500" y="3905250"/>
          <a:ext cx="11049000" cy="20955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3314700"/>
                <a:gridCol w="7734300"/>
              </a:tblGrid>
              <a:tr h="25146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Artifact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功能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31432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p0_bram_trace_summary.json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P0 样本的 trace 汇总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drop_accounting_summary.json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无 drop/wrap 质量账本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31432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semantic_events.json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语义恢复后的结构化事件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behavior_graph.json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行为摘要图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31432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fd_path_graph.json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文件描述符和路径关系图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241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semantic_provenance_summary.json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字段来源检查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5" name="dsl:footer|s=$caption"/>
          <p:cNvSpPr txBox="1"/>
          <p:nvPr/>
        </p:nvSpPr>
        <p:spPr>
          <a:xfrm>
            <a:off x="571500" y="647700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RV-MalTrace 深度技术汇报</a:t>
            </a:r>
          </a:p>
        </p:txBody>
      </p:sp>
      <p:sp>
        <p:nvSpPr>
          <p:cNvPr id="16" name="dsl:page-num|s=$caption"/>
          <p:cNvSpPr txBox="1"/>
          <p:nvPr/>
        </p:nvSpPr>
        <p:spPr>
          <a:xfrm>
            <a:off x="11239500" y="6477000"/>
            <a:ext cx="571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r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nav-bg"/>
          <p:cNvSpPr/>
          <p:nvPr/>
        </p:nvSpPr>
        <p:spPr>
          <a:xfrm>
            <a:off x="0" y="0"/>
            <a:ext cx="12192000" cy="381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sl:nav-text"/>
          <p:cNvSpPr txBox="1"/>
          <p:nvPr/>
        </p:nvSpPr>
        <p:spPr>
          <a:xfrm>
            <a:off x="571500" y="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FFFFFF"/>
                </a:solidFill>
                <a:latin typeface="QuattrocentoSans"/>
                <a:ea typeface="MiSans"/>
              </a:rPr>
              <a:t>03 提出的解决方案</a:t>
            </a:r>
          </a:p>
        </p:txBody>
      </p:sp>
      <p:sp>
        <p:nvSpPr>
          <p:cNvPr id="4" name="dsl:page-title|s=$title"/>
          <p:cNvSpPr txBox="1"/>
          <p:nvPr/>
        </p:nvSpPr>
        <p:spPr>
          <a:xfrm>
            <a:off x="571500" y="523875"/>
            <a:ext cx="8572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400" noProof="1">
                <a:solidFill>
                  <a:srgbClr val="2563EB"/>
                </a:solidFill>
                <a:latin typeface="QuattrocentoSans"/>
                <a:ea typeface="MiSans"/>
              </a:rPr>
              <a:t>每个阶段都有失败处理机制</a:t>
            </a:r>
          </a:p>
        </p:txBody>
      </p:sp>
      <p:sp>
        <p:nvSpPr>
          <p:cNvPr id="5" name="dsl:intro"/>
          <p:cNvSpPr txBox="1"/>
          <p:nvPr/>
        </p:nvSpPr>
        <p:spPr>
          <a:xfrm>
            <a:off x="571500" y="1047750"/>
            <a:ext cx="11049000" cy="381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noProof="1">
                <a:solidFill>
                  <a:srgbClr val="1E293B"/>
                </a:solidFill>
                <a:latin typeface="QuattrocentoSans"/>
                <a:ea typeface="MiSans"/>
              </a:rPr>
              <a:t>工程上的关键设计是</a:t>
            </a:r>
            <a:r>
              <a:rPr b="1" sz="1200" noProof="1">
                <a:solidFill>
                  <a:srgbClr val="1E293B"/>
                </a:solidFill>
                <a:latin typeface="QuattrocentoSans"/>
                <a:ea typeface="MiSans"/>
              </a:rPr>
              <a:t>失败保留（failure retention）</a:t>
            </a:r>
            <a:r>
              <a:rPr sz="1200" noProof="1">
                <a:solidFill>
                  <a:srgbClr val="1E293B"/>
                </a:solidFill>
                <a:latin typeface="QuattrocentoSans"/>
                <a:ea typeface="MiSans"/>
              </a:rPr>
              <a:t>，而不是失败丢弃：</a:t>
            </a:r>
          </a:p>
        </p:txBody>
      </p:sp>
      <p:graphicFrame>
        <p:nvGraphicFramePr>
          <p:cNvPr id="6" name="dsl:failure-table"/>
          <p:cNvGraphicFramePr>
            <a:graphicFrameLocks noGrp="1"/>
          </p:cNvGraphicFramePr>
          <p:nvPr/>
        </p:nvGraphicFramePr>
        <p:xfrm>
          <a:off x="571500" y="1524000"/>
          <a:ext cx="11049000" cy="26670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762250"/>
                <a:gridCol w="3867150"/>
                <a:gridCol w="4419600"/>
              </a:tblGrid>
              <a:tr h="37338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失败类型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处理方式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产物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45339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Capture 失败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保留 BRAM dump 和失败原因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raw dump + failure log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339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Gate 失败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marker 不完整 / seq 缺口 / drop/wrap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retained_failed_attempts，不进入 PASS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45339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Context binding 失败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ELF/runtime 缺失或歧义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降级或 block，不强行 claim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339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Semantic recovery 失败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syscall 不可配对 / 字段不可解释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boundary evidence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48006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数据溯源检查失败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验证基准字段被标为 hardware-only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checker 拒绝，不进入 report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dsl:bottom-note-bg"/>
          <p:cNvSpPr/>
          <p:nvPr/>
        </p:nvSpPr>
        <p:spPr>
          <a:xfrm>
            <a:off x="571500" y="4381500"/>
            <a:ext cx="11049000" cy="7620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l:bottom-note-text"/>
          <p:cNvSpPr txBox="1"/>
          <p:nvPr/>
        </p:nvSpPr>
        <p:spPr>
          <a:xfrm>
            <a:off x="762000" y="4476750"/>
            <a:ext cx="10668000" cy="5715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这直接回应了"成功是不是事后挑选出来的"这一质疑：14 个失败尝试被完整保留，它们不参与 accepted 统计，但参与 robustness 审计。</a:t>
            </a:r>
          </a:p>
        </p:txBody>
      </p:sp>
      <p:sp>
        <p:nvSpPr>
          <p:cNvPr id="9" name="dsl:footer|s=$caption"/>
          <p:cNvSpPr txBox="1"/>
          <p:nvPr/>
        </p:nvSpPr>
        <p:spPr>
          <a:xfrm>
            <a:off x="571500" y="647700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RV-MalTrace 深度技术汇报</a:t>
            </a:r>
          </a:p>
        </p:txBody>
      </p:sp>
      <p:sp>
        <p:nvSpPr>
          <p:cNvPr id="10" name="dsl:page-num|s=$caption"/>
          <p:cNvSpPr txBox="1"/>
          <p:nvPr/>
        </p:nvSpPr>
        <p:spPr>
          <a:xfrm>
            <a:off x="11239500" y="6477000"/>
            <a:ext cx="571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r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ch4-label"/>
          <p:cNvSpPr txBox="1"/>
          <p:nvPr/>
        </p:nvSpPr>
        <p:spPr>
          <a:xfrm>
            <a:off x="952500" y="2286000"/>
            <a:ext cx="2857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350" noProof="1">
                <a:solidFill>
                  <a:srgbClr val="FFFFFF">
                    <a:alpha val="60000"/>
                  </a:srgbClr>
                </a:solidFill>
                <a:latin typeface="QuattrocentoSans"/>
                <a:ea typeface="MiSans"/>
              </a:rPr>
              <a:t>PART 04</a:t>
            </a:r>
          </a:p>
        </p:txBody>
      </p:sp>
      <p:sp>
        <p:nvSpPr>
          <p:cNvPr id="3" name="dsl:ch4-title|s=$chapterTitle"/>
          <p:cNvSpPr txBox="1"/>
          <p:nvPr/>
        </p:nvSpPr>
        <p:spPr>
          <a:xfrm>
            <a:off x="952500" y="2762250"/>
            <a:ext cx="7620000" cy="666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3000" noProof="1">
                <a:solidFill>
                  <a:srgbClr val="FFFFFF"/>
                </a:solidFill>
                <a:latin typeface="QuattrocentoSans"/>
                <a:ea typeface="MiSans"/>
              </a:rPr>
              <a:t>实现该方案的挑战</a:t>
            </a:r>
          </a:p>
        </p:txBody>
      </p:sp>
      <p:sp>
        <p:nvSpPr>
          <p:cNvPr id="4" name="dsl:ch4-subtitle"/>
          <p:cNvSpPr txBox="1"/>
          <p:nvPr/>
        </p:nvSpPr>
        <p:spPr>
          <a:xfrm>
            <a:off x="952500" y="3524250"/>
            <a:ext cx="762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500" noProof="1">
                <a:solidFill>
                  <a:srgbClr val="FFFFFF">
                    <a:alpha val="80000"/>
                  </a:srgbClr>
                </a:solidFill>
                <a:latin typeface="QuattrocentoSans"/>
                <a:ea typeface="MiSans"/>
              </a:rPr>
              <a:t>Claim边界、BRAM有限、窗口完整性、Pointer 过度声称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nav-bg"/>
          <p:cNvSpPr/>
          <p:nvPr/>
        </p:nvSpPr>
        <p:spPr>
          <a:xfrm>
            <a:off x="0" y="0"/>
            <a:ext cx="12192000" cy="381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sl:nav-text"/>
          <p:cNvSpPr txBox="1"/>
          <p:nvPr/>
        </p:nvSpPr>
        <p:spPr>
          <a:xfrm>
            <a:off x="571500" y="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FFFFFF"/>
                </a:solidFill>
                <a:latin typeface="QuattrocentoSans"/>
                <a:ea typeface="MiSans"/>
              </a:rPr>
              <a:t>04 实现该方案的挑战</a:t>
            </a:r>
          </a:p>
        </p:txBody>
      </p:sp>
      <p:sp>
        <p:nvSpPr>
          <p:cNvPr id="4" name="dsl:page-title|s=$title"/>
          <p:cNvSpPr txBox="1"/>
          <p:nvPr/>
        </p:nvSpPr>
        <p:spPr>
          <a:xfrm>
            <a:off x="571500" y="523875"/>
            <a:ext cx="8572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400" noProof="1">
                <a:solidFill>
                  <a:srgbClr val="2563EB"/>
                </a:solidFill>
                <a:latin typeface="QuattrocentoSans"/>
                <a:ea typeface="MiSans"/>
              </a:rPr>
              <a:t>挑战一：研究边界——目前能验证什么，还有哪些做不到</a:t>
            </a:r>
          </a:p>
        </p:txBody>
      </p:sp>
      <p:sp>
        <p:nvSpPr>
          <p:cNvPr id="5" name="dsl:intro"/>
          <p:cNvSpPr txBox="1"/>
          <p:nvPr/>
        </p:nvSpPr>
        <p:spPr>
          <a:xfrm>
            <a:off x="571500" y="1047750"/>
            <a:ext cx="11049000" cy="381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noProof="1">
                <a:solidFill>
                  <a:srgbClr val="1E293B"/>
                </a:solidFill>
                <a:latin typeface="QuattrocentoSans"/>
                <a:ea typeface="MiSans"/>
              </a:rPr>
              <a:t>研究过程中，我们不断遇到一个核心问题：哪些结论有证据支撑，哪些还做不到？</a:t>
            </a:r>
          </a:p>
        </p:txBody>
      </p:sp>
      <p:graphicFrame>
        <p:nvGraphicFramePr>
          <p:cNvPr id="6" name="dsl:boundary-table"/>
          <p:cNvGraphicFramePr>
            <a:graphicFrameLocks noGrp="1"/>
          </p:cNvGraphicFramePr>
          <p:nvPr/>
        </p:nvGraphicFramePr>
        <p:xfrm>
          <a:off x="571500" y="1524000"/>
          <a:ext cx="11049000" cy="36195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3314700"/>
                <a:gridCol w="3867150"/>
                <a:gridCol w="3867150"/>
              </a:tblGrid>
              <a:tr h="3619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方向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目前已验证 ✅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目前尚未验证 ❌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3619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研究目标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在受控样本上重建硬件迹的行为语义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Malware detector（恶意/良性分类）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数据传输方式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Marker-window BRAM 缓存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生产级 streaming / DMA 传输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3619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运行时开销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静态 FPGA 资源增量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Cycle-level 运行时开销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路径字符串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截断前缀（硬件捕获）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完整路径字符串自动恢复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3619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源码定位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函数级（带 debug 信息的 ELF）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板级原生 DWARF 解析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覆盖范围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12 个受控程序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真实 malware 家族覆盖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3619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实验数据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128/142 次 board 重复通过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Detection accuracy / FP rate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泛化能力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安全代理程序（surrogates）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真实 malware 检测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3619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证据支撑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语义摘要 + 数据溯源标签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Malware family coverage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dsl:bottom-note"/>
          <p:cNvSpPr txBox="1"/>
          <p:nvPr/>
        </p:nvSpPr>
        <p:spPr>
          <a:xfrm>
            <a:off x="571500" y="5286375"/>
            <a:ext cx="11049000" cy="762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50000"/>
              </a:lnSpc>
            </a:pPr>
            <a:r>
              <a:rPr b="1" sz="1200" noProof="1">
                <a:solidFill>
                  <a:srgbClr val="2563EB"/>
                </a:solidFill>
                <a:latin typeface="QuattrocentoSans"/>
                <a:ea typeface="MiSans"/>
              </a:rPr>
              <a:t>目前我们的方向是：先把有证据支撑的部分做扎实，不急于扩展到还没有验证的领域。</a:t>
            </a:r>
            <a:r>
              <a:rPr sz="1200" noProof="1">
                <a:solidFill>
                  <a:srgbClr val="2563EB"/>
                </a:solidFill>
                <a:latin typeface="QuattrocentoSans"/>
                <a:ea typeface="MiSans"/>
              </a:rPr>
              <a:t>这不是说"不能"，而是说"目前还没做、证据不够"。</a:t>
            </a:r>
          </a:p>
        </p:txBody>
      </p:sp>
      <p:sp>
        <p:nvSpPr>
          <p:cNvPr id="8" name="dsl:footer|s=$caption"/>
          <p:cNvSpPr txBox="1"/>
          <p:nvPr/>
        </p:nvSpPr>
        <p:spPr>
          <a:xfrm>
            <a:off x="571500" y="647700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RV-MalTrace 深度技术汇报</a:t>
            </a:r>
          </a:p>
        </p:txBody>
      </p:sp>
      <p:sp>
        <p:nvSpPr>
          <p:cNvPr id="9" name="dsl:page-num|s=$caption"/>
          <p:cNvSpPr txBox="1"/>
          <p:nvPr/>
        </p:nvSpPr>
        <p:spPr>
          <a:xfrm>
            <a:off x="11239500" y="6477000"/>
            <a:ext cx="571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r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nav-bg"/>
          <p:cNvSpPr/>
          <p:nvPr/>
        </p:nvSpPr>
        <p:spPr>
          <a:xfrm>
            <a:off x="0" y="0"/>
            <a:ext cx="12192000" cy="381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sl:nav-text"/>
          <p:cNvSpPr txBox="1"/>
          <p:nvPr/>
        </p:nvSpPr>
        <p:spPr>
          <a:xfrm>
            <a:off x="571500" y="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FFFFFF"/>
                </a:solidFill>
                <a:latin typeface="QuattrocentoSans"/>
                <a:ea typeface="MiSans"/>
              </a:rPr>
              <a:t>04 实现该方案的挑战</a:t>
            </a:r>
          </a:p>
        </p:txBody>
      </p:sp>
      <p:sp>
        <p:nvSpPr>
          <p:cNvPr id="4" name="dsl:page-title|s=$title"/>
          <p:cNvSpPr txBox="1"/>
          <p:nvPr/>
        </p:nvSpPr>
        <p:spPr>
          <a:xfrm>
            <a:off x="571500" y="523875"/>
            <a:ext cx="8572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400" noProof="1">
                <a:solidFill>
                  <a:srgbClr val="2563EB"/>
                </a:solidFill>
                <a:latin typeface="QuattrocentoSans"/>
                <a:ea typeface="MiSans"/>
              </a:rPr>
              <a:t>挑战二：BRAM 存储极其有限</a:t>
            </a:r>
          </a:p>
        </p:txBody>
      </p:sp>
      <p:sp>
        <p:nvSpPr>
          <p:cNvPr id="5" name="dsl:left-card-bg"/>
          <p:cNvSpPr/>
          <p:nvPr/>
        </p:nvSpPr>
        <p:spPr>
          <a:xfrm>
            <a:off x="571500" y="1047750"/>
            <a:ext cx="5334000" cy="2667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sl:left-card-title"/>
          <p:cNvSpPr txBox="1"/>
          <p:nvPr/>
        </p:nvSpPr>
        <p:spPr>
          <a:xfrm>
            <a:off x="762000" y="1143000"/>
            <a:ext cx="4953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350" noProof="1">
                <a:solidFill>
                  <a:srgbClr val="2563EB"/>
                </a:solidFill>
                <a:latin typeface="QuattrocentoSans"/>
                <a:ea typeface="MiSans"/>
              </a:rPr>
              <a:t>BRAM 参数</a:t>
            </a:r>
          </a:p>
        </p:txBody>
      </p:sp>
      <p:sp>
        <p:nvSpPr>
          <p:cNvPr id="7" name="dsl:left-card-body"/>
          <p:cNvSpPr txBox="1"/>
          <p:nvPr/>
        </p:nvSpPr>
        <p:spPr>
          <a:xfrm>
            <a:off x="762000" y="1476375"/>
            <a:ext cx="4953000" cy="214312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BRAM ring 深度 = </a:t>
            </a: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1024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Compact record 宽度受硬件约束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trace_compact_record_t = 396 bits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debug probe payload = 716 bits</a:t>
            </a:r>
          </a:p>
          <a:p>
            <a:pPr algn="l">
              <a:lnSpc>
                <a:spcPct val="150000"/>
              </a:lnSpc>
              <a:spcBef>
                <a:spcPts val="450"/>
              </a:spcBef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计数器：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• sequence（连续性检查）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• captured_count（实际记录数）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• dropped_count（丢包数）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• wrap_count（覆盖数）</a:t>
            </a:r>
          </a:p>
        </p:txBody>
      </p:sp>
      <p:sp>
        <p:nvSpPr>
          <p:cNvPr id="8" name="dsl:right-card-bg"/>
          <p:cNvSpPr/>
          <p:nvPr/>
        </p:nvSpPr>
        <p:spPr>
          <a:xfrm>
            <a:off x="6096000" y="1047750"/>
            <a:ext cx="5524500" cy="2667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sl:right-card-title"/>
          <p:cNvSpPr txBox="1"/>
          <p:nvPr/>
        </p:nvSpPr>
        <p:spPr>
          <a:xfrm>
            <a:off x="6286500" y="1143000"/>
            <a:ext cx="5143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350" noProof="1">
                <a:solidFill>
                  <a:srgbClr val="2563EB"/>
                </a:solidFill>
                <a:latin typeface="QuattrocentoSans"/>
                <a:ea typeface="MiSans"/>
              </a:rPr>
              <a:t>压缩与窗口限定</a:t>
            </a:r>
          </a:p>
        </p:txBody>
      </p:sp>
      <p:sp>
        <p:nvSpPr>
          <p:cNvPr id="10" name="dsl:right-card-body"/>
          <p:cNvSpPr txBox="1"/>
          <p:nvPr/>
        </p:nvSpPr>
        <p:spPr>
          <a:xfrm>
            <a:off x="6286500" y="1476375"/>
            <a:ext cx="5143500" cy="214312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① </a:t>
            </a: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压缩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trace_packet_t（完整）→ trace_compact_record_t（compact）</a:t>
            </a:r>
          </a:p>
          <a:p>
            <a:pPr algn="l">
              <a:lnSpc>
                <a:spcPct val="150000"/>
              </a:lnSpc>
              <a:spcBef>
                <a:spcPts val="450"/>
              </a:spcBef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② </a:t>
            </a: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窗口限定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begin/end marker 限定只记录感兴趣时间段</a:t>
            </a:r>
          </a:p>
          <a:p>
            <a:pPr algn="l">
              <a:lnSpc>
                <a:spcPct val="150000"/>
              </a:lnSpc>
              <a:spcBef>
                <a:spcPts val="450"/>
              </a:spcBef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这意味着：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• 不能无差别记录所有 retired instruction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• 必须维护质量计数器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• 不是 production streaming</a:t>
            </a:r>
          </a:p>
        </p:txBody>
      </p:sp>
      <p:sp>
        <p:nvSpPr>
          <p:cNvPr id="11" name="dsl:bottom-note-bg"/>
          <p:cNvSpPr/>
          <p:nvPr/>
        </p:nvSpPr>
        <p:spPr>
          <a:xfrm>
            <a:off x="571500" y="3905250"/>
            <a:ext cx="11049000" cy="7620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l:bottom-note-text"/>
          <p:cNvSpPr txBox="1"/>
          <p:nvPr/>
        </p:nvSpPr>
        <p:spPr>
          <a:xfrm>
            <a:off x="762000" y="4000500"/>
            <a:ext cx="10668000" cy="5715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5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设计约束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：trace 逻辑是 sideband-only。full trace sink 必须 never backpressure CVA6；当带宽超过时，必须 drop trace records 并 emit/count EVT_DROP。</a:t>
            </a:r>
          </a:p>
        </p:txBody>
      </p:sp>
      <p:sp>
        <p:nvSpPr>
          <p:cNvPr id="13" name="dsl:footer|s=$caption"/>
          <p:cNvSpPr txBox="1"/>
          <p:nvPr/>
        </p:nvSpPr>
        <p:spPr>
          <a:xfrm>
            <a:off x="571500" y="647700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RV-MalTrace 深度技术汇报</a:t>
            </a:r>
          </a:p>
        </p:txBody>
      </p:sp>
      <p:sp>
        <p:nvSpPr>
          <p:cNvPr id="14" name="dsl:page-num|s=$caption"/>
          <p:cNvSpPr txBox="1"/>
          <p:nvPr/>
        </p:nvSpPr>
        <p:spPr>
          <a:xfrm>
            <a:off x="11239500" y="6477000"/>
            <a:ext cx="571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r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nav-bg"/>
          <p:cNvSpPr/>
          <p:nvPr/>
        </p:nvSpPr>
        <p:spPr>
          <a:xfrm>
            <a:off x="0" y="0"/>
            <a:ext cx="12192000" cy="381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sl:nav-text"/>
          <p:cNvSpPr txBox="1"/>
          <p:nvPr/>
        </p:nvSpPr>
        <p:spPr>
          <a:xfrm>
            <a:off x="571500" y="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FFFFFF"/>
                </a:solidFill>
                <a:latin typeface="QuattrocentoSans"/>
                <a:ea typeface="MiSans"/>
              </a:rPr>
              <a:t>04 实现该方案的挑战</a:t>
            </a:r>
          </a:p>
        </p:txBody>
      </p:sp>
      <p:sp>
        <p:nvSpPr>
          <p:cNvPr id="4" name="dsl:page-title|s=$title"/>
          <p:cNvSpPr txBox="1"/>
          <p:nvPr/>
        </p:nvSpPr>
        <p:spPr>
          <a:xfrm>
            <a:off x="571500" y="523875"/>
            <a:ext cx="8572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400" noProof="1">
                <a:solidFill>
                  <a:srgbClr val="2563EB"/>
                </a:solidFill>
                <a:latin typeface="QuattrocentoSans"/>
                <a:ea typeface="MiSans"/>
              </a:rPr>
              <a:t>挑战三：窗口完整性必须可验证</a:t>
            </a:r>
          </a:p>
        </p:txBody>
      </p:sp>
      <p:sp>
        <p:nvSpPr>
          <p:cNvPr id="5" name="dsl:formula-bg"/>
          <p:cNvSpPr/>
          <p:nvPr/>
        </p:nvSpPr>
        <p:spPr>
          <a:xfrm>
            <a:off x="571500" y="1047750"/>
            <a:ext cx="11049000" cy="1143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sl:formula-title"/>
          <p:cNvSpPr txBox="1"/>
          <p:nvPr/>
        </p:nvSpPr>
        <p:spPr>
          <a:xfrm>
            <a:off x="762000" y="1123950"/>
            <a:ext cx="1905000" cy="2667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200" noProof="1">
                <a:solidFill>
                  <a:srgbClr val="2563EB"/>
                </a:solidFill>
                <a:latin typeface="QuattrocentoSans"/>
                <a:ea typeface="MiSans"/>
              </a:rPr>
              <a:t>Marker-Window Gate</a:t>
            </a:r>
          </a:p>
        </p:txBody>
      </p:sp>
      <p:sp>
        <p:nvSpPr>
          <p:cNvPr id="7" name="dsl:formula-body"/>
          <p:cNvSpPr txBox="1"/>
          <p:nvPr/>
        </p:nvSpPr>
        <p:spPr>
          <a:xfrm>
            <a:off x="762000" y="1428750"/>
            <a:ext cx="10668000" cy="6667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accepted_window(run) :=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  begin_marker_present ∧ end_marker_present ∧ begin before end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  ∧ sequence is continuous ∧ wrap_count == 0 ∧ unaccounted_drop == 0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  ∧ syscall entry/return is pairable when required</a:t>
            </a:r>
          </a:p>
        </p:txBody>
      </p:sp>
      <p:sp>
        <p:nvSpPr>
          <p:cNvPr id="8" name="dsl:example-bg"/>
          <p:cNvSpPr/>
          <p:nvPr/>
        </p:nvSpPr>
        <p:spPr>
          <a:xfrm>
            <a:off x="571500" y="2333625"/>
            <a:ext cx="5334000" cy="1905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sl:example-title"/>
          <p:cNvSpPr txBox="1"/>
          <p:nvPr/>
        </p:nvSpPr>
        <p:spPr>
          <a:xfrm>
            <a:off x="762000" y="2409825"/>
            <a:ext cx="2857500" cy="2667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200" noProof="1">
                <a:solidFill>
                  <a:srgbClr val="2563EB"/>
                </a:solidFill>
                <a:latin typeface="QuattrocentoSans"/>
                <a:ea typeface="MiSans"/>
              </a:rPr>
              <a:t>hello_write 示例</a:t>
            </a:r>
          </a:p>
        </p:txBody>
      </p:sp>
      <p:sp>
        <p:nvSpPr>
          <p:cNvPr id="10" name="dsl:example-body"/>
          <p:cNvSpPr txBox="1"/>
          <p:nvPr/>
        </p:nvSpPr>
        <p:spPr>
          <a:xfrm>
            <a:off x="762000" y="2743200"/>
            <a:ext cx="4953000" cy="138112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BEGIN marker 0xb0000a01 (seq 0, clear ring)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→ PRIV / TRAP / SYSCALL_ENTRY / ARG_MEM / SYSCALL_RET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END marker 0xe0000a01 (seq 84, freeze + readout)</a:t>
            </a:r>
          </a:p>
          <a:p>
            <a:pPr algn="l">
              <a:lnSpc>
                <a:spcPct val="150000"/>
              </a:lnSpc>
              <a:spcBef>
                <a:spcPts val="450"/>
              </a:spcBef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captured_count = 85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sequence: 0..84, wrap=0, drop=0</a:t>
            </a:r>
          </a:p>
        </p:txBody>
      </p:sp>
      <p:sp>
        <p:nvSpPr>
          <p:cNvPr id="11" name="dsl:result-bg"/>
          <p:cNvSpPr/>
          <p:nvPr/>
        </p:nvSpPr>
        <p:spPr>
          <a:xfrm>
            <a:off x="6096000" y="2333625"/>
            <a:ext cx="5524500" cy="1905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l:result-title"/>
          <p:cNvSpPr txBox="1"/>
          <p:nvPr/>
        </p:nvSpPr>
        <p:spPr>
          <a:xfrm>
            <a:off x="6286500" y="2409825"/>
            <a:ext cx="2857500" cy="2667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200" noProof="1">
                <a:solidFill>
                  <a:srgbClr val="2563EB"/>
                </a:solidFill>
                <a:latin typeface="QuattrocentoSans"/>
                <a:ea typeface="MiSans"/>
              </a:rPr>
              <a:t>P0 Accepted Reps</a:t>
            </a:r>
          </a:p>
        </p:txBody>
      </p:sp>
      <p:sp>
        <p:nvSpPr>
          <p:cNvPr id="13" name="dsl:result-body"/>
          <p:cNvSpPr txBox="1"/>
          <p:nvPr/>
        </p:nvSpPr>
        <p:spPr>
          <a:xfrm>
            <a:off x="6286500" y="2743200"/>
            <a:ext cx="5143500" cy="138112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hello_write: 10/10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file_open_read_write: 11/12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fork_exec: 17/30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illegal_instruction: 10/10</a:t>
            </a:r>
          </a:p>
          <a:p>
            <a:pPr algn="l">
              <a:lnSpc>
                <a:spcPct val="150000"/>
              </a:lnSpc>
              <a:spcBef>
                <a:spcPts val="450"/>
              </a:spcBef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Total: 128 accepted / 142 attempts</a:t>
            </a:r>
          </a:p>
        </p:txBody>
      </p:sp>
      <p:sp>
        <p:nvSpPr>
          <p:cNvPr id="14" name="dsl:bottom-note-bg"/>
          <p:cNvSpPr/>
          <p:nvPr/>
        </p:nvSpPr>
        <p:spPr>
          <a:xfrm>
            <a:off x="571500" y="4429125"/>
            <a:ext cx="11049000" cy="7620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l:bottom-note-text"/>
          <p:cNvSpPr txBox="1"/>
          <p:nvPr/>
        </p:nvSpPr>
        <p:spPr>
          <a:xfrm>
            <a:off x="762000" y="4524375"/>
            <a:ext cx="10668000" cy="5715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为什么不是所有 trace 都直接分析？因为 BRAM 可能满导致覆盖，采集压力可能导致丢包，readout 过程可能不完整。只有满足全部条件的窗口才进入后续语义重建。</a:t>
            </a:r>
          </a:p>
        </p:txBody>
      </p:sp>
      <p:sp>
        <p:nvSpPr>
          <p:cNvPr id="16" name="dsl:footer|s=$caption"/>
          <p:cNvSpPr txBox="1"/>
          <p:nvPr/>
        </p:nvSpPr>
        <p:spPr>
          <a:xfrm>
            <a:off x="571500" y="647700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RV-MalTrace 深度技术汇报</a:t>
            </a:r>
          </a:p>
        </p:txBody>
      </p:sp>
      <p:sp>
        <p:nvSpPr>
          <p:cNvPr id="17" name="dsl:page-num|s=$caption"/>
          <p:cNvSpPr txBox="1"/>
          <p:nvPr/>
        </p:nvSpPr>
        <p:spPr>
          <a:xfrm>
            <a:off x="11239500" y="6477000"/>
            <a:ext cx="571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r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nav-bg"/>
          <p:cNvSpPr/>
          <p:nvPr/>
        </p:nvSpPr>
        <p:spPr>
          <a:xfrm>
            <a:off x="0" y="0"/>
            <a:ext cx="12192000" cy="381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sl:nav-text"/>
          <p:cNvSpPr txBox="1"/>
          <p:nvPr/>
        </p:nvSpPr>
        <p:spPr>
          <a:xfrm>
            <a:off x="571500" y="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FFFFFF"/>
                </a:solidFill>
                <a:latin typeface="QuattrocentoSans"/>
                <a:ea typeface="MiSans"/>
              </a:rPr>
              <a:t>04 实现该方案的挑战</a:t>
            </a:r>
          </a:p>
        </p:txBody>
      </p:sp>
      <p:sp>
        <p:nvSpPr>
          <p:cNvPr id="4" name="dsl:page-title|s=$title"/>
          <p:cNvSpPr txBox="1"/>
          <p:nvPr/>
        </p:nvSpPr>
        <p:spPr>
          <a:xfrm>
            <a:off x="571500" y="523875"/>
            <a:ext cx="8572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400" noProof="1">
                <a:solidFill>
                  <a:srgbClr val="2563EB"/>
                </a:solidFill>
                <a:latin typeface="QuattrocentoSans"/>
                <a:ea typeface="MiSans"/>
              </a:rPr>
              <a:t>挑战四：Pointer string 容易 过度声称</a:t>
            </a:r>
          </a:p>
        </p:txBody>
      </p:sp>
      <p:sp>
        <p:nvSpPr>
          <p:cNvPr id="5" name="dsl:left-card-bg"/>
          <p:cNvSpPr/>
          <p:nvPr/>
        </p:nvSpPr>
        <p:spPr>
          <a:xfrm>
            <a:off x="571500" y="1047750"/>
            <a:ext cx="5334000" cy="2667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sl:left-card-title"/>
          <p:cNvSpPr txBox="1"/>
          <p:nvPr/>
        </p:nvSpPr>
        <p:spPr>
          <a:xfrm>
            <a:off x="762000" y="1143000"/>
            <a:ext cx="4953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350" noProof="1">
                <a:solidFill>
                  <a:srgbClr val="EF4444"/>
                </a:solidFill>
                <a:latin typeface="QuattrocentoSans"/>
                <a:ea typeface="MiSans"/>
              </a:rPr>
              <a:t>硬件捕获到的是有限字节片段</a:t>
            </a:r>
          </a:p>
        </p:txBody>
      </p:sp>
      <p:sp>
        <p:nvSpPr>
          <p:cNvPr id="7" name="dsl:left-card-body"/>
          <p:cNvSpPr txBox="1"/>
          <p:nvPr/>
        </p:nvSpPr>
        <p:spPr>
          <a:xfrm>
            <a:off x="762000" y="1476375"/>
            <a:ext cx="4953000" cy="214312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ARG_MEM 只给用户指针附近有限字节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不是完整内存转储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不是完整路径字符串</a:t>
            </a:r>
          </a:p>
          <a:p>
            <a:pPr algn="l">
              <a:lnSpc>
                <a:spcPct val="150000"/>
              </a:lnSpc>
              <a:spcBef>
                <a:spcPts val="450"/>
              </a:spcBef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如果直接说"硬件恢复了完整路径名"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→ 这就是 </a:t>
            </a: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过度声称</a:t>
            </a:r>
          </a:p>
          <a:p>
            <a:pPr algn="l">
              <a:lnSpc>
                <a:spcPct val="150000"/>
              </a:lnSpc>
              <a:spcBef>
                <a:spcPts val="450"/>
              </a:spcBef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截断前缀 是硬件产物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Full string 是外部产物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必须严格区分</a:t>
            </a:r>
          </a:p>
        </p:txBody>
      </p:sp>
      <p:sp>
        <p:nvSpPr>
          <p:cNvPr id="8" name="dsl:right-card-bg"/>
          <p:cNvSpPr/>
          <p:nvPr/>
        </p:nvSpPr>
        <p:spPr>
          <a:xfrm>
            <a:off x="6096000" y="1047750"/>
            <a:ext cx="5524500" cy="2667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sl:right-card-title"/>
          <p:cNvSpPr txBox="1"/>
          <p:nvPr/>
        </p:nvSpPr>
        <p:spPr>
          <a:xfrm>
            <a:off x="6286500" y="1143000"/>
            <a:ext cx="5143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350" noProof="1">
                <a:solidFill>
                  <a:srgbClr val="2563EB"/>
                </a:solidFill>
                <a:latin typeface="QuattrocentoSans"/>
                <a:ea typeface="MiSans"/>
              </a:rPr>
              <a:t>当前 Artifact 数据</a:t>
            </a:r>
          </a:p>
        </p:txBody>
      </p:sp>
      <p:sp>
        <p:nvSpPr>
          <p:cNvPr id="10" name="dsl:right-card-body"/>
          <p:cNvSpPr txBox="1"/>
          <p:nvPr/>
        </p:nvSpPr>
        <p:spPr>
          <a:xfrm>
            <a:off x="6286500" y="1476375"/>
            <a:ext cx="5143500" cy="214312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hardware_pointer_prefix_summary.json：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• 30 个 BRAM pointer-snapshot repetitions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• 51 个 pointer groups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• 1156 captured bytes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• hardware_pointer_strings_claimed = false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• full_string_claimed = false</a:t>
            </a:r>
          </a:p>
          <a:p>
            <a:pPr algn="l">
              <a:lnSpc>
                <a:spcPct val="150000"/>
              </a:lnSpc>
              <a:spcBef>
                <a:spcPts val="450"/>
              </a:spcBef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正确表述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硬件支持的是 </a:t>
            </a: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截断前缀 bytes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不是 </a:t>
            </a: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full path string</a:t>
            </a:r>
          </a:p>
        </p:txBody>
      </p:sp>
      <p:graphicFrame>
        <p:nvGraphicFramePr>
          <p:cNvPr id="11" name="dsl:bottom-table"/>
          <p:cNvGraphicFramePr>
            <a:graphicFrameLocks noGrp="1"/>
          </p:cNvGraphicFramePr>
          <p:nvPr/>
        </p:nvGraphicFramePr>
        <p:xfrm>
          <a:off x="571500" y="3905250"/>
          <a:ext cx="11049000" cy="19050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762250"/>
                <a:gridCol w="3867150"/>
                <a:gridCol w="4419600"/>
              </a:tblGrid>
              <a:tr h="2857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约束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说明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边界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3238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只选特定 syscall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openat / write / execve 的指针参数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不是所有 syscall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38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只读 user 空间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不读 kernel address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user pointer 有效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3238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有长度限制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MAX_POINTER_SNAPSHOT_BYTES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bounded fragments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38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有时间限制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MAX_POINTER_WATCH_CYCLES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窗口内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3238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遇 NUL 终止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字符串结束符自动停止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prefix 不是完整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dsl:footer|s=$caption"/>
          <p:cNvSpPr txBox="1"/>
          <p:nvPr/>
        </p:nvSpPr>
        <p:spPr>
          <a:xfrm>
            <a:off x="571500" y="647700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RV-MalTrace 深度技术汇报</a:t>
            </a:r>
          </a:p>
        </p:txBody>
      </p:sp>
      <p:sp>
        <p:nvSpPr>
          <p:cNvPr id="13" name="dsl:page-num|s=$caption"/>
          <p:cNvSpPr txBox="1"/>
          <p:nvPr/>
        </p:nvSpPr>
        <p:spPr>
          <a:xfrm>
            <a:off x="11239500" y="6477000"/>
            <a:ext cx="571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r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ch5-label"/>
          <p:cNvSpPr txBox="1"/>
          <p:nvPr/>
        </p:nvSpPr>
        <p:spPr>
          <a:xfrm>
            <a:off x="952500" y="2286000"/>
            <a:ext cx="2857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350" noProof="1">
                <a:solidFill>
                  <a:srgbClr val="FFFFFF">
                    <a:alpha val="60000"/>
                  </a:srgbClr>
                </a:solidFill>
                <a:latin typeface="QuattrocentoSans"/>
                <a:ea typeface="MiSans"/>
              </a:rPr>
              <a:t>PART 05</a:t>
            </a:r>
          </a:p>
        </p:txBody>
      </p:sp>
      <p:sp>
        <p:nvSpPr>
          <p:cNvPr id="3" name="dsl:ch5-title|s=$chapterTitle"/>
          <p:cNvSpPr txBox="1"/>
          <p:nvPr/>
        </p:nvSpPr>
        <p:spPr>
          <a:xfrm>
            <a:off x="952500" y="2762250"/>
            <a:ext cx="7620000" cy="666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3000" noProof="1">
                <a:solidFill>
                  <a:srgbClr val="FFFFFF"/>
                </a:solidFill>
                <a:latin typeface="QuattrocentoSans"/>
                <a:ea typeface="MiSans"/>
              </a:rPr>
              <a:t>应对这些挑战的方法/策略</a:t>
            </a:r>
          </a:p>
        </p:txBody>
      </p:sp>
      <p:sp>
        <p:nvSpPr>
          <p:cNvPr id="4" name="dsl:ch5-subtitle"/>
          <p:cNvSpPr txBox="1"/>
          <p:nvPr/>
        </p:nvSpPr>
        <p:spPr>
          <a:xfrm>
            <a:off x="952500" y="3524250"/>
            <a:ext cx="762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500" noProof="1">
                <a:solidFill>
                  <a:srgbClr val="FFFFFF">
                    <a:alpha val="80000"/>
                  </a:srgbClr>
                </a:solidFill>
                <a:latin typeface="QuattrocentoSans"/>
                <a:ea typeface="MiSans"/>
              </a:rPr>
              <a:t>Marker gate、Provenance、Pointer 约束s、Process attribution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nav-bg"/>
          <p:cNvSpPr/>
          <p:nvPr/>
        </p:nvSpPr>
        <p:spPr>
          <a:xfrm>
            <a:off x="0" y="0"/>
            <a:ext cx="12192000" cy="381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sl:nav-text"/>
          <p:cNvSpPr txBox="1"/>
          <p:nvPr/>
        </p:nvSpPr>
        <p:spPr>
          <a:xfrm>
            <a:off x="571500" y="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FFFFFF"/>
                </a:solidFill>
                <a:latin typeface="QuattrocentoSans"/>
                <a:ea typeface="MiSans"/>
              </a:rPr>
              <a:t>05 应对这些挑战的方法/策略</a:t>
            </a:r>
          </a:p>
        </p:txBody>
      </p:sp>
      <p:sp>
        <p:nvSpPr>
          <p:cNvPr id="4" name="dsl:page-title|s=$title"/>
          <p:cNvSpPr txBox="1"/>
          <p:nvPr/>
        </p:nvSpPr>
        <p:spPr>
          <a:xfrm>
            <a:off x="571500" y="523875"/>
            <a:ext cx="8572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400" noProof="1">
                <a:solidFill>
                  <a:srgbClr val="2563EB"/>
                </a:solidFill>
                <a:latin typeface="QuattrocentoSans"/>
                <a:ea typeface="MiSans"/>
              </a:rPr>
              <a:t>策略一：严格的 Marker-Window Gate</a:t>
            </a:r>
          </a:p>
        </p:txBody>
      </p:sp>
      <p:sp>
        <p:nvSpPr>
          <p:cNvPr id="5" name="dsl:intro"/>
          <p:cNvSpPr txBox="1"/>
          <p:nvPr/>
        </p:nvSpPr>
        <p:spPr>
          <a:xfrm>
            <a:off x="571500" y="1047750"/>
            <a:ext cx="11049000" cy="381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noProof="1">
                <a:solidFill>
                  <a:srgbClr val="1E293B"/>
                </a:solidFill>
                <a:latin typeface="QuattrocentoSans"/>
                <a:ea typeface="MiSans"/>
              </a:rPr>
              <a:t>Gate 是防止"拿不完整 trace 做漂亮结论"的第一道防线。</a:t>
            </a:r>
          </a:p>
        </p:txBody>
      </p:sp>
      <p:graphicFrame>
        <p:nvGraphicFramePr>
          <p:cNvPr id="6" name="dsl:board-table"/>
          <p:cNvGraphicFramePr>
            <a:graphicFrameLocks noGrp="1"/>
          </p:cNvGraphicFramePr>
          <p:nvPr/>
        </p:nvGraphicFramePr>
        <p:xfrm>
          <a:off x="571500" y="1524000"/>
          <a:ext cx="11049000" cy="19050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209800"/>
                <a:gridCol w="1657350"/>
                <a:gridCol w="1657350"/>
                <a:gridCol w="5524500"/>
              </a:tblGrid>
              <a:tr h="38100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类别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Accepted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Attempts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备注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38100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P0 safe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48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62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hello_write, file_open_read_write, fork_exec, illegal_instruction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Safe surrogate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80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80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file_scan, batch_open_read_write, self_copy_sim, abnormal_syscall_sequence, illegal_trap, process_chain, dynamic_executable_memory, anti_debug_like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38100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Benign controls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5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5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hello, cat, clock_status, getdents_only, mmap_rw (unexpected FP = 0)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Total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128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142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整体通过率 90.1%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dsl:key-data-bg"/>
          <p:cNvSpPr/>
          <p:nvPr/>
        </p:nvSpPr>
        <p:spPr>
          <a:xfrm>
            <a:off x="571500" y="3619500"/>
            <a:ext cx="11049000" cy="762000"/>
          </a:xfrm>
          <a:prstGeom prst="roundRect">
            <a:avLst>
              <a:gd name="adj" fmla="val 6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l:key-data-text"/>
          <p:cNvSpPr txBox="1"/>
          <p:nvPr/>
        </p:nvSpPr>
        <p:spPr>
          <a:xfrm>
            <a:off x="762000" y="3714750"/>
            <a:ext cx="10668000" cy="5715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50000"/>
              </a:lnSpc>
            </a:pPr>
            <a:r>
              <a:rPr b="1" sz="1200" noProof="1">
                <a:solidFill>
                  <a:srgbClr val="1E293B"/>
                </a:solidFill>
                <a:latin typeface="QuattrocentoSans"/>
                <a:ea typeface="MiSans"/>
              </a:rPr>
              <a:t>关键数字</a:t>
            </a:r>
            <a:r>
              <a:rPr sz="1200" noProof="1">
                <a:solidFill>
                  <a:srgbClr val="1E293B"/>
                </a:solidFill>
                <a:latin typeface="QuattrocentoSans"/>
                <a:ea typeface="MiSans"/>
              </a:rPr>
              <a:t>：所有 accepted 窗口的 max drop、wrap、sequence gap 都是 </a:t>
            </a:r>
            <a:r>
              <a:rPr b="1" sz="1200" noProof="1">
                <a:solidFill>
                  <a:srgbClr val="1E293B"/>
                </a:solidFill>
                <a:latin typeface="QuattrocentoSans"/>
                <a:ea typeface="MiSans"/>
              </a:rPr>
              <a:t>0</a:t>
            </a:r>
            <a:r>
              <a:rPr sz="1200" noProof="1">
                <a:solidFill>
                  <a:srgbClr val="1E293B"/>
                </a:solidFill>
                <a:latin typeface="QuattrocentoSans"/>
                <a:ea typeface="MiSans"/>
              </a:rPr>
              <a:t>。14 个 retained failures 有独立的 failure reason。</a:t>
            </a:r>
          </a:p>
        </p:txBody>
      </p:sp>
      <p:sp>
        <p:nvSpPr>
          <p:cNvPr id="9" name="dsl:gate-checks"/>
          <p:cNvSpPr txBox="1"/>
          <p:nvPr/>
        </p:nvSpPr>
        <p:spPr>
          <a:xfrm>
            <a:off x="571500" y="4572000"/>
            <a:ext cx="11049000" cy="14287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Gate 检查项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① begin_marker_present  ∧  end_marker_present  ∧  begin before end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② sequence is continuous（无缺口）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③ wrap_count == 0（无覆盖）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④ unaccounted_drop == 0（无溢出丢包）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⑤ syscall entry/return is pairable when required（可配对）</a:t>
            </a:r>
          </a:p>
        </p:txBody>
      </p:sp>
      <p:sp>
        <p:nvSpPr>
          <p:cNvPr id="10" name="dsl:footer|s=$caption"/>
          <p:cNvSpPr txBox="1"/>
          <p:nvPr/>
        </p:nvSpPr>
        <p:spPr>
          <a:xfrm>
            <a:off x="571500" y="647700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RV-MalTrace 深度技术汇报</a:t>
            </a:r>
          </a:p>
        </p:txBody>
      </p:sp>
      <p:sp>
        <p:nvSpPr>
          <p:cNvPr id="11" name="dsl:page-num|s=$caption"/>
          <p:cNvSpPr txBox="1"/>
          <p:nvPr/>
        </p:nvSpPr>
        <p:spPr>
          <a:xfrm>
            <a:off x="11239500" y="6477000"/>
            <a:ext cx="571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r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nav-bg"/>
          <p:cNvSpPr/>
          <p:nvPr/>
        </p:nvSpPr>
        <p:spPr>
          <a:xfrm>
            <a:off x="0" y="0"/>
            <a:ext cx="12192000" cy="381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sl:nav-text"/>
          <p:cNvSpPr txBox="1"/>
          <p:nvPr/>
        </p:nvSpPr>
        <p:spPr>
          <a:xfrm>
            <a:off x="571500" y="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FFFFFF"/>
                </a:solidFill>
                <a:latin typeface="QuattrocentoSans"/>
                <a:ea typeface="MiSans"/>
              </a:rPr>
              <a:t>05 应对这些挑战的方法/策略</a:t>
            </a:r>
          </a:p>
        </p:txBody>
      </p:sp>
      <p:sp>
        <p:nvSpPr>
          <p:cNvPr id="4" name="dsl:page-title|s=$title"/>
          <p:cNvSpPr txBox="1"/>
          <p:nvPr/>
        </p:nvSpPr>
        <p:spPr>
          <a:xfrm>
            <a:off x="571500" y="523875"/>
            <a:ext cx="8572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400" noProof="1">
                <a:solidFill>
                  <a:srgbClr val="2563EB"/>
                </a:solidFill>
                <a:latin typeface="QuattrocentoSans"/>
                <a:ea typeface="MiSans"/>
              </a:rPr>
              <a:t>策略二：字段级数据溯源</a:t>
            </a:r>
          </a:p>
        </p:txBody>
      </p:sp>
      <p:sp>
        <p:nvSpPr>
          <p:cNvPr id="5" name="dsl:intro"/>
          <p:cNvSpPr txBox="1"/>
          <p:nvPr/>
        </p:nvSpPr>
        <p:spPr>
          <a:xfrm>
            <a:off x="571500" y="1047750"/>
            <a:ext cx="11049000" cy="381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noProof="1">
                <a:solidFill>
                  <a:srgbClr val="1E293B"/>
                </a:solidFill>
                <a:latin typeface="QuattrocentoSans"/>
                <a:ea typeface="MiSans"/>
              </a:rPr>
              <a:t>每个字段在生成时就被强制贴上来源标签，checker 会拒绝任何不合法的标签组合。</a:t>
            </a:r>
          </a:p>
        </p:txBody>
      </p:sp>
      <p:graphicFrame>
        <p:nvGraphicFramePr>
          <p:cNvPr id="6" name="dsl:label-table"/>
          <p:cNvGraphicFramePr>
            <a:graphicFrameLocks noGrp="1"/>
          </p:cNvGraphicFramePr>
          <p:nvPr/>
        </p:nvGraphicFramePr>
        <p:xfrm>
          <a:off x="571500" y="1524000"/>
          <a:ext cx="11049000" cy="2381249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209800"/>
                <a:gridCol w="4419600"/>
                <a:gridCol w="2209800"/>
                <a:gridCol w="2209800"/>
              </a:tblGrid>
              <a:tr h="357187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标签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含义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能否 Claim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数量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4762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hardware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板级 trace 的事件、trap、syscall、marker、counter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✅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12 个数据溯源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exact_elf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被分析 ELF 的 section、symbol、hash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✅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—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4762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runtime_os_map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/proc/</a:t>
                      </a:r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/maps 等运行时进程归属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✅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—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5312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validation_oracle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qemu/strace、host/control、expected label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❌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276 字段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dsl:bottom-note-bg"/>
          <p:cNvSpPr/>
          <p:nvPr/>
        </p:nvSpPr>
        <p:spPr>
          <a:xfrm>
            <a:off x="571500" y="4095750"/>
            <a:ext cx="11049000" cy="7620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l:bottom-note-text"/>
          <p:cNvSpPr txBox="1"/>
          <p:nvPr/>
        </p:nvSpPr>
        <p:spPr>
          <a:xfrm>
            <a:off x="762000" y="4191000"/>
            <a:ext cx="10668000" cy="5715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276 个 验证基准字段被明确挡在 验证通道。这意味着，大量高层字段（如 expected syscall order、path accuracy、外部补充字符串）被系统性地排除在 claim 之外。</a:t>
            </a:r>
          </a:p>
        </p:txBody>
      </p:sp>
      <p:sp>
        <p:nvSpPr>
          <p:cNvPr id="9" name="dsl:checker-note"/>
          <p:cNvSpPr txBox="1"/>
          <p:nvPr/>
        </p:nvSpPr>
        <p:spPr>
          <a:xfrm>
            <a:off x="571500" y="5048250"/>
            <a:ext cx="11049000" cy="762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Checker 规则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：验证基准值 field 不能被标为 hardware-only。checker 会拒绝任何不合法的标签组合。</a:t>
            </a:r>
          </a:p>
        </p:txBody>
      </p:sp>
      <p:sp>
        <p:nvSpPr>
          <p:cNvPr id="10" name="dsl:footer|s=$caption"/>
          <p:cNvSpPr txBox="1"/>
          <p:nvPr/>
        </p:nvSpPr>
        <p:spPr>
          <a:xfrm>
            <a:off x="571500" y="647700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RV-MalTrace 深度技术汇报</a:t>
            </a:r>
          </a:p>
        </p:txBody>
      </p:sp>
      <p:sp>
        <p:nvSpPr>
          <p:cNvPr id="11" name="dsl:page-num|s=$caption"/>
          <p:cNvSpPr txBox="1"/>
          <p:nvPr/>
        </p:nvSpPr>
        <p:spPr>
          <a:xfrm>
            <a:off x="11239500" y="6477000"/>
            <a:ext cx="571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r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nav-bg"/>
          <p:cNvSpPr/>
          <p:nvPr/>
        </p:nvSpPr>
        <p:spPr>
          <a:xfrm>
            <a:off x="0" y="0"/>
            <a:ext cx="12192000" cy="381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sl:nav-text"/>
          <p:cNvSpPr txBox="1"/>
          <p:nvPr/>
        </p:nvSpPr>
        <p:spPr>
          <a:xfrm>
            <a:off x="571500" y="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FFFFFF"/>
                </a:solidFill>
                <a:latin typeface="QuattrocentoSans"/>
                <a:ea typeface="MiSans"/>
              </a:rPr>
              <a:t>05 应对这些挑战的方法/策略</a:t>
            </a:r>
          </a:p>
        </p:txBody>
      </p:sp>
      <p:sp>
        <p:nvSpPr>
          <p:cNvPr id="4" name="dsl:page-title|s=$title"/>
          <p:cNvSpPr txBox="1"/>
          <p:nvPr/>
        </p:nvSpPr>
        <p:spPr>
          <a:xfrm>
            <a:off x="571500" y="523875"/>
            <a:ext cx="8572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400" noProof="1">
                <a:solidFill>
                  <a:srgbClr val="2563EB"/>
                </a:solidFill>
                <a:latin typeface="QuattrocentoSans"/>
                <a:ea typeface="MiSans"/>
              </a:rPr>
              <a:t>策略三：Bounded Pointer Snapshot 约束s</a:t>
            </a:r>
          </a:p>
        </p:txBody>
      </p:sp>
      <p:graphicFrame>
        <p:nvGraphicFramePr>
          <p:cNvPr id="5" name="dsl:pointer-constraint-table"/>
          <p:cNvGraphicFramePr>
            <a:graphicFrameLocks noGrp="1"/>
          </p:cNvGraphicFramePr>
          <p:nvPr/>
        </p:nvGraphicFramePr>
        <p:xfrm>
          <a:off x="571500" y="1047750"/>
          <a:ext cx="11049000" cy="28575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762250"/>
                <a:gridCol w="3867150"/>
                <a:gridCol w="4419600"/>
              </a:tblGrid>
              <a:tr h="34290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约束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说明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边界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37147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只选特定 syscall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openat / write / execve 的指针参数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不是所有 syscall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只读 user 空间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不读 kernel address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user pointer 有效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37147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有长度限制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MAX_POINTER_SNAPSHOT_BYTES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bounded fragments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有时间限制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MAX_POINTER_WATCH_CYCLES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窗口内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37147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遇 NUL 终止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字符串结束符自动停止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prefix 不是完整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产物是 prefix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bounded fragments，不是完整内存 dump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不能 claim full string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2857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标签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hardware（bounded bytes）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外部补充字符串 → validation_oracle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dsl:artifact-bg"/>
          <p:cNvSpPr/>
          <p:nvPr/>
        </p:nvSpPr>
        <p:spPr>
          <a:xfrm>
            <a:off x="571500" y="4095750"/>
            <a:ext cx="5334000" cy="17145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sl:artifact-title"/>
          <p:cNvSpPr txBox="1"/>
          <p:nvPr/>
        </p:nvSpPr>
        <p:spPr>
          <a:xfrm>
            <a:off x="762000" y="4191000"/>
            <a:ext cx="2857500" cy="2667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200" noProof="1">
                <a:solidFill>
                  <a:srgbClr val="2563EB"/>
                </a:solidFill>
                <a:latin typeface="QuattrocentoSans"/>
                <a:ea typeface="MiSans"/>
              </a:rPr>
              <a:t>当前 Artifact 数据</a:t>
            </a:r>
          </a:p>
        </p:txBody>
      </p:sp>
      <p:sp>
        <p:nvSpPr>
          <p:cNvPr id="8" name="dsl:artifact-body"/>
          <p:cNvSpPr txBox="1"/>
          <p:nvPr/>
        </p:nvSpPr>
        <p:spPr>
          <a:xfrm>
            <a:off x="762000" y="4524375"/>
            <a:ext cx="4953000" cy="1143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• 30 个 BRAM pointer-snapshot repetitions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• 51 个 pointer groups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• 1156 captured bytes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• hardware_pointer_strings_claimed = </a:t>
            </a: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false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• full_string_claimed = </a:t>
            </a: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false</a:t>
            </a:r>
          </a:p>
        </p:txBody>
      </p:sp>
      <p:sp>
        <p:nvSpPr>
          <p:cNvPr id="9" name="dsl:right-note-bg"/>
          <p:cNvSpPr/>
          <p:nvPr/>
        </p:nvSpPr>
        <p:spPr>
          <a:xfrm>
            <a:off x="6096000" y="4095750"/>
            <a:ext cx="5524500" cy="17145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l:right-note-title"/>
          <p:cNvSpPr txBox="1"/>
          <p:nvPr/>
        </p:nvSpPr>
        <p:spPr>
          <a:xfrm>
            <a:off x="6286500" y="4191000"/>
            <a:ext cx="2857500" cy="2667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200" noProof="1">
                <a:solidFill>
                  <a:srgbClr val="F59E0B"/>
                </a:solidFill>
                <a:latin typeface="QuattrocentoSans"/>
                <a:ea typeface="MiSans"/>
              </a:rPr>
              <a:t>正确表述</a:t>
            </a:r>
          </a:p>
        </p:txBody>
      </p:sp>
      <p:sp>
        <p:nvSpPr>
          <p:cNvPr id="11" name="dsl:right-note-body"/>
          <p:cNvSpPr txBox="1"/>
          <p:nvPr/>
        </p:nvSpPr>
        <p:spPr>
          <a:xfrm>
            <a:off x="6286500" y="4524375"/>
            <a:ext cx="5143500" cy="1143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硬件支持的是 </a:t>
            </a: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截断前缀 bytes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不是 </a:t>
            </a: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full path string</a:t>
            </a:r>
          </a:p>
          <a:p>
            <a:pPr algn="l">
              <a:lnSpc>
                <a:spcPct val="150000"/>
              </a:lnSpc>
              <a:spcBef>
                <a:spcPts val="450"/>
              </a:spcBef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有一个 external full-string closure artifact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但它有独立的 约束 和范围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不能泛化为 full memory dump</a:t>
            </a:r>
          </a:p>
        </p:txBody>
      </p:sp>
      <p:sp>
        <p:nvSpPr>
          <p:cNvPr id="12" name="dsl:footer|s=$caption"/>
          <p:cNvSpPr txBox="1"/>
          <p:nvPr/>
        </p:nvSpPr>
        <p:spPr>
          <a:xfrm>
            <a:off x="571500" y="647700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RV-MalTrace 深度技术汇报</a:t>
            </a:r>
          </a:p>
        </p:txBody>
      </p:sp>
      <p:sp>
        <p:nvSpPr>
          <p:cNvPr id="13" name="dsl:page-num|s=$caption"/>
          <p:cNvSpPr txBox="1"/>
          <p:nvPr/>
        </p:nvSpPr>
        <p:spPr>
          <a:xfrm>
            <a:off x="11239500" y="6477000"/>
            <a:ext cx="571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r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nav-bg"/>
          <p:cNvSpPr/>
          <p:nvPr/>
        </p:nvSpPr>
        <p:spPr>
          <a:xfrm>
            <a:off x="0" y="0"/>
            <a:ext cx="12192000" cy="381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sl:nav-text"/>
          <p:cNvSpPr txBox="1"/>
          <p:nvPr/>
        </p:nvSpPr>
        <p:spPr>
          <a:xfrm>
            <a:off x="571500" y="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FFFFFF"/>
                </a:solidFill>
                <a:latin typeface="QuattrocentoSans"/>
                <a:ea typeface="MiSans"/>
              </a:rPr>
              <a:t>05 应对这些挑战的方法/策略</a:t>
            </a:r>
          </a:p>
        </p:txBody>
      </p:sp>
      <p:sp>
        <p:nvSpPr>
          <p:cNvPr id="4" name="dsl:page-title|s=$title"/>
          <p:cNvSpPr txBox="1"/>
          <p:nvPr/>
        </p:nvSpPr>
        <p:spPr>
          <a:xfrm>
            <a:off x="571500" y="523875"/>
            <a:ext cx="8572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400" noProof="1">
                <a:solidFill>
                  <a:srgbClr val="2563EB"/>
                </a:solidFill>
                <a:latin typeface="QuattrocentoSans"/>
                <a:ea typeface="MiSans"/>
              </a:rPr>
              <a:t>策略四：强 Process Attribution</a:t>
            </a:r>
          </a:p>
        </p:txBody>
      </p:sp>
      <p:sp>
        <p:nvSpPr>
          <p:cNvPr id="5" name="dsl:intro"/>
          <p:cNvSpPr txBox="1"/>
          <p:nvPr/>
        </p:nvSpPr>
        <p:spPr>
          <a:xfrm>
            <a:off x="571500" y="1047750"/>
            <a:ext cx="11049000" cy="381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noProof="1">
                <a:solidFill>
                  <a:srgbClr val="1E293B"/>
                </a:solidFill>
                <a:latin typeface="QuattrocentoSans"/>
                <a:ea typeface="MiSans"/>
              </a:rPr>
              <a:t>Context binding 需要同时满足四个条件，才能把一个 event 标为"强证据"：</a:t>
            </a:r>
          </a:p>
        </p:txBody>
      </p:sp>
      <p:graphicFrame>
        <p:nvGraphicFramePr>
          <p:cNvPr id="6" name="dsl:condition-table"/>
          <p:cNvGraphicFramePr>
            <a:graphicFrameLocks noGrp="1"/>
          </p:cNvGraphicFramePr>
          <p:nvPr/>
        </p:nvGraphicFramePr>
        <p:xfrm>
          <a:off x="571500" y="1524000"/>
          <a:ext cx="11049000" cy="2381247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104900"/>
                <a:gridCol w="4419600"/>
                <a:gridCol w="2762250"/>
                <a:gridCol w="2762250"/>
              </a:tblGrid>
              <a:tr h="357187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#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条件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检查内容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失败处理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404812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1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Trace window 的 marker scope 有效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accepted_window gate 通过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不进入 claim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4812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2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Runtime process map 状态为 PASS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/proc/pid/maps 完整匹配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降级或 block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404812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3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Event PC 落在 target child 的 runtime map 中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PC 属于目标进程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降级或 block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4812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4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Event PC 能匹配 target code map site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静态 ELF 范围匹配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降级或 block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404812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结果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所有 4 个条件同时满足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强证据标签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reportable claim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dsl:bottom-note-bg"/>
          <p:cNvSpPr/>
          <p:nvPr/>
        </p:nvSpPr>
        <p:spPr>
          <a:xfrm>
            <a:off x="571500" y="4095750"/>
            <a:ext cx="11049000" cy="76200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l:bottom-note-text"/>
          <p:cNvSpPr txBox="1"/>
          <p:nvPr/>
        </p:nvSpPr>
        <p:spPr>
          <a:xfrm>
            <a:off x="762000" y="4191000"/>
            <a:ext cx="10668000" cy="5715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对于 PIE/ASLR/dynamic libs/fork/exec 链，如果缺少 runtime evidence，</a:t>
            </a: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不强行 claim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，而是 downgrade 或 block。降级后的字段仍保留在 artifact 中，但标签变为 validation_oracle 或 lower-confidence。</a:t>
            </a:r>
          </a:p>
        </p:txBody>
      </p:sp>
      <p:sp>
        <p:nvSpPr>
          <p:cNvPr id="9" name="dsl:challenge-map"/>
          <p:cNvSpPr txBox="1"/>
          <p:nvPr/>
        </p:nvSpPr>
        <p:spPr>
          <a:xfrm>
            <a:off x="571500" y="5048250"/>
            <a:ext cx="11049000" cy="9525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Challenge → Mechanism → Artifact 对照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低语义 raw trace → ELF + Runtime context binding → semantic_events.json + 数据溯源标签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Pointer 过度声称 → Bounded ARG_MEM prefix + 约束s → hardware_pointer_prefix_summary.json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Oracle 污染 → Provenance filter (4-class labels) → validation_oracle 字段不进入 report</a:t>
            </a:r>
          </a:p>
        </p:txBody>
      </p:sp>
      <p:sp>
        <p:nvSpPr>
          <p:cNvPr id="10" name="dsl:footer|s=$caption"/>
          <p:cNvSpPr txBox="1"/>
          <p:nvPr/>
        </p:nvSpPr>
        <p:spPr>
          <a:xfrm>
            <a:off x="571500" y="647700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RV-MalTrace 深度技术汇报</a:t>
            </a:r>
          </a:p>
        </p:txBody>
      </p:sp>
      <p:sp>
        <p:nvSpPr>
          <p:cNvPr id="11" name="dsl:page-num|s=$caption"/>
          <p:cNvSpPr txBox="1"/>
          <p:nvPr/>
        </p:nvSpPr>
        <p:spPr>
          <a:xfrm>
            <a:off x="11239500" y="6477000"/>
            <a:ext cx="571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r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ch6-label"/>
          <p:cNvSpPr txBox="1"/>
          <p:nvPr/>
        </p:nvSpPr>
        <p:spPr>
          <a:xfrm>
            <a:off x="952500" y="2286000"/>
            <a:ext cx="2857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350" noProof="1">
                <a:solidFill>
                  <a:srgbClr val="FFFFFF">
                    <a:alpha val="60000"/>
                  </a:srgbClr>
                </a:solidFill>
                <a:latin typeface="QuattrocentoSans"/>
                <a:ea typeface="MiSans"/>
              </a:rPr>
              <a:t>PART 06</a:t>
            </a:r>
          </a:p>
        </p:txBody>
      </p:sp>
      <p:sp>
        <p:nvSpPr>
          <p:cNvPr id="3" name="dsl:ch6-title|s=$chapterTitle"/>
          <p:cNvSpPr txBox="1"/>
          <p:nvPr/>
        </p:nvSpPr>
        <p:spPr>
          <a:xfrm>
            <a:off x="952500" y="2762250"/>
            <a:ext cx="7620000" cy="666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3000" noProof="1">
                <a:solidFill>
                  <a:srgbClr val="FFFFFF"/>
                </a:solidFill>
                <a:latin typeface="QuattrocentoSans"/>
                <a:ea typeface="MiSans"/>
              </a:rPr>
              <a:t>必要的技术背景知识</a:t>
            </a:r>
          </a:p>
        </p:txBody>
      </p:sp>
      <p:sp>
        <p:nvSpPr>
          <p:cNvPr id="4" name="dsl:ch6-subtitle"/>
          <p:cNvSpPr txBox="1"/>
          <p:nvPr/>
        </p:nvSpPr>
        <p:spPr>
          <a:xfrm>
            <a:off x="952500" y="3524250"/>
            <a:ext cx="762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500" noProof="1">
                <a:solidFill>
                  <a:srgbClr val="FFFFFF">
                    <a:alpha val="80000"/>
                  </a:srgbClr>
                </a:solidFill>
                <a:latin typeface="QuattrocentoSans"/>
                <a:ea typeface="MiSans"/>
              </a:rPr>
              <a:t>Syscall-Trap路径、CVA6-RVFI、事件枚举、数据溯源标签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nav-bg"/>
          <p:cNvSpPr/>
          <p:nvPr/>
        </p:nvSpPr>
        <p:spPr>
          <a:xfrm>
            <a:off x="0" y="0"/>
            <a:ext cx="12192000" cy="381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sl:nav-text"/>
          <p:cNvSpPr txBox="1"/>
          <p:nvPr/>
        </p:nvSpPr>
        <p:spPr>
          <a:xfrm>
            <a:off x="571500" y="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FFFFFF"/>
                </a:solidFill>
                <a:latin typeface="QuattrocentoSans"/>
                <a:ea typeface="MiSans"/>
              </a:rPr>
              <a:t>06 必要的技术背景知识</a:t>
            </a:r>
          </a:p>
        </p:txBody>
      </p:sp>
      <p:sp>
        <p:nvSpPr>
          <p:cNvPr id="4" name="dsl:page-title|s=$title"/>
          <p:cNvSpPr txBox="1"/>
          <p:nvPr/>
        </p:nvSpPr>
        <p:spPr>
          <a:xfrm>
            <a:off x="571500" y="523875"/>
            <a:ext cx="8572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400" noProof="1">
                <a:solidFill>
                  <a:srgbClr val="2563EB"/>
                </a:solidFill>
                <a:latin typeface="QuattrocentoSans"/>
                <a:ea typeface="MiSans"/>
              </a:rPr>
              <a:t>RISC-V Linux Syscall/Trap 路径</a:t>
            </a:r>
          </a:p>
        </p:txBody>
      </p:sp>
      <p:sp>
        <p:nvSpPr>
          <p:cNvPr id="5" name="dsl:path-bg"/>
          <p:cNvSpPr/>
          <p:nvPr/>
        </p:nvSpPr>
        <p:spPr>
          <a:xfrm>
            <a:off x="571500" y="1047750"/>
            <a:ext cx="11049000" cy="24765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sl:path-title"/>
          <p:cNvSpPr txBox="1"/>
          <p:nvPr/>
        </p:nvSpPr>
        <p:spPr>
          <a:xfrm>
            <a:off x="762000" y="114300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200" noProof="1">
                <a:solidFill>
                  <a:srgbClr val="2563EB"/>
                </a:solidFill>
                <a:latin typeface="QuattrocentoSans"/>
                <a:ea typeface="MiSans"/>
              </a:rPr>
              <a:t>用户态程序发 syscall 的完整硬件路径</a:t>
            </a:r>
          </a:p>
        </p:txBody>
      </p:sp>
      <p:sp>
        <p:nvSpPr>
          <p:cNvPr id="7" name="dsl:path-body"/>
          <p:cNvSpPr txBox="1"/>
          <p:nvPr/>
        </p:nvSpPr>
        <p:spPr>
          <a:xfrm>
            <a:off x="762000" y="1524000"/>
            <a:ext cx="10668000" cy="1905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6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① </a:t>
            </a: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U-mode 执行 ECALL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 指令</a:t>
            </a:r>
          </a:p>
          <a:p>
            <a:pPr algn="l">
              <a:lnSpc>
                <a:spcPct val="16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② 处理器进入 </a:t>
            </a: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S-mode trap handler</a:t>
            </a:r>
          </a:p>
          <a:p>
            <a:pPr algn="l">
              <a:lnSpc>
                <a:spcPct val="16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③ 内核读取寄存器：a7 = syscall number，a0-a7 = 参数</a:t>
            </a:r>
          </a:p>
          <a:p>
            <a:pPr algn="l">
              <a:lnSpc>
                <a:spcPct val="16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④ 内核处理完，通过 </a:t>
            </a: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SRET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 返回 U-mode</a:t>
            </a:r>
          </a:p>
          <a:p>
            <a:pPr algn="l">
              <a:lnSpc>
                <a:spcPct val="16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⑤ 返回值放在 a0</a:t>
            </a:r>
          </a:p>
        </p:txBody>
      </p:sp>
      <p:sp>
        <p:nvSpPr>
          <p:cNvPr id="8" name="dsl:capture-title"/>
          <p:cNvSpPr txBox="1"/>
          <p:nvPr/>
        </p:nvSpPr>
        <p:spPr>
          <a:xfrm>
            <a:off x="571500" y="371475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200" noProof="1">
                <a:solidFill>
                  <a:srgbClr val="2563EB"/>
                </a:solidFill>
                <a:latin typeface="QuattrocentoSans"/>
                <a:ea typeface="MiSans"/>
              </a:rPr>
              <a:t>RV-MalTrace 捕获的两个关键事件</a:t>
            </a:r>
          </a:p>
        </p:txBody>
      </p:sp>
      <p:graphicFrame>
        <p:nvGraphicFramePr>
          <p:cNvPr id="9" name="dsl:capture-table"/>
          <p:cNvGraphicFramePr>
            <a:graphicFrameLocks noGrp="1"/>
          </p:cNvGraphicFramePr>
          <p:nvPr/>
        </p:nvGraphicFramePr>
        <p:xfrm>
          <a:off x="571500" y="4095750"/>
          <a:ext cx="11049000" cy="1904999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209800"/>
                <a:gridCol w="4419600"/>
                <a:gridCol w="4419600"/>
              </a:tblGrid>
              <a:tr h="2857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事件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捕获时机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捕获内容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53340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SYSCALL_ENTRY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trap path 上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PC, instr, cause, privilege, a0-a7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SYSCALL_RET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SRET 返回时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a0 (return value), return target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552449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配对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通过 syscall_id 配对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duration 也可以记录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l:footer|s=$caption"/>
          <p:cNvSpPr txBox="1"/>
          <p:nvPr/>
        </p:nvSpPr>
        <p:spPr>
          <a:xfrm>
            <a:off x="571500" y="647700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RV-MalTrace 深度技术汇报</a:t>
            </a:r>
          </a:p>
        </p:txBody>
      </p:sp>
      <p:sp>
        <p:nvSpPr>
          <p:cNvPr id="11" name="dsl:page-num|s=$caption"/>
          <p:cNvSpPr txBox="1"/>
          <p:nvPr/>
        </p:nvSpPr>
        <p:spPr>
          <a:xfrm>
            <a:off x="11239500" y="6477000"/>
            <a:ext cx="571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r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nav-bg"/>
          <p:cNvSpPr/>
          <p:nvPr/>
        </p:nvSpPr>
        <p:spPr>
          <a:xfrm>
            <a:off x="0" y="0"/>
            <a:ext cx="12192000" cy="381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sl:nav-text"/>
          <p:cNvSpPr txBox="1"/>
          <p:nvPr/>
        </p:nvSpPr>
        <p:spPr>
          <a:xfrm>
            <a:off x="571500" y="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FFFFFF"/>
                </a:solidFill>
                <a:latin typeface="QuattrocentoSans"/>
                <a:ea typeface="MiSans"/>
              </a:rPr>
              <a:t>06 必要的技术背景知识</a:t>
            </a:r>
          </a:p>
        </p:txBody>
      </p:sp>
      <p:sp>
        <p:nvSpPr>
          <p:cNvPr id="4" name="dsl:page-title|s=$title"/>
          <p:cNvSpPr txBox="1"/>
          <p:nvPr/>
        </p:nvSpPr>
        <p:spPr>
          <a:xfrm>
            <a:off x="571500" y="523875"/>
            <a:ext cx="8572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400" noProof="1">
                <a:solidFill>
                  <a:srgbClr val="2563EB"/>
                </a:solidFill>
                <a:latin typeface="QuattrocentoSans"/>
                <a:ea typeface="MiSans"/>
              </a:rPr>
              <a:t>CVA6-RVFI 接口与信号映射</a:t>
            </a:r>
          </a:p>
        </p:txBody>
      </p:sp>
      <p:sp>
        <p:nvSpPr>
          <p:cNvPr id="5" name="dsl:intro"/>
          <p:cNvSpPr txBox="1"/>
          <p:nvPr/>
        </p:nvSpPr>
        <p:spPr>
          <a:xfrm>
            <a:off x="571500" y="1047750"/>
            <a:ext cx="11049000" cy="381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noProof="1">
                <a:solidFill>
                  <a:srgbClr val="1E293B"/>
                </a:solidFill>
                <a:latin typeface="QuattrocentoSans"/>
                <a:ea typeface="MiSans"/>
              </a:rPr>
              <a:t>CVA6 是 OpenHW Group 开源的 RISC-V 处理器。RVFI（RISC-V Formal Interface）是</a:t>
            </a:r>
            <a:r>
              <a:rPr b="1" sz="1200" noProof="1">
                <a:solidFill>
                  <a:srgbClr val="1E293B"/>
                </a:solidFill>
                <a:latin typeface="QuattrocentoSans"/>
                <a:ea typeface="MiSans"/>
              </a:rPr>
              <a:t>提交级接口</a:t>
            </a:r>
            <a:r>
              <a:rPr sz="1200" noProof="1">
                <a:solidFill>
                  <a:srgbClr val="1E293B"/>
                </a:solidFill>
                <a:latin typeface="QuattrocentoSans"/>
                <a:ea typeface="MiSans"/>
              </a:rPr>
              <a:t>。</a:t>
            </a:r>
          </a:p>
        </p:txBody>
      </p:sp>
      <p:graphicFrame>
        <p:nvGraphicFramePr>
          <p:cNvPr id="6" name="dsl:signal-table"/>
          <p:cNvGraphicFramePr>
            <a:graphicFrameLocks noGrp="1"/>
          </p:cNvGraphicFramePr>
          <p:nvPr/>
        </p:nvGraphicFramePr>
        <p:xfrm>
          <a:off x="571500" y="1524000"/>
          <a:ext cx="11049000" cy="28575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209800"/>
                <a:gridCol w="3314700"/>
                <a:gridCol w="5524500"/>
              </a:tblGrid>
              <a:tr h="2857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信号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含义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Trace Usage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37147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pc_rdata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提交 PC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PC for each committed port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insn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提交指令（32-bit）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Zero-extended low 32 bits for JSONL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37147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trap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是否异常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EVT_TRAP when valid low but trap high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cause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异常原因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TRAP primary field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37147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mode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当前特权级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EVT_PRIV for privilege changes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rd_addr / rd_wdata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目的寄存器地址和写回数据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SYSCALL_ENTRY a0-a7 来源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valid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提交有效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commit_valid = valid || trap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dsl:bottom-note-bg"/>
          <p:cNvSpPr/>
          <p:nvPr/>
        </p:nvSpPr>
        <p:spPr>
          <a:xfrm>
            <a:off x="571500" y="4572000"/>
            <a:ext cx="11049000" cy="76200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l:bottom-note-text"/>
          <p:cNvSpPr txBox="1"/>
          <p:nvPr/>
        </p:nvSpPr>
        <p:spPr>
          <a:xfrm>
            <a:off x="762000" y="4667250"/>
            <a:ext cx="10668000" cy="5715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5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cva6_rvfi_trace_adapter.sv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 从 RVFI 信号中提取这些信息，生成 12 种事件类型的 trace_packet_t。适配器为 旁路采集，不修改 CVA6 状态。</a:t>
            </a:r>
          </a:p>
        </p:txBody>
      </p:sp>
      <p:sp>
        <p:nvSpPr>
          <p:cNvPr id="9" name="dsl:footer|s=$caption"/>
          <p:cNvSpPr txBox="1"/>
          <p:nvPr/>
        </p:nvSpPr>
        <p:spPr>
          <a:xfrm>
            <a:off x="571500" y="647700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RV-MalTrace 深度技术汇报</a:t>
            </a:r>
          </a:p>
        </p:txBody>
      </p:sp>
      <p:sp>
        <p:nvSpPr>
          <p:cNvPr id="10" name="dsl:page-num|s=$caption"/>
          <p:cNvSpPr txBox="1"/>
          <p:nvPr/>
        </p:nvSpPr>
        <p:spPr>
          <a:xfrm>
            <a:off x="11239500" y="6477000"/>
            <a:ext cx="571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r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nav-bg"/>
          <p:cNvSpPr/>
          <p:nvPr/>
        </p:nvSpPr>
        <p:spPr>
          <a:xfrm>
            <a:off x="0" y="0"/>
            <a:ext cx="12192000" cy="381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sl:nav-text"/>
          <p:cNvSpPr txBox="1"/>
          <p:nvPr/>
        </p:nvSpPr>
        <p:spPr>
          <a:xfrm>
            <a:off x="571500" y="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FFFFFF"/>
                </a:solidFill>
                <a:latin typeface="QuattrocentoSans"/>
                <a:ea typeface="MiSans"/>
              </a:rPr>
              <a:t>06 必要的技术背景知识</a:t>
            </a:r>
          </a:p>
        </p:txBody>
      </p:sp>
      <p:sp>
        <p:nvSpPr>
          <p:cNvPr id="4" name="dsl:page-title|s=$title"/>
          <p:cNvSpPr txBox="1"/>
          <p:nvPr/>
        </p:nvSpPr>
        <p:spPr>
          <a:xfrm>
            <a:off x="571500" y="523875"/>
            <a:ext cx="8572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400" noProof="1">
                <a:solidFill>
                  <a:srgbClr val="2563EB"/>
                </a:solidFill>
                <a:latin typeface="QuattrocentoSans"/>
                <a:ea typeface="MiSans"/>
              </a:rPr>
              <a:t>Event Enum 与 BRAM Compact Record</a:t>
            </a:r>
          </a:p>
        </p:txBody>
      </p:sp>
      <p:graphicFrame>
        <p:nvGraphicFramePr>
          <p:cNvPr id="5" name="dsl:event-table"/>
          <p:cNvGraphicFramePr>
            <a:graphicFrameLocks noGrp="1"/>
          </p:cNvGraphicFramePr>
          <p:nvPr/>
        </p:nvGraphicFramePr>
        <p:xfrm>
          <a:off x="571500" y="1047750"/>
          <a:ext cx="11049000" cy="38100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57350"/>
                <a:gridCol w="2762250"/>
                <a:gridCol w="3314700"/>
                <a:gridCol w="3314700"/>
              </a:tblGrid>
              <a:tr h="26670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事件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含义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BRAM primary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BRAM aux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29337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MARKER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窗口标记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marker value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begin=0xb..., end=0xe...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9337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SYSCALL_ENTRY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Syscall 进入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syscall number (a7)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syscall id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29337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SYSCALL_RET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Syscall 返回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syscall id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return value (a0)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9337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TRAP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异常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cause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tval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29337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PRIV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特权级切换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old_priv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new_priv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9337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ARG_MEM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指针快照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compact addr/data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full 64-bit 字段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29337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DROP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丢包计数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drop count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overflow accounting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9337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RETIRE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指令提交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PC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instr, priv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29337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BRANCH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分支跳转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PC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taken, target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9337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JUMP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无条件跳转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PC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target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29337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CSR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CSR 写入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csr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value, PC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623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SATP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页表切换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satp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value, PC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dsl:bottom-note"/>
          <p:cNvSpPr txBox="1"/>
          <p:nvPr/>
        </p:nvSpPr>
        <p:spPr>
          <a:xfrm>
            <a:off x="571500" y="5000625"/>
            <a:ext cx="11049000" cy="47625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BRAM 中每条记录还有 </a:t>
            </a: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seq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（递增 sequence number），用于判断是否有缺口。不同事件携带有针对性的专属 payload，进入不同的分析管道。</a:t>
            </a:r>
          </a:p>
        </p:txBody>
      </p:sp>
      <p:sp>
        <p:nvSpPr>
          <p:cNvPr id="7" name="dsl:footer|s=$caption"/>
          <p:cNvSpPr txBox="1"/>
          <p:nvPr/>
        </p:nvSpPr>
        <p:spPr>
          <a:xfrm>
            <a:off x="571500" y="647700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RV-MalTrace 深度技术汇报</a:t>
            </a:r>
          </a:p>
        </p:txBody>
      </p:sp>
      <p:sp>
        <p:nvSpPr>
          <p:cNvPr id="8" name="dsl:page-num|s=$caption"/>
          <p:cNvSpPr txBox="1"/>
          <p:nvPr/>
        </p:nvSpPr>
        <p:spPr>
          <a:xfrm>
            <a:off x="11239500" y="6477000"/>
            <a:ext cx="571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r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nav-bg"/>
          <p:cNvSpPr/>
          <p:nvPr/>
        </p:nvSpPr>
        <p:spPr>
          <a:xfrm>
            <a:off x="0" y="0"/>
            <a:ext cx="12192000" cy="381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sl:nav-text"/>
          <p:cNvSpPr txBox="1"/>
          <p:nvPr/>
        </p:nvSpPr>
        <p:spPr>
          <a:xfrm>
            <a:off x="571500" y="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FFFFFF"/>
                </a:solidFill>
                <a:latin typeface="QuattrocentoSans"/>
                <a:ea typeface="MiSans"/>
              </a:rPr>
              <a:t>06 必要的技术背景知识</a:t>
            </a:r>
          </a:p>
        </p:txBody>
      </p:sp>
      <p:sp>
        <p:nvSpPr>
          <p:cNvPr id="4" name="dsl:page-title|s=$title"/>
          <p:cNvSpPr txBox="1"/>
          <p:nvPr/>
        </p:nvSpPr>
        <p:spPr>
          <a:xfrm>
            <a:off x="571500" y="523875"/>
            <a:ext cx="8572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400" noProof="1">
                <a:solidFill>
                  <a:srgbClr val="2563EB"/>
                </a:solidFill>
                <a:latin typeface="QuattrocentoSans"/>
                <a:ea typeface="MiSans"/>
              </a:rPr>
              <a:t>数据溯源标签规则</a:t>
            </a:r>
          </a:p>
        </p:txBody>
      </p:sp>
      <p:sp>
        <p:nvSpPr>
          <p:cNvPr id="5" name="dsl:intro"/>
          <p:cNvSpPr txBox="1"/>
          <p:nvPr/>
        </p:nvSpPr>
        <p:spPr>
          <a:xfrm>
            <a:off x="571500" y="1047750"/>
            <a:ext cx="11049000" cy="381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noProof="1">
                <a:solidFill>
                  <a:srgbClr val="1E293B"/>
                </a:solidFill>
                <a:latin typeface="QuattrocentoSans"/>
                <a:ea typeface="MiSans"/>
              </a:rPr>
              <a:t>这是整个系统防止 过度声称 的核心机制：</a:t>
            </a:r>
          </a:p>
        </p:txBody>
      </p:sp>
      <p:graphicFrame>
        <p:nvGraphicFramePr>
          <p:cNvPr id="6" name="dsl:label-table"/>
          <p:cNvGraphicFramePr>
            <a:graphicFrameLocks noGrp="1"/>
          </p:cNvGraphicFramePr>
          <p:nvPr/>
        </p:nvGraphicFramePr>
        <p:xfrm>
          <a:off x="571500" y="1524000"/>
          <a:ext cx="11049000" cy="2381249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209800"/>
                <a:gridCol w="4419600"/>
                <a:gridCol w="2209800"/>
                <a:gridCol w="2209800"/>
              </a:tblGrid>
              <a:tr h="357187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标签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来源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用途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能否 Claim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4762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hardware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板级 trace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支撑 claim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✅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exact_elf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目标 ELF 静态分析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支撑 claim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✅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4762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runtime_os_map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运行时进程映射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支撑 claim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✅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5312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validation_oracle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qemu/strace/host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只验证，不 claim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❌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dsl:checker-note-bg"/>
          <p:cNvSpPr/>
          <p:nvPr/>
        </p:nvSpPr>
        <p:spPr>
          <a:xfrm>
            <a:off x="571500" y="4095750"/>
            <a:ext cx="11049000" cy="7620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l:checker-note-text"/>
          <p:cNvSpPr txBox="1"/>
          <p:nvPr/>
        </p:nvSpPr>
        <p:spPr>
          <a:xfrm>
            <a:off x="762000" y="4191000"/>
            <a:ext cx="10668000" cy="5715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5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Checker 规则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：验证基准值 field 不能被标为 hardware-only。checker 会检查每个字段的标签是否合法，拒绝任何不合法的组合。</a:t>
            </a:r>
          </a:p>
        </p:txBody>
      </p:sp>
      <p:sp>
        <p:nvSpPr>
          <p:cNvPr id="9" name="dsl:footer|s=$caption"/>
          <p:cNvSpPr txBox="1"/>
          <p:nvPr/>
        </p:nvSpPr>
        <p:spPr>
          <a:xfrm>
            <a:off x="571500" y="647700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RV-MalTrace 深度技术汇报</a:t>
            </a:r>
          </a:p>
        </p:txBody>
      </p:sp>
      <p:sp>
        <p:nvSpPr>
          <p:cNvPr id="10" name="dsl:page-num|s=$caption"/>
          <p:cNvSpPr txBox="1"/>
          <p:nvPr/>
        </p:nvSpPr>
        <p:spPr>
          <a:xfrm>
            <a:off x="11239500" y="6477000"/>
            <a:ext cx="571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r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31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ch7-label"/>
          <p:cNvSpPr txBox="1"/>
          <p:nvPr/>
        </p:nvSpPr>
        <p:spPr>
          <a:xfrm>
            <a:off x="952500" y="2286000"/>
            <a:ext cx="2857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350" noProof="1">
                <a:solidFill>
                  <a:srgbClr val="FFFFFF">
                    <a:alpha val="60000"/>
                  </a:srgbClr>
                </a:solidFill>
                <a:latin typeface="QuattrocentoSans"/>
                <a:ea typeface="MiSans"/>
              </a:rPr>
              <a:t>PART 07</a:t>
            </a:r>
          </a:p>
        </p:txBody>
      </p:sp>
      <p:sp>
        <p:nvSpPr>
          <p:cNvPr id="3" name="dsl:ch7-title|s=$chapterTitle"/>
          <p:cNvSpPr txBox="1"/>
          <p:nvPr/>
        </p:nvSpPr>
        <p:spPr>
          <a:xfrm>
            <a:off x="952500" y="2762250"/>
            <a:ext cx="7620000" cy="666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3000" noProof="1">
                <a:solidFill>
                  <a:srgbClr val="FFFFFF"/>
                </a:solidFill>
                <a:latin typeface="QuattrocentoSans"/>
                <a:ea typeface="MiSans"/>
              </a:rPr>
              <a:t>具体方案/方法细节</a:t>
            </a:r>
          </a:p>
        </p:txBody>
      </p:sp>
      <p:sp>
        <p:nvSpPr>
          <p:cNvPr id="4" name="dsl:ch7-subtitle"/>
          <p:cNvSpPr txBox="1"/>
          <p:nvPr/>
        </p:nvSpPr>
        <p:spPr>
          <a:xfrm>
            <a:off x="952500" y="3524250"/>
            <a:ext cx="762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500" noProof="1">
                <a:solidFill>
                  <a:srgbClr val="FFFFFF">
                    <a:alpha val="80000"/>
                  </a:srgbClr>
                </a:solidFill>
                <a:latin typeface="QuattrocentoSans"/>
                <a:ea typeface="MiSans"/>
              </a:rPr>
              <a:t>Context binding、Semantic recovery、Artifact、Results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nav-bg"/>
          <p:cNvSpPr/>
          <p:nvPr/>
        </p:nvSpPr>
        <p:spPr>
          <a:xfrm>
            <a:off x="0" y="0"/>
            <a:ext cx="12192000" cy="381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sl:nav-text"/>
          <p:cNvSpPr txBox="1"/>
          <p:nvPr/>
        </p:nvSpPr>
        <p:spPr>
          <a:xfrm>
            <a:off x="571500" y="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FFFFFF"/>
                </a:solidFill>
                <a:latin typeface="QuattrocentoSans"/>
                <a:ea typeface="MiSans"/>
              </a:rPr>
              <a:t>07 具体方案/方法细节</a:t>
            </a:r>
          </a:p>
        </p:txBody>
      </p:sp>
      <p:sp>
        <p:nvSpPr>
          <p:cNvPr id="4" name="dsl:page-title|s=$title"/>
          <p:cNvSpPr txBox="1"/>
          <p:nvPr/>
        </p:nvSpPr>
        <p:spPr>
          <a:xfrm>
            <a:off x="571500" y="523875"/>
            <a:ext cx="8572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400" noProof="1">
                <a:solidFill>
                  <a:srgbClr val="2563EB"/>
                </a:solidFill>
                <a:latin typeface="QuattrocentoSans"/>
                <a:ea typeface="MiSans"/>
              </a:rPr>
              <a:t>Context Binding：从 Raw PC 到 Annotated Event</a:t>
            </a:r>
          </a:p>
        </p:txBody>
      </p:sp>
      <p:sp>
        <p:nvSpPr>
          <p:cNvPr id="5" name="dsl:input-bg"/>
          <p:cNvSpPr/>
          <p:nvPr/>
        </p:nvSpPr>
        <p:spPr>
          <a:xfrm>
            <a:off x="571500" y="1047750"/>
            <a:ext cx="11049000" cy="762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sl:input-title"/>
          <p:cNvSpPr txBox="1"/>
          <p:nvPr/>
        </p:nvSpPr>
        <p:spPr>
          <a:xfrm>
            <a:off x="762000" y="1123950"/>
            <a:ext cx="1905000" cy="2667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200" noProof="1">
                <a:solidFill>
                  <a:srgbClr val="2563EB"/>
                </a:solidFill>
                <a:latin typeface="QuattrocentoSans"/>
                <a:ea typeface="MiSans"/>
              </a:rPr>
              <a:t>输入</a:t>
            </a:r>
          </a:p>
        </p:txBody>
      </p:sp>
      <p:sp>
        <p:nvSpPr>
          <p:cNvPr id="7" name="dsl:input-body"/>
          <p:cNvSpPr txBox="1"/>
          <p:nvPr/>
        </p:nvSpPr>
        <p:spPr>
          <a:xfrm>
            <a:off x="762000" y="1428750"/>
            <a:ext cx="10668000" cy="2667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Trace event 中的 PC 和 syscall id  +  目标 ELF 精确映射 code map（sections, symbols, source） +  Runtime OS map（process, loaded object）</a:t>
            </a:r>
          </a:p>
        </p:txBody>
      </p:sp>
      <p:graphicFrame>
        <p:nvGraphicFramePr>
          <p:cNvPr id="8" name="dsl:process-table"/>
          <p:cNvGraphicFramePr>
            <a:graphicFrameLocks noGrp="1"/>
          </p:cNvGraphicFramePr>
          <p:nvPr/>
        </p:nvGraphicFramePr>
        <p:xfrm>
          <a:off x="571500" y="1952625"/>
          <a:ext cx="11049000" cy="26670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104900"/>
                <a:gridCol w="2762250"/>
                <a:gridCol w="3867150"/>
                <a:gridCol w="3314700"/>
              </a:tblGrid>
              <a:tr h="32004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Step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处理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检查内容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输出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45339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1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静态匹配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PC 是否落在 target ELF 的 load range、section、symbol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binary, section, symbol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339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2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运行时归属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PC 属于 target_child / runner_parent / kernel / ambiguous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process_owner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45339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3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ASLR/PIE 偏移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pc - load_base = offset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effective PC range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339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4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fork/exec 跟踪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进程切换后 owner 更新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updated owner mapping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53340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结果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Annotated event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包含 binary, symbol, process_owner, source label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reportable / downgraded / blocked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dsl:bottom-note-bg"/>
          <p:cNvSpPr/>
          <p:nvPr/>
        </p:nvSpPr>
        <p:spPr>
          <a:xfrm>
            <a:off x="571500" y="4810125"/>
            <a:ext cx="11049000" cy="7620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l:bottom-note-text"/>
          <p:cNvSpPr txBox="1"/>
          <p:nvPr/>
        </p:nvSpPr>
        <p:spPr>
          <a:xfrm>
            <a:off x="762000" y="4905375"/>
            <a:ext cx="10668000" cy="5715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5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约束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：静态 annotation 只能说明"PC 在 target ELF 范围内"，不等于"这个事件属于 target child"。对于 fork/exec 链，必须有完整的 runtime map 证据。</a:t>
            </a:r>
          </a:p>
        </p:txBody>
      </p:sp>
      <p:sp>
        <p:nvSpPr>
          <p:cNvPr id="11" name="dsl:footer|s=$caption"/>
          <p:cNvSpPr txBox="1"/>
          <p:nvPr/>
        </p:nvSpPr>
        <p:spPr>
          <a:xfrm>
            <a:off x="571500" y="647700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RV-MalTrace 深度技术汇报</a:t>
            </a:r>
          </a:p>
        </p:txBody>
      </p:sp>
      <p:sp>
        <p:nvSpPr>
          <p:cNvPr id="12" name="dsl:page-num|s=$caption"/>
          <p:cNvSpPr txBox="1"/>
          <p:nvPr/>
        </p:nvSpPr>
        <p:spPr>
          <a:xfrm>
            <a:off x="11239500" y="6477000"/>
            <a:ext cx="571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r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33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nav-bg"/>
          <p:cNvSpPr/>
          <p:nvPr/>
        </p:nvSpPr>
        <p:spPr>
          <a:xfrm>
            <a:off x="0" y="0"/>
            <a:ext cx="12192000" cy="381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sl:nav-text"/>
          <p:cNvSpPr txBox="1"/>
          <p:nvPr/>
        </p:nvSpPr>
        <p:spPr>
          <a:xfrm>
            <a:off x="571500" y="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FFFFFF"/>
                </a:solidFill>
                <a:latin typeface="QuattrocentoSans"/>
                <a:ea typeface="MiSans"/>
              </a:rPr>
              <a:t>07 具体方案/方法细节</a:t>
            </a:r>
          </a:p>
        </p:txBody>
      </p:sp>
      <p:sp>
        <p:nvSpPr>
          <p:cNvPr id="4" name="dsl:page-title|s=$title"/>
          <p:cNvSpPr txBox="1"/>
          <p:nvPr/>
        </p:nvSpPr>
        <p:spPr>
          <a:xfrm>
            <a:off x="571500" y="523875"/>
            <a:ext cx="8572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400" noProof="1">
                <a:solidFill>
                  <a:srgbClr val="2563EB"/>
                </a:solidFill>
                <a:latin typeface="QuattrocentoSans"/>
                <a:ea typeface="MiSans"/>
              </a:rPr>
              <a:t>Semantic Recovery：从 Annotated Events 到 Behavior Graph</a:t>
            </a:r>
          </a:p>
        </p:txBody>
      </p:sp>
      <p:graphicFrame>
        <p:nvGraphicFramePr>
          <p:cNvPr id="5" name="dsl:recovery-table"/>
          <p:cNvGraphicFramePr>
            <a:graphicFrameLocks noGrp="1"/>
          </p:cNvGraphicFramePr>
          <p:nvPr/>
        </p:nvGraphicFramePr>
        <p:xfrm>
          <a:off x="571500" y="1047750"/>
          <a:ext cx="11049000" cy="36195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209800"/>
                <a:gridCol w="2762250"/>
                <a:gridCol w="3314700"/>
                <a:gridCol w="2762250"/>
              </a:tblGrid>
              <a:tr h="3619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Recovery Target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Source Events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Output Artifact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Status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47053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syscall_sequence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SYSCALL_ENTRY, SYSCALL_RET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semantic_events.json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PASS_CONTROLLED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053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control_flow_segment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BRANCH, JUMP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behavior_graph.json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PASS_SCOPE_LIMITED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47053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trap_context_transition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TRAP, CSR, SATP, PRIV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semantic_events.json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PASS_SCOPED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053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privilege_boundary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SYSCALL_ENTRY, TRAP, PRIV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semantic_events.json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PASS_SCOPED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47053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basic_behavior_graph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All events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behavior_graph.json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PASS_CONTROLLED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053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fd_path_graph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openat, read, write, close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fd_path_graph.json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PASS_CONTROLLED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43434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source_line_attribution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RETIRE + debug ELF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source_line_attribution_summary.json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PASS_FUNCTION (board-native open)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dsl:bottom-note-bg"/>
          <p:cNvSpPr/>
          <p:nvPr/>
        </p:nvSpPr>
        <p:spPr>
          <a:xfrm>
            <a:off x="571500" y="4857750"/>
            <a:ext cx="11049000" cy="76200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sl:bottom-note-text"/>
          <p:cNvSpPr txBox="1"/>
          <p:nvPr/>
        </p:nvSpPr>
        <p:spPr>
          <a:xfrm>
            <a:off x="762000" y="4953000"/>
            <a:ext cx="10668000" cy="5715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5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行为图 结构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：根节点 trace → Syscall 节点按 next_syscall 顺序连接 → Context/control 节点挂在 trace 下。每个节点保留 数据溯源标签。</a:t>
            </a:r>
          </a:p>
        </p:txBody>
      </p:sp>
      <p:sp>
        <p:nvSpPr>
          <p:cNvPr id="8" name="dsl:footer|s=$caption"/>
          <p:cNvSpPr txBox="1"/>
          <p:nvPr/>
        </p:nvSpPr>
        <p:spPr>
          <a:xfrm>
            <a:off x="571500" y="647700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RV-MalTrace 深度技术汇报</a:t>
            </a:r>
          </a:p>
        </p:txBody>
      </p:sp>
      <p:sp>
        <p:nvSpPr>
          <p:cNvPr id="9" name="dsl:page-num|s=$caption"/>
          <p:cNvSpPr txBox="1"/>
          <p:nvPr/>
        </p:nvSpPr>
        <p:spPr>
          <a:xfrm>
            <a:off x="11239500" y="6477000"/>
            <a:ext cx="571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r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nav-bg"/>
          <p:cNvSpPr/>
          <p:nvPr/>
        </p:nvSpPr>
        <p:spPr>
          <a:xfrm>
            <a:off x="0" y="0"/>
            <a:ext cx="12192000" cy="381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sl:nav-text"/>
          <p:cNvSpPr txBox="1"/>
          <p:nvPr/>
        </p:nvSpPr>
        <p:spPr>
          <a:xfrm>
            <a:off x="571500" y="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FFFFFF"/>
                </a:solidFill>
                <a:latin typeface="QuattrocentoSans"/>
                <a:ea typeface="MiSans"/>
              </a:rPr>
              <a:t>07 具体方案/方法细节</a:t>
            </a:r>
          </a:p>
        </p:txBody>
      </p:sp>
      <p:sp>
        <p:nvSpPr>
          <p:cNvPr id="4" name="dsl:page-title|s=$title"/>
          <p:cNvSpPr txBox="1"/>
          <p:nvPr/>
        </p:nvSpPr>
        <p:spPr>
          <a:xfrm>
            <a:off x="571500" y="523875"/>
            <a:ext cx="8572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400" noProof="1">
                <a:solidFill>
                  <a:srgbClr val="2563EB"/>
                </a:solidFill>
                <a:latin typeface="QuattrocentoSans"/>
                <a:ea typeface="MiSans"/>
              </a:rPr>
              <a:t>案例：file_open_read_write 的语义恢复</a:t>
            </a:r>
          </a:p>
        </p:txBody>
      </p:sp>
      <p:sp>
        <p:nvSpPr>
          <p:cNvPr id="5" name="dsl:expected-bg"/>
          <p:cNvSpPr/>
          <p:nvPr/>
        </p:nvSpPr>
        <p:spPr>
          <a:xfrm>
            <a:off x="571500" y="1047750"/>
            <a:ext cx="5334000" cy="17145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sl:expected-title"/>
          <p:cNvSpPr txBox="1"/>
          <p:nvPr/>
        </p:nvSpPr>
        <p:spPr>
          <a:xfrm>
            <a:off x="762000" y="1143000"/>
            <a:ext cx="2857500" cy="2667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200" noProof="1">
                <a:solidFill>
                  <a:srgbClr val="2563EB"/>
                </a:solidFill>
                <a:latin typeface="QuattrocentoSans"/>
                <a:ea typeface="MiSans"/>
              </a:rPr>
              <a:t>Expected Syscall Order</a:t>
            </a:r>
          </a:p>
        </p:txBody>
      </p:sp>
      <p:sp>
        <p:nvSpPr>
          <p:cNvPr id="7" name="dsl:expected-body"/>
          <p:cNvSpPr txBox="1"/>
          <p:nvPr/>
        </p:nvSpPr>
        <p:spPr>
          <a:xfrm>
            <a:off x="762000" y="1476375"/>
            <a:ext cx="4953000" cy="1143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openat → write → close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→ openat → read → write → close</a:t>
            </a:r>
          </a:p>
          <a:p>
            <a:pPr algn="l">
              <a:lnSpc>
                <a:spcPct val="150000"/>
              </a:lnSpc>
              <a:spcBef>
                <a:spcPts val="450"/>
              </a:spcBef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硬件窗口提供：marker、syscall、trap、privilege、ARG_MEM 片段</a:t>
            </a:r>
          </a:p>
        </p:txBody>
      </p:sp>
      <p:sp>
        <p:nvSpPr>
          <p:cNvPr id="8" name="dsl:recovery-bg"/>
          <p:cNvSpPr/>
          <p:nvPr/>
        </p:nvSpPr>
        <p:spPr>
          <a:xfrm>
            <a:off x="6096000" y="1047750"/>
            <a:ext cx="5524500" cy="17145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sl:recovery-title"/>
          <p:cNvSpPr txBox="1"/>
          <p:nvPr/>
        </p:nvSpPr>
        <p:spPr>
          <a:xfrm>
            <a:off x="6286500" y="1143000"/>
            <a:ext cx="2857500" cy="2667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200" noProof="1">
                <a:solidFill>
                  <a:srgbClr val="2563EB"/>
                </a:solidFill>
                <a:latin typeface="QuattrocentoSans"/>
                <a:ea typeface="MiSans"/>
              </a:rPr>
              <a:t>Semantic Recovery 步骤</a:t>
            </a:r>
          </a:p>
        </p:txBody>
      </p:sp>
      <p:sp>
        <p:nvSpPr>
          <p:cNvPr id="10" name="dsl:recovery-body"/>
          <p:cNvSpPr txBox="1"/>
          <p:nvPr/>
        </p:nvSpPr>
        <p:spPr>
          <a:xfrm>
            <a:off x="6286500" y="1476375"/>
            <a:ext cx="5143500" cy="1143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① entry/ret 配对 → syscall number, args, return value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② fd/path graph → openat 返回 fd 关联后续 read/write/close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③ 路径字符串来自 qemu/strace → validation_oracle 标签</a:t>
            </a:r>
          </a:p>
        </p:txBody>
      </p:sp>
      <p:graphicFrame>
        <p:nvGraphicFramePr>
          <p:cNvPr id="11" name="dsl:detail-table"/>
          <p:cNvGraphicFramePr>
            <a:graphicFrameLocks noGrp="1"/>
          </p:cNvGraphicFramePr>
          <p:nvPr/>
        </p:nvGraphicFramePr>
        <p:xfrm>
          <a:off x="571500" y="2952750"/>
          <a:ext cx="11049000" cy="28575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209800"/>
                <a:gridCol w="3314700"/>
                <a:gridCol w="2762250"/>
                <a:gridCol w="2762250"/>
              </a:tblGrid>
              <a:tr h="2857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Step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处理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输入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输出 / 标签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37147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1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Syscall entry 捕获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SYSCALL_ENTRY (PC, a7, a0-a7)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syscall number, args / hardware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2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Syscall ret 配对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SYSCALL_RET (a0, target)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return value, duration / hardware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37147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3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FD 关联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openat 返回 fd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fd_path_graph / hardware+runtime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4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Path 前缀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ARG_MEM (bounded bytes)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prefix / hardware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37147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5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完整路径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qemu/strace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full path / validation_oracle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6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PC 绑定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ELF + Runtime map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binary, function / exact_elf+runtime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7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数据溯源检查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所有字段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semantic_provenance_summary.json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dsl:footer|s=$caption"/>
          <p:cNvSpPr txBox="1"/>
          <p:nvPr/>
        </p:nvSpPr>
        <p:spPr>
          <a:xfrm>
            <a:off x="571500" y="647700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RV-MalTrace 深度技术汇报</a:t>
            </a:r>
          </a:p>
        </p:txBody>
      </p:sp>
      <p:sp>
        <p:nvSpPr>
          <p:cNvPr id="13" name="dsl:page-num|s=$caption"/>
          <p:cNvSpPr txBox="1"/>
          <p:nvPr/>
        </p:nvSpPr>
        <p:spPr>
          <a:xfrm>
            <a:off x="11239500" y="6477000"/>
            <a:ext cx="571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r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35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nav-bg"/>
          <p:cNvSpPr/>
          <p:nvPr/>
        </p:nvSpPr>
        <p:spPr>
          <a:xfrm>
            <a:off x="0" y="0"/>
            <a:ext cx="12192000" cy="381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sl:nav-text"/>
          <p:cNvSpPr txBox="1"/>
          <p:nvPr/>
        </p:nvSpPr>
        <p:spPr>
          <a:xfrm>
            <a:off x="571500" y="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FFFFFF"/>
                </a:solidFill>
                <a:latin typeface="QuattrocentoSans"/>
                <a:ea typeface="MiSans"/>
              </a:rPr>
              <a:t>07 具体方案/方法细节</a:t>
            </a:r>
          </a:p>
        </p:txBody>
      </p:sp>
      <p:sp>
        <p:nvSpPr>
          <p:cNvPr id="4" name="dsl:page-title|s=$title"/>
          <p:cNvSpPr txBox="1"/>
          <p:nvPr/>
        </p:nvSpPr>
        <p:spPr>
          <a:xfrm>
            <a:off x="571500" y="523875"/>
            <a:ext cx="8572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400" noProof="1">
                <a:solidFill>
                  <a:srgbClr val="2563EB"/>
                </a:solidFill>
                <a:latin typeface="QuattrocentoSans"/>
                <a:ea typeface="MiSans"/>
              </a:rPr>
              <a:t>Artifact Package：可复查的产物结构</a:t>
            </a:r>
          </a:p>
        </p:txBody>
      </p:sp>
      <p:sp>
        <p:nvSpPr>
          <p:cNvPr id="5" name="dsl:tree-bg"/>
          <p:cNvSpPr/>
          <p:nvPr/>
        </p:nvSpPr>
        <p:spPr>
          <a:xfrm>
            <a:off x="571500" y="1047750"/>
            <a:ext cx="5715000" cy="3810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sl:tree-title"/>
          <p:cNvSpPr txBox="1"/>
          <p:nvPr/>
        </p:nvSpPr>
        <p:spPr>
          <a:xfrm>
            <a:off x="762000" y="1143000"/>
            <a:ext cx="3810000" cy="2667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200" noProof="1">
                <a:solidFill>
                  <a:srgbClr val="2563EB"/>
                </a:solidFill>
                <a:latin typeface="QuattrocentoSans"/>
                <a:ea typeface="MiSans"/>
              </a:rPr>
              <a:t>核心 Artifacts</a:t>
            </a:r>
          </a:p>
        </p:txBody>
      </p:sp>
      <p:sp>
        <p:nvSpPr>
          <p:cNvPr id="7" name="dsl:tree-body"/>
          <p:cNvSpPr txBox="1"/>
          <p:nvPr/>
        </p:nvSpPr>
        <p:spPr>
          <a:xfrm>
            <a:off x="762000" y="1476375"/>
            <a:ext cx="5334000" cy="32385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b="1" sz="975" noProof="1">
                <a:solidFill>
                  <a:srgbClr val="2563EB"/>
                </a:solidFill>
                <a:latin typeface="QuattrocentoSans"/>
                <a:ea typeface="MiSans"/>
              </a:rPr>
              <a:t>📁 results/evaluation/genesys2-cva6/current/</a:t>
            </a:r>
          </a:p>
          <a:p>
            <a:pPr algn="l">
              <a:lnSpc>
                <a:spcPct val="150000"/>
              </a:lnSpc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├── p0_bram_trace_summary.json</a:t>
            </a:r>
          </a:p>
          <a:p>
            <a:pPr algn="l">
              <a:lnSpc>
                <a:spcPct val="150000"/>
              </a:lnSpc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├── safe_surrogate_bram_trace_summary.json</a:t>
            </a:r>
          </a:p>
          <a:p>
            <a:pPr algn="l">
              <a:lnSpc>
                <a:spcPct val="150000"/>
              </a:lnSpc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├── drop_accounting_summary.json</a:t>
            </a:r>
          </a:p>
          <a:p>
            <a:pPr algn="l">
              <a:lnSpc>
                <a:spcPct val="150000"/>
              </a:lnSpc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├── semantic_reconstruction_summary.json</a:t>
            </a:r>
          </a:p>
          <a:p>
            <a:pPr algn="l">
              <a:lnSpc>
                <a:spcPct val="150000"/>
              </a:lnSpc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├── semantic_provenance_summary.json</a:t>
            </a:r>
          </a:p>
          <a:p>
            <a:pPr algn="l">
              <a:lnSpc>
                <a:spcPct val="150000"/>
              </a:lnSpc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├── process_elf_ownership_summary.json</a:t>
            </a:r>
          </a:p>
          <a:p>
            <a:pPr algn="l">
              <a:lnSpc>
                <a:spcPct val="150000"/>
              </a:lnSpc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├── source_line_attribution_summary.json</a:t>
            </a:r>
          </a:p>
          <a:p>
            <a:pPr algn="l">
              <a:lnSpc>
                <a:spcPct val="150000"/>
              </a:lnSpc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├── hardware_pointer_prefix_summary.json</a:t>
            </a:r>
          </a:p>
          <a:p>
            <a:pPr algn="l">
              <a:lnSpc>
                <a:spcPct val="150000"/>
              </a:lnSpc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├── statistical_robustness_summary.json</a:t>
            </a:r>
          </a:p>
          <a:p>
            <a:pPr algn="l">
              <a:lnSpc>
                <a:spcPct val="150000"/>
              </a:lnSpc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└── case_study_manifest.json</a:t>
            </a:r>
          </a:p>
        </p:txBody>
      </p:sp>
      <p:sp>
        <p:nvSpPr>
          <p:cNvPr id="8" name="dsl:reviewer-bg"/>
          <p:cNvSpPr/>
          <p:nvPr/>
        </p:nvSpPr>
        <p:spPr>
          <a:xfrm>
            <a:off x="6477000" y="1047750"/>
            <a:ext cx="5143500" cy="266700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sl:reviewer-title"/>
          <p:cNvSpPr txBox="1"/>
          <p:nvPr/>
        </p:nvSpPr>
        <p:spPr>
          <a:xfrm>
            <a:off x="6667500" y="1143000"/>
            <a:ext cx="4762500" cy="2667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200" noProof="1">
                <a:solidFill>
                  <a:srgbClr val="10B981"/>
                </a:solidFill>
                <a:latin typeface="QuattrocentoSans"/>
                <a:ea typeface="MiSans"/>
              </a:rPr>
              <a:t>Reviewer 复查路径</a:t>
            </a:r>
          </a:p>
        </p:txBody>
      </p:sp>
      <p:sp>
        <p:nvSpPr>
          <p:cNvPr id="10" name="dsl:reviewer-body"/>
          <p:cNvSpPr txBox="1"/>
          <p:nvPr/>
        </p:nvSpPr>
        <p:spPr>
          <a:xfrm>
            <a:off x="6667500" y="1476375"/>
            <a:ext cx="4762500" cy="20955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1. manifest checks：artifact 存在性 + SHA-256</a:t>
            </a:r>
          </a:p>
          <a:p>
            <a:pPr algn="l">
              <a:lnSpc>
                <a:spcPct val="150000"/>
              </a:lnSpc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2. schema checks：JSON 结构符合预期</a:t>
            </a:r>
          </a:p>
          <a:p>
            <a:pPr algn="l">
              <a:lnSpc>
                <a:spcPct val="150000"/>
              </a:lnSpc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3. claim/non-claim audit：标签与边界对齐</a:t>
            </a:r>
          </a:p>
          <a:p>
            <a:pPr algn="l">
              <a:lnSpc>
                <a:spcPct val="150000"/>
              </a:lnSpc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4. checker 命令：</a:t>
            </a:r>
          </a:p>
          <a:p>
            <a:pPr algn="l">
              <a:lnSpc>
                <a:spcPct val="150000"/>
              </a:lnSpc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   uv run python tools/run_check_suite.py</a:t>
            </a:r>
          </a:p>
          <a:p>
            <a:pPr algn="l">
              <a:lnSpc>
                <a:spcPct val="150000"/>
              </a:lnSpc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   --suite genesys2-current</a:t>
            </a:r>
          </a:p>
          <a:p>
            <a:pPr algn="l">
              <a:lnSpc>
                <a:spcPct val="150000"/>
              </a:lnSpc>
              <a:spcBef>
                <a:spcPts val="450"/>
              </a:spcBef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复查路径：manifest → raw board root</a:t>
            </a:r>
          </a:p>
          <a:p>
            <a:pPr algn="l">
              <a:lnSpc>
                <a:spcPct val="150000"/>
              </a:lnSpc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→ per-sample artifact → checker suite</a:t>
            </a:r>
          </a:p>
        </p:txBody>
      </p:sp>
      <p:sp>
        <p:nvSpPr>
          <p:cNvPr id="11" name="dsl:per-sample-bg"/>
          <p:cNvSpPr/>
          <p:nvPr/>
        </p:nvSpPr>
        <p:spPr>
          <a:xfrm>
            <a:off x="6477000" y="3905250"/>
            <a:ext cx="5143500" cy="9525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l:per-sample-title"/>
          <p:cNvSpPr txBox="1"/>
          <p:nvPr/>
        </p:nvSpPr>
        <p:spPr>
          <a:xfrm>
            <a:off x="6667500" y="4000500"/>
            <a:ext cx="4762500" cy="2667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200" noProof="1">
                <a:solidFill>
                  <a:srgbClr val="F59E0B"/>
                </a:solidFill>
                <a:latin typeface="QuattrocentoSans"/>
                <a:ea typeface="MiSans"/>
              </a:rPr>
              <a:t>Per-Sample 输出</a:t>
            </a:r>
          </a:p>
        </p:txBody>
      </p:sp>
      <p:sp>
        <p:nvSpPr>
          <p:cNvPr id="13" name="dsl:per-sample-body"/>
          <p:cNvSpPr txBox="1"/>
          <p:nvPr/>
        </p:nvSpPr>
        <p:spPr>
          <a:xfrm>
            <a:off x="6667500" y="4333875"/>
            <a:ext cx="4762500" cy="381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975" noProof="1">
                <a:solidFill>
                  <a:srgbClr val="1E293B"/>
                </a:solidFill>
                <a:latin typeface="QuattrocentoSans"/>
                <a:ea typeface="MiSans"/>
              </a:rPr>
              <a:t>semantic_events.json / behavior_graph.json / fd_path_graph.json / case_study_summary.json</a:t>
            </a:r>
          </a:p>
        </p:txBody>
      </p:sp>
      <p:sp>
        <p:nvSpPr>
          <p:cNvPr id="14" name="dsl:footer|s=$caption"/>
          <p:cNvSpPr txBox="1"/>
          <p:nvPr/>
        </p:nvSpPr>
        <p:spPr>
          <a:xfrm>
            <a:off x="571500" y="647700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RV-MalTrace 深度技术汇报</a:t>
            </a:r>
          </a:p>
        </p:txBody>
      </p:sp>
      <p:sp>
        <p:nvSpPr>
          <p:cNvPr id="15" name="dsl:page-num|s=$caption"/>
          <p:cNvSpPr txBox="1"/>
          <p:nvPr/>
        </p:nvSpPr>
        <p:spPr>
          <a:xfrm>
            <a:off x="11239500" y="6477000"/>
            <a:ext cx="571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r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nav-bg"/>
          <p:cNvSpPr/>
          <p:nvPr/>
        </p:nvSpPr>
        <p:spPr>
          <a:xfrm>
            <a:off x="0" y="0"/>
            <a:ext cx="12192000" cy="381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sl:nav-text"/>
          <p:cNvSpPr txBox="1"/>
          <p:nvPr/>
        </p:nvSpPr>
        <p:spPr>
          <a:xfrm>
            <a:off x="571500" y="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FFFFFF"/>
                </a:solidFill>
                <a:latin typeface="QuattrocentoSans"/>
                <a:ea typeface="MiSans"/>
              </a:rPr>
              <a:t>07 具体方案/方法细节</a:t>
            </a:r>
          </a:p>
        </p:txBody>
      </p:sp>
      <p:sp>
        <p:nvSpPr>
          <p:cNvPr id="4" name="dsl:page-title|s=$title"/>
          <p:cNvSpPr txBox="1"/>
          <p:nvPr/>
        </p:nvSpPr>
        <p:spPr>
          <a:xfrm>
            <a:off x="571500" y="523875"/>
            <a:ext cx="8572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400" noProof="1">
                <a:solidFill>
                  <a:srgbClr val="2563EB"/>
                </a:solidFill>
                <a:latin typeface="QuattrocentoSans"/>
                <a:ea typeface="MiSans"/>
              </a:rPr>
              <a:t>结果总览：128/142 Accepted</a:t>
            </a:r>
          </a:p>
        </p:txBody>
      </p:sp>
      <p:sp>
        <p:nvSpPr>
          <p:cNvPr id="5" name="dsl:data-card1-bg"/>
          <p:cNvSpPr/>
          <p:nvPr/>
        </p:nvSpPr>
        <p:spPr>
          <a:xfrm>
            <a:off x="571500" y="1047750"/>
            <a:ext cx="2571750" cy="9525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sl:data-card1-num"/>
          <p:cNvSpPr txBox="1"/>
          <p:nvPr/>
        </p:nvSpPr>
        <p:spPr>
          <a:xfrm>
            <a:off x="762000" y="1123950"/>
            <a:ext cx="2190750" cy="428625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700" noProof="1">
                <a:solidFill>
                  <a:srgbClr val="2563EB"/>
                </a:solidFill>
                <a:latin typeface="QuattrocentoSans"/>
                <a:ea typeface="MiSans"/>
              </a:rPr>
              <a:t>128/142</a:t>
            </a:r>
          </a:p>
        </p:txBody>
      </p:sp>
      <p:sp>
        <p:nvSpPr>
          <p:cNvPr id="7" name="dsl:data-card1-label"/>
          <p:cNvSpPr txBox="1"/>
          <p:nvPr/>
        </p:nvSpPr>
        <p:spPr>
          <a:xfrm>
            <a:off x="762000" y="1552575"/>
            <a:ext cx="2190750" cy="333375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900" noProof="1">
                <a:solidFill>
                  <a:srgbClr val="64748B"/>
                </a:solidFill>
                <a:latin typeface="QuattrocentoSans"/>
                <a:ea typeface="MiSans"/>
              </a:rPr>
              <a:t>Accepted board attempts</a:t>
            </a:r>
          </a:p>
        </p:txBody>
      </p:sp>
      <p:sp>
        <p:nvSpPr>
          <p:cNvPr id="8" name="dsl:data-card2-bg"/>
          <p:cNvSpPr/>
          <p:nvPr/>
        </p:nvSpPr>
        <p:spPr>
          <a:xfrm>
            <a:off x="3333750" y="1047750"/>
            <a:ext cx="2571750" cy="9525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sl:data-card2-num"/>
          <p:cNvSpPr txBox="1"/>
          <p:nvPr/>
        </p:nvSpPr>
        <p:spPr>
          <a:xfrm>
            <a:off x="3524250" y="1123950"/>
            <a:ext cx="2190750" cy="428625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700" noProof="1">
                <a:solidFill>
                  <a:srgbClr val="10B981"/>
                </a:solidFill>
                <a:latin typeface="QuattrocentoSans"/>
                <a:ea typeface="MiSans"/>
              </a:rPr>
              <a:t>12</a:t>
            </a:r>
          </a:p>
        </p:txBody>
      </p:sp>
      <p:sp>
        <p:nvSpPr>
          <p:cNvPr id="10" name="dsl:data-card2-label"/>
          <p:cNvSpPr txBox="1"/>
          <p:nvPr/>
        </p:nvSpPr>
        <p:spPr>
          <a:xfrm>
            <a:off x="3524250" y="1552575"/>
            <a:ext cx="2190750" cy="333375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900" noProof="1">
                <a:solidFill>
                  <a:srgbClr val="64748B"/>
                </a:solidFill>
                <a:latin typeface="QuattrocentoSans"/>
                <a:ea typeface="MiSans"/>
              </a:rPr>
              <a:t>Board workloads (4 P0 + 8 Surrogate)</a:t>
            </a:r>
          </a:p>
        </p:txBody>
      </p:sp>
      <p:sp>
        <p:nvSpPr>
          <p:cNvPr id="11" name="dsl:data-card3-bg"/>
          <p:cNvSpPr/>
          <p:nvPr/>
        </p:nvSpPr>
        <p:spPr>
          <a:xfrm>
            <a:off x="6096000" y="1047750"/>
            <a:ext cx="2571750" cy="9525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l:data-card3-num"/>
          <p:cNvSpPr txBox="1"/>
          <p:nvPr/>
        </p:nvSpPr>
        <p:spPr>
          <a:xfrm>
            <a:off x="6286500" y="1123950"/>
            <a:ext cx="2190750" cy="428625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700" noProof="1">
                <a:solidFill>
                  <a:srgbClr val="F59E0B"/>
                </a:solidFill>
                <a:latin typeface="QuattrocentoSans"/>
                <a:ea typeface="MiSans"/>
              </a:rPr>
              <a:t>5</a:t>
            </a:r>
          </a:p>
        </p:txBody>
      </p:sp>
      <p:sp>
        <p:nvSpPr>
          <p:cNvPr id="13" name="dsl:data-card3-label"/>
          <p:cNvSpPr txBox="1"/>
          <p:nvPr/>
        </p:nvSpPr>
        <p:spPr>
          <a:xfrm>
            <a:off x="6286500" y="1552575"/>
            <a:ext cx="2190750" cy="333375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900" noProof="1">
                <a:solidFill>
                  <a:srgbClr val="64748B"/>
                </a:solidFill>
                <a:latin typeface="QuattrocentoSans"/>
                <a:ea typeface="MiSans"/>
              </a:rPr>
              <a:t>Benign controls (unexpected FP=0)</a:t>
            </a:r>
          </a:p>
        </p:txBody>
      </p:sp>
      <p:sp>
        <p:nvSpPr>
          <p:cNvPr id="14" name="dsl:data-card4-bg"/>
          <p:cNvSpPr/>
          <p:nvPr/>
        </p:nvSpPr>
        <p:spPr>
          <a:xfrm>
            <a:off x="8858250" y="1047750"/>
            <a:ext cx="2762250" cy="952500"/>
          </a:xfrm>
          <a:prstGeom prst="roundRect">
            <a:avLst>
              <a:gd name="adj" fmla="val 8000"/>
            </a:avLst>
          </a:prstGeom>
          <a:solidFill>
            <a:srgbClr val="F3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l:data-card4-num"/>
          <p:cNvSpPr txBox="1"/>
          <p:nvPr/>
        </p:nvSpPr>
        <p:spPr>
          <a:xfrm>
            <a:off x="9048750" y="1123950"/>
            <a:ext cx="2381250" cy="428625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700" noProof="1">
                <a:solidFill>
                  <a:srgbClr val="7C3AED"/>
                </a:solidFill>
                <a:latin typeface="QuattrocentoSans"/>
                <a:ea typeface="MiSans"/>
              </a:rPr>
              <a:t>0</a:t>
            </a:r>
          </a:p>
        </p:txBody>
      </p:sp>
      <p:sp>
        <p:nvSpPr>
          <p:cNvPr id="16" name="dsl:data-card4-label"/>
          <p:cNvSpPr txBox="1"/>
          <p:nvPr/>
        </p:nvSpPr>
        <p:spPr>
          <a:xfrm>
            <a:off x="9048750" y="1552575"/>
            <a:ext cx="2381250" cy="333375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900" noProof="1">
                <a:solidFill>
                  <a:srgbClr val="64748B"/>
                </a:solidFill>
                <a:latin typeface="QuattrocentoSans"/>
                <a:ea typeface="MiSans"/>
              </a:rPr>
              <a:t>Max drop/wrap/gap in accepted</a:t>
            </a:r>
          </a:p>
        </p:txBody>
      </p:sp>
      <p:graphicFrame>
        <p:nvGraphicFramePr>
          <p:cNvPr id="17" name="dsl:workload-table"/>
          <p:cNvGraphicFramePr>
            <a:graphicFrameLocks noGrp="1"/>
          </p:cNvGraphicFramePr>
          <p:nvPr/>
        </p:nvGraphicFramePr>
        <p:xfrm>
          <a:off x="571500" y="2190750"/>
          <a:ext cx="11049000" cy="26670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209800"/>
                <a:gridCol w="2209800"/>
                <a:gridCol w="3314700"/>
                <a:gridCol w="3314700"/>
              </a:tblGrid>
              <a:tr h="32004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类别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数量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样本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Accepted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4000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P0 safe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4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hello_write, file_open_read_write, fork_exec, illegal_instruction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48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Safe surrogate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8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file_scan, batch_open_read_write, self_copy_sim, abnormal_syscall_sequence, illegal_trap, process_chain, dynamic_executable_memory, anti_debug_like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80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4000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Benign controls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5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hello, cat, clock_status, getdents_only, mmap_rw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5/5 (FP=0)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Total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12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All workloads have accepted evidence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128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4000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Retained failed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14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Failure reasons preserved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Not in PASS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671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Metric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50/50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expected syscall labels matched (validation)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12/12 semantic artifacts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8" name="dsl:bottom-note"/>
          <p:cNvSpPr txBox="1"/>
          <p:nvPr/>
        </p:nvSpPr>
        <p:spPr>
          <a:xfrm>
            <a:off x="571500" y="5048250"/>
            <a:ext cx="11049000" cy="762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5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⚠️ 注意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：50/50 expected syscall labels matched 是 validation metric，基于 验证基准对齐。这些不是 malware detection accuracy，也不是 production false-positive rate。</a:t>
            </a:r>
          </a:p>
        </p:txBody>
      </p:sp>
      <p:sp>
        <p:nvSpPr>
          <p:cNvPr id="19" name="dsl:footer|s=$caption"/>
          <p:cNvSpPr txBox="1"/>
          <p:nvPr/>
        </p:nvSpPr>
        <p:spPr>
          <a:xfrm>
            <a:off x="571500" y="647700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RV-MalTrace 深度技术汇报</a:t>
            </a:r>
          </a:p>
        </p:txBody>
      </p:sp>
      <p:sp>
        <p:nvSpPr>
          <p:cNvPr id="20" name="dsl:page-num|s=$caption"/>
          <p:cNvSpPr txBox="1"/>
          <p:nvPr/>
        </p:nvSpPr>
        <p:spPr>
          <a:xfrm>
            <a:off x="11239500" y="6477000"/>
            <a:ext cx="571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r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nav-bg"/>
          <p:cNvSpPr/>
          <p:nvPr/>
        </p:nvSpPr>
        <p:spPr>
          <a:xfrm>
            <a:off x="0" y="0"/>
            <a:ext cx="12192000" cy="381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sl:nav-text"/>
          <p:cNvSpPr txBox="1"/>
          <p:nvPr/>
        </p:nvSpPr>
        <p:spPr>
          <a:xfrm>
            <a:off x="571500" y="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FFFFFF"/>
                </a:solidFill>
                <a:latin typeface="QuattrocentoSans"/>
                <a:ea typeface="MiSans"/>
              </a:rPr>
              <a:t>07 具体方案/方法细节</a:t>
            </a:r>
          </a:p>
        </p:txBody>
      </p:sp>
      <p:sp>
        <p:nvSpPr>
          <p:cNvPr id="4" name="dsl:page-title|s=$title"/>
          <p:cNvSpPr txBox="1"/>
          <p:nvPr/>
        </p:nvSpPr>
        <p:spPr>
          <a:xfrm>
            <a:off x="571500" y="523875"/>
            <a:ext cx="8572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400" noProof="1">
                <a:solidFill>
                  <a:srgbClr val="2563EB"/>
                </a:solidFill>
                <a:latin typeface="QuattrocentoSans"/>
                <a:ea typeface="MiSans"/>
              </a:rPr>
              <a:t>FPGA 资源成本与 Timing</a:t>
            </a:r>
          </a:p>
        </p:txBody>
      </p:sp>
      <p:sp>
        <p:nvSpPr>
          <p:cNvPr id="5" name="dsl:intro"/>
          <p:cNvSpPr txBox="1"/>
          <p:nvPr/>
        </p:nvSpPr>
        <p:spPr>
          <a:xfrm>
            <a:off x="571500" y="1047750"/>
            <a:ext cx="11049000" cy="381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noProof="1">
                <a:solidFill>
                  <a:srgbClr val="1E293B"/>
                </a:solidFill>
                <a:latin typeface="QuattrocentoSans"/>
                <a:ea typeface="MiSans"/>
              </a:rPr>
              <a:t>来自 Vivado post-implementation routed report：</a:t>
            </a:r>
          </a:p>
        </p:txBody>
      </p:sp>
      <p:graphicFrame>
        <p:nvGraphicFramePr>
          <p:cNvPr id="6" name="dsl:resource-table"/>
          <p:cNvGraphicFramePr>
            <a:graphicFrameLocks noGrp="1"/>
          </p:cNvGraphicFramePr>
          <p:nvPr/>
        </p:nvGraphicFramePr>
        <p:xfrm>
          <a:off x="571500" y="1524000"/>
          <a:ext cx="6667500" cy="19050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66875"/>
                <a:gridCol w="1666875"/>
                <a:gridCol w="1666875"/>
                <a:gridCol w="1666875"/>
              </a:tblGrid>
              <a:tr h="3238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Resource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Baseline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Trace-enabled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Delta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3238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LUT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84,923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106,428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+25.32%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38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FF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56,491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65,634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+16.18%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3238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BRAM18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108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114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+5.56%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38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DSP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27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27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+0%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2857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Timing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—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MET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slack 0.177 ns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dsl:boundary-note-bg"/>
          <p:cNvSpPr/>
          <p:nvPr/>
        </p:nvSpPr>
        <p:spPr>
          <a:xfrm>
            <a:off x="571500" y="3619500"/>
            <a:ext cx="11049000" cy="7620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l:boundary-note-text"/>
          <p:cNvSpPr txBox="1"/>
          <p:nvPr/>
        </p:nvSpPr>
        <p:spPr>
          <a:xfrm>
            <a:off x="762000" y="3714750"/>
            <a:ext cx="10668000" cy="5715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5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边界说明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：这是静态 FPGA resource 增量，不是 cycle-level runtime overhead。生产环境的 runtime overhead 尚未 claim。</a:t>
            </a:r>
          </a:p>
        </p:txBody>
      </p:sp>
      <p:sp>
        <p:nvSpPr>
          <p:cNvPr id="9" name="dsl:next-steps-bg"/>
          <p:cNvSpPr/>
          <p:nvPr/>
        </p:nvSpPr>
        <p:spPr>
          <a:xfrm>
            <a:off x="571500" y="4572000"/>
            <a:ext cx="11049000" cy="13335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l:next-steps-title"/>
          <p:cNvSpPr txBox="1"/>
          <p:nvPr/>
        </p:nvSpPr>
        <p:spPr>
          <a:xfrm>
            <a:off x="762000" y="4667250"/>
            <a:ext cx="3810000" cy="2667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200" noProof="1">
                <a:solidFill>
                  <a:srgbClr val="2563EB"/>
                </a:solidFill>
                <a:latin typeface="QuattrocentoSans"/>
                <a:ea typeface="MiSans"/>
              </a:rPr>
              <a:t>下一步建议</a:t>
            </a:r>
          </a:p>
        </p:txBody>
      </p:sp>
      <p:sp>
        <p:nvSpPr>
          <p:cNvPr id="11" name="dsl:next-steps-body"/>
          <p:cNvSpPr txBox="1"/>
          <p:nvPr/>
        </p:nvSpPr>
        <p:spPr>
          <a:xfrm>
            <a:off x="762000" y="5000625"/>
            <a:ext cx="10668000" cy="762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短期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：按 scoped claim 提交 artifact，完成 figures、source citations、scoped disclosures、reproducibility path</a:t>
            </a:r>
          </a:p>
          <a:p>
            <a:pPr algn="l">
              <a:lnSpc>
                <a:spcPct val="15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中期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：请 1–2 位 reviewer 按 artifact package 复查 evidence root 和 checker suite</a:t>
            </a:r>
          </a:p>
          <a:p>
            <a:pPr algn="l">
              <a:lnSpc>
                <a:spcPct val="15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长期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：deployment overhead、streaming/DMA、real malware generalization 留作下一阶段</a:t>
            </a:r>
          </a:p>
        </p:txBody>
      </p:sp>
      <p:sp>
        <p:nvSpPr>
          <p:cNvPr id="12" name="dsl:footer|s=$caption"/>
          <p:cNvSpPr txBox="1"/>
          <p:nvPr/>
        </p:nvSpPr>
        <p:spPr>
          <a:xfrm>
            <a:off x="571500" y="647700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RV-MalTrace 深度技术汇报</a:t>
            </a:r>
          </a:p>
        </p:txBody>
      </p:sp>
      <p:sp>
        <p:nvSpPr>
          <p:cNvPr id="13" name="dsl:page-num|s=$caption"/>
          <p:cNvSpPr txBox="1"/>
          <p:nvPr/>
        </p:nvSpPr>
        <p:spPr>
          <a:xfrm>
            <a:off x="11239500" y="6477000"/>
            <a:ext cx="571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r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38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nav-bg"/>
          <p:cNvSpPr/>
          <p:nvPr/>
        </p:nvSpPr>
        <p:spPr>
          <a:xfrm>
            <a:off x="0" y="0"/>
            <a:ext cx="12192000" cy="381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sl:nav-text"/>
          <p:cNvSpPr txBox="1"/>
          <p:nvPr/>
        </p:nvSpPr>
        <p:spPr>
          <a:xfrm>
            <a:off x="571500" y="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FFFFFF"/>
                </a:solidFill>
                <a:latin typeface="QuattrocentoSans"/>
                <a:ea typeface="MiSans"/>
              </a:rPr>
              <a:t>07 讨论中的问题与思考</a:t>
            </a:r>
          </a:p>
        </p:txBody>
      </p:sp>
      <p:sp>
        <p:nvSpPr>
          <p:cNvPr id="4" name="dsl:page-title|s=$title"/>
          <p:cNvSpPr txBox="1"/>
          <p:nvPr/>
        </p:nvSpPr>
        <p:spPr>
          <a:xfrm>
            <a:off x="571500" y="523875"/>
            <a:ext cx="8572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400" noProof="1">
                <a:solidFill>
                  <a:srgbClr val="2563EB"/>
                </a:solidFill>
                <a:latin typeface="QuattrocentoSans"/>
                <a:ea typeface="MiSans"/>
              </a:rPr>
              <a:t>讨论中的问题与思考</a:t>
            </a:r>
          </a:p>
        </p:txBody>
      </p:sp>
      <p:sp>
        <p:nvSpPr>
          <p:cNvPr id="5" name="dsl:intro"/>
          <p:cNvSpPr txBox="1"/>
          <p:nvPr/>
        </p:nvSpPr>
        <p:spPr>
          <a:xfrm>
            <a:off x="571500" y="1047750"/>
            <a:ext cx="11049000" cy="381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noProof="1">
                <a:solidFill>
                  <a:srgbClr val="1E293B"/>
                </a:solidFill>
                <a:latin typeface="QuattrocentoSans"/>
                <a:ea typeface="MiSans"/>
              </a:rPr>
              <a:t>这些是在讨论中经常会被问到的问题，我们目前的理解和思考如下（供讨论，不是最终结论）：</a:t>
            </a:r>
          </a:p>
        </p:txBody>
      </p:sp>
      <p:graphicFrame>
        <p:nvGraphicFramePr>
          <p:cNvPr id="6" name="dsl:qa-table"/>
          <p:cNvGraphicFramePr>
            <a:graphicFrameLocks noGrp="1"/>
          </p:cNvGraphicFramePr>
          <p:nvPr/>
        </p:nvGraphicFramePr>
        <p:xfrm>
          <a:off x="571500" y="1476375"/>
          <a:ext cx="11049000" cy="4333873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762250"/>
                <a:gridCol w="8286750"/>
              </a:tblGrid>
              <a:tr h="34671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问题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我们的思考与讨论方向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650081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qemu/strace 对验证的影响？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我们统一标注 qemu 为验证基准，checker 会拒绝纯 hardware-only 标签。后续可讨论：如何在数据上进一步消除这种依赖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0081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Accepted-window 是否有选择性偏差？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14 个失败尝试被完整保留，参与统计。可讨论：是否需要更系统的统计方法来评估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650081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受控程序能否代表真实 malware？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目前明确是讨论阶段，未扩展到真实 malware。可讨论：下一步的迁移方向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0081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资源增量是否意味着 runtime slowdown？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目前只有静态资源数据，cycle-level 开销尚未测量。可讨论：是否需要补充运行时代价分析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650081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Marker 对 workload 的影响？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Marker 只约束观测窗口，不约束硬件执行。可讨论：如何在设计上进一步降低观测效应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6758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与 NCScope 的关系？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NCScope 是早期参考的问题原型。我们平台、目标和证据链完全不同，是参考而非比较对象。可讨论：是否需要补充其他相关工作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dsl:footer|s=$caption"/>
          <p:cNvSpPr txBox="1"/>
          <p:nvPr/>
        </p:nvSpPr>
        <p:spPr>
          <a:xfrm>
            <a:off x="571500" y="647700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RV-MalTrace 深度技术汇报</a:t>
            </a:r>
          </a:p>
        </p:txBody>
      </p:sp>
      <p:sp>
        <p:nvSpPr>
          <p:cNvPr id="8" name="dsl:page-num|s=$caption"/>
          <p:cNvSpPr txBox="1"/>
          <p:nvPr/>
        </p:nvSpPr>
        <p:spPr>
          <a:xfrm>
            <a:off x="11239500" y="6477000"/>
            <a:ext cx="571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r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39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ch8-label"/>
          <p:cNvSpPr txBox="1"/>
          <p:nvPr/>
        </p:nvSpPr>
        <p:spPr>
          <a:xfrm>
            <a:off x="952500" y="2286000"/>
            <a:ext cx="2857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350" noProof="1">
                <a:solidFill>
                  <a:srgbClr val="FFFFFF">
                    <a:alpha val="60000"/>
                  </a:srgbClr>
                </a:solidFill>
                <a:latin typeface="QuattrocentoSans"/>
                <a:ea typeface="MiSans"/>
              </a:rPr>
              <a:t>PART 08</a:t>
            </a:r>
          </a:p>
        </p:txBody>
      </p:sp>
      <p:sp>
        <p:nvSpPr>
          <p:cNvPr id="3" name="dsl:ch8-title|s=$chapterTitle"/>
          <p:cNvSpPr txBox="1"/>
          <p:nvPr/>
        </p:nvSpPr>
        <p:spPr>
          <a:xfrm>
            <a:off x="952500" y="2762250"/>
            <a:ext cx="7620000" cy="666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3000" noProof="1">
                <a:solidFill>
                  <a:srgbClr val="FFFFFF"/>
                </a:solidFill>
                <a:latin typeface="QuattrocentoSans"/>
                <a:ea typeface="MiSans"/>
              </a:rPr>
              <a:t>Related Work</a:t>
            </a:r>
          </a:p>
        </p:txBody>
      </p:sp>
      <p:sp>
        <p:nvSpPr>
          <p:cNvPr id="4" name="dsl:ch8-subtitle"/>
          <p:cNvSpPr txBox="1"/>
          <p:nvPr/>
        </p:nvSpPr>
        <p:spPr>
          <a:xfrm>
            <a:off x="952500" y="3524250"/>
            <a:ext cx="762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500" noProof="1">
                <a:solidFill>
                  <a:srgbClr val="FFFFFF">
                    <a:alpha val="80000"/>
                  </a:srgbClr>
                </a:solidFill>
                <a:latin typeface="QuattrocentoSans"/>
                <a:ea typeface="MiSans"/>
              </a:rPr>
              <a:t>与五篇 A 会论文的差异对比与定位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nav-bg"/>
          <p:cNvSpPr/>
          <p:nvPr/>
        </p:nvSpPr>
        <p:spPr>
          <a:xfrm>
            <a:off x="0" y="0"/>
            <a:ext cx="12192000" cy="381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sl:nav-text"/>
          <p:cNvSpPr txBox="1"/>
          <p:nvPr/>
        </p:nvSpPr>
        <p:spPr>
          <a:xfrm>
            <a:off x="571500" y="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FFFFFF"/>
                </a:solidFill>
                <a:latin typeface="QuattrocentoSans"/>
                <a:ea typeface="MiSans"/>
              </a:rPr>
              <a:t>08 Related Work</a:t>
            </a:r>
          </a:p>
        </p:txBody>
      </p:sp>
      <p:sp>
        <p:nvSpPr>
          <p:cNvPr id="4" name="dsl:page-title|s=$title"/>
          <p:cNvSpPr txBox="1"/>
          <p:nvPr/>
        </p:nvSpPr>
        <p:spPr>
          <a:xfrm>
            <a:off x="571500" y="523875"/>
            <a:ext cx="8572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400" noProof="1">
                <a:solidFill>
                  <a:srgbClr val="2563EB"/>
                </a:solidFill>
                <a:latin typeface="QuattrocentoSans"/>
                <a:ea typeface="MiSans"/>
              </a:rPr>
              <a:t>五篇 A 会论文总览</a:t>
            </a:r>
          </a:p>
        </p:txBody>
      </p:sp>
      <p:graphicFrame>
        <p:nvGraphicFramePr>
          <p:cNvPr id="5" name="dsl:overview-table"/>
          <p:cNvGraphicFramePr>
            <a:graphicFrameLocks noGrp="1"/>
          </p:cNvGraphicFramePr>
          <p:nvPr/>
        </p:nvGraphicFramePr>
        <p:xfrm>
          <a:off x="571500" y="1047750"/>
          <a:ext cx="11048999" cy="4571995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8819"/>
                <a:gridCol w="1325880"/>
                <a:gridCol w="2762250"/>
                <a:gridCol w="2430780"/>
                <a:gridCol w="2541270"/>
              </a:tblGrid>
              <a:tr h="45720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论文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会议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核心目标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平台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关键技术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822959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Ninja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SEC'17 / TIFS'19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ARM 透明 malware 分析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ARMv8 Juno / i.MX53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TrustZone + PMU + ETM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59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HART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ESORICS'20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内核模块动态追踪/保护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ARM Cortex-A8 (i.MX53)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ETM + ETB + PMU + HASAN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822959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Raft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RAID'23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运行时数据流防护 (DIFT)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RISC-V Rocket Core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RoCC 协处理器 + tag storage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59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μAFL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ICSE'22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固件 fuzzing（覆盖率反馈）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ARM Cortex-M (NXP/STM32)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ETM + DWT + debug dongle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822959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RV-MalTrace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NDSS'26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行为审计证据链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RISC-V CVA6 / 35T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自定义 RTL trace tap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dsl:bottom-note"/>
          <p:cNvSpPr txBox="1"/>
          <p:nvPr/>
        </p:nvSpPr>
        <p:spPr>
          <a:xfrm>
            <a:off x="571500" y="5762625"/>
            <a:ext cx="11049000" cy="47625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5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核心定位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：这些论文共同说明"硬件辅助低侵入观测"是成熟方向；我们的差异不在于也用了硬件 trace，而在于面向 </a:t>
            </a: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RISC-V/Linux committed behavior event 的语义重建、证据链和 bounded malware-like behavior audit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。</a:t>
            </a:r>
          </a:p>
        </p:txBody>
      </p:sp>
      <p:sp>
        <p:nvSpPr>
          <p:cNvPr id="7" name="dsl:footer|s=$caption"/>
          <p:cNvSpPr txBox="1"/>
          <p:nvPr/>
        </p:nvSpPr>
        <p:spPr>
          <a:xfrm>
            <a:off x="571500" y="647700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RV-MalTrace 深度技术汇报</a:t>
            </a:r>
          </a:p>
        </p:txBody>
      </p:sp>
      <p:sp>
        <p:nvSpPr>
          <p:cNvPr id="8" name="dsl:page-num|s=$caption"/>
          <p:cNvSpPr txBox="1"/>
          <p:nvPr/>
        </p:nvSpPr>
        <p:spPr>
          <a:xfrm>
            <a:off x="11239500" y="6477000"/>
            <a:ext cx="571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r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nav-bg"/>
          <p:cNvSpPr/>
          <p:nvPr/>
        </p:nvSpPr>
        <p:spPr>
          <a:xfrm>
            <a:off x="0" y="0"/>
            <a:ext cx="12192000" cy="381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sl:nav-text"/>
          <p:cNvSpPr txBox="1"/>
          <p:nvPr/>
        </p:nvSpPr>
        <p:spPr>
          <a:xfrm>
            <a:off x="571500" y="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FFFFFF"/>
                </a:solidFill>
                <a:latin typeface="QuattrocentoSans"/>
                <a:ea typeface="MiSans"/>
              </a:rPr>
              <a:t>08 Related Work</a:t>
            </a:r>
          </a:p>
        </p:txBody>
      </p:sp>
      <p:sp>
        <p:nvSpPr>
          <p:cNvPr id="4" name="dsl:page-title|s=$title"/>
          <p:cNvSpPr txBox="1"/>
          <p:nvPr/>
        </p:nvSpPr>
        <p:spPr>
          <a:xfrm>
            <a:off x="571500" y="523875"/>
            <a:ext cx="8572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400" noProof="1">
                <a:solidFill>
                  <a:srgbClr val="2563EB"/>
                </a:solidFill>
                <a:latin typeface="QuattrocentoSans"/>
                <a:ea typeface="MiSans"/>
              </a:rPr>
              <a:t>综合差异矩阵</a:t>
            </a:r>
          </a:p>
        </p:txBody>
      </p:sp>
      <p:graphicFrame>
        <p:nvGraphicFramePr>
          <p:cNvPr id="5" name="dsl:matrix-table"/>
          <p:cNvGraphicFramePr>
            <a:graphicFrameLocks noGrp="1"/>
          </p:cNvGraphicFramePr>
          <p:nvPr/>
        </p:nvGraphicFramePr>
        <p:xfrm>
          <a:off x="571500" y="1000125"/>
          <a:ext cx="11049000" cy="4762493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878330"/>
                <a:gridCol w="1546860"/>
                <a:gridCol w="1546860"/>
                <a:gridCol w="1546860"/>
                <a:gridCol w="1546860"/>
                <a:gridCol w="2983230"/>
              </a:tblGrid>
              <a:tr h="319087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维度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Ninja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HART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Raft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μAFL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RV-MalTrace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319087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核心目标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透明分析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内核保护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DIFT 防护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固件 fuzzing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行为审计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9087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ISA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ARMv8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ARM Cortex-A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RISC-V Rocket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ARM Cortex-M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RISC-V CVA6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319087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OS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Android/Linux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Linux 内核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Linux/嵌入式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裸机/RTOS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Linux 用户态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9087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硬件机制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TZ + PMU + ETM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ETM + ETB + PMU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RoCC 协处理器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ETM + DWT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RTL trace tap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319087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系统修改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TrustZone 固件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内核 wrapper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编译器+内核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零修改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零修改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9087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透明性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TZ 隔离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部分侵入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需插桩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裸机透明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RTL 旁路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319087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事件粒度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指令/syscall/API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指令+内存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数据流操作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指令级分支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OS 语义事件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9087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语义恢复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指令/syscall/API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指令+内存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无（仅 taint）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无（仅覆盖率）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syscall+参数+fd/path+进程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319087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在线/离线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在线 trace/debug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在线 trace + HASAN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在线 enforcement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在线+离线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硬件采集+离线重建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9087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抗规避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核心目标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非目标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非目标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非目标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核心目标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319087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评估重点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透明度+malware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overhead+CVE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overhead+硬件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bugs/CVEs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行为正确性+抗规避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9087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输出形式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trace + debug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解码指令 trace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安全违规中断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AFL bitmap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JSONL+行为图+审计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319087">
                <a:tc>
                  <a:txBody>
                    <a:bodyPr wrap="square" anchor="t">
                      <a:noAutofit/>
                    </a:bodyPr>
                    <a:lstStyle/>
                    <a:p>
                      <a:pPr algn="l">
                        <a:defRPr sz="1350">
                          <a:latin typeface="MiSans"/>
                          <a:ea typeface="MiSans"/>
                        </a:defRPr>
                      </a:pPr>
                      <a:r>
                        <a:rPr sz="1350" b="1">
                          <a:solidFill>
                            <a:srgbClr val="1E293B"/>
                          </a:solidFill>
                          <a:latin typeface="MiSans"/>
                          <a:ea typeface="MiSans"/>
                        </a:rPr>
                        <a:t/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>
                      <a:noAutofit/>
                    </a:bodyPr>
                    <a:lstStyle/>
                    <a:p>
                      <a:pPr algn="l">
                        <a:defRPr sz="1350">
                          <a:latin typeface="MiSans"/>
                          <a:ea typeface="MiSans"/>
                        </a:defRPr>
                      </a:pPr>
                      <a:r>
                        <a:rPr sz="1350">
                          <a:solidFill>
                            <a:srgbClr val="1E293B"/>
                          </a:solidFill>
                          <a:latin typeface="MiSans"/>
                          <a:ea typeface="MiSans"/>
                        </a:rPr>
                        <a:t/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>
                      <a:noAutofit/>
                    </a:bodyPr>
                    <a:lstStyle/>
                    <a:p>
                      <a:pPr algn="l">
                        <a:defRPr sz="1350">
                          <a:latin typeface="MiSans"/>
                          <a:ea typeface="MiSans"/>
                        </a:defRPr>
                      </a:pPr>
                      <a:r>
                        <a:rPr sz="1350">
                          <a:solidFill>
                            <a:srgbClr val="1E293B"/>
                          </a:solidFill>
                          <a:latin typeface="MiSans"/>
                          <a:ea typeface="MiSans"/>
                        </a:rPr>
                        <a:t/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>
                      <a:noAutofit/>
                    </a:bodyPr>
                    <a:lstStyle/>
                    <a:p>
                      <a:pPr algn="l">
                        <a:defRPr sz="1350">
                          <a:latin typeface="MiSans"/>
                          <a:ea typeface="MiSans"/>
                        </a:defRPr>
                      </a:pPr>
                      <a:r>
                        <a:rPr sz="1350">
                          <a:solidFill>
                            <a:srgbClr val="1E293B"/>
                          </a:solidFill>
                          <a:latin typeface="MiSans"/>
                          <a:ea typeface="MiSans"/>
                        </a:rPr>
                        <a:t/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>
                      <a:noAutofit/>
                    </a:bodyPr>
                    <a:lstStyle/>
                    <a:p>
                      <a:pPr algn="l">
                        <a:defRPr sz="1350">
                          <a:latin typeface="MiSans"/>
                          <a:ea typeface="MiSans"/>
                        </a:defRPr>
                      </a:pPr>
                      <a:r>
                        <a:rPr sz="1350">
                          <a:solidFill>
                            <a:srgbClr val="1E293B"/>
                          </a:solidFill>
                          <a:latin typeface="MiSans"/>
                          <a:ea typeface="MiSans"/>
                        </a:rPr>
                        <a:t/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>
                      <a:noAutofit/>
                    </a:bodyPr>
                    <a:lstStyle/>
                    <a:p>
                      <a:pPr algn="l">
                        <a:defRPr sz="1350">
                          <a:latin typeface="MiSans"/>
                          <a:ea typeface="MiSans"/>
                        </a:defRPr>
                      </a:pPr>
                      <a:r>
                        <a:rPr sz="1350">
                          <a:solidFill>
                            <a:srgbClr val="1E293B"/>
                          </a:solidFill>
                          <a:latin typeface="MiSans"/>
                          <a:ea typeface="MiSans"/>
                        </a:rPr>
                        <a:t/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95275">
                <a:tc>
                  <a:txBody>
                    <a:bodyPr wrap="square" anchor="t">
                      <a:noAutofit/>
                    </a:bodyPr>
                    <a:lstStyle/>
                    <a:p>
                      <a:pPr algn="l">
                        <a:defRPr sz="1350">
                          <a:latin typeface="MiSans"/>
                          <a:ea typeface="MiSans"/>
                        </a:defRPr>
                      </a:pPr>
                      <a:r>
                        <a:rPr sz="1350" b="1">
                          <a:solidFill>
                            <a:srgbClr val="1E293B"/>
                          </a:solidFill>
                          <a:latin typeface="MiSans"/>
                          <a:ea typeface="MiSans"/>
                        </a:rPr>
                        <a:t/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t">
                      <a:noAutofit/>
                    </a:bodyPr>
                    <a:lstStyle/>
                    <a:p>
                      <a:pPr algn="l">
                        <a:defRPr sz="1350">
                          <a:latin typeface="MiSans"/>
                          <a:ea typeface="MiSans"/>
                        </a:defRPr>
                      </a:pPr>
                      <a:r>
                        <a:rPr sz="1350">
                          <a:solidFill>
                            <a:srgbClr val="1E293B"/>
                          </a:solidFill>
                          <a:latin typeface="MiSans"/>
                          <a:ea typeface="MiSans"/>
                        </a:rPr>
                        <a:t/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t">
                      <a:noAutofit/>
                    </a:bodyPr>
                    <a:lstStyle/>
                    <a:p>
                      <a:pPr algn="l">
                        <a:defRPr sz="1350">
                          <a:latin typeface="MiSans"/>
                          <a:ea typeface="MiSans"/>
                        </a:defRPr>
                      </a:pPr>
                      <a:r>
                        <a:rPr sz="1350">
                          <a:solidFill>
                            <a:srgbClr val="1E293B"/>
                          </a:solidFill>
                          <a:latin typeface="MiSans"/>
                          <a:ea typeface="MiSans"/>
                        </a:rPr>
                        <a:t/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t">
                      <a:noAutofit/>
                    </a:bodyPr>
                    <a:lstStyle/>
                    <a:p>
                      <a:pPr algn="l">
                        <a:defRPr sz="1350">
                          <a:latin typeface="MiSans"/>
                          <a:ea typeface="MiSans"/>
                        </a:defRPr>
                      </a:pPr>
                      <a:r>
                        <a:rPr sz="1350">
                          <a:solidFill>
                            <a:srgbClr val="1E293B"/>
                          </a:solidFill>
                          <a:latin typeface="MiSans"/>
                          <a:ea typeface="MiSans"/>
                        </a:rPr>
                        <a:t/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t">
                      <a:noAutofit/>
                    </a:bodyPr>
                    <a:lstStyle/>
                    <a:p>
                      <a:pPr algn="l">
                        <a:defRPr sz="1350">
                          <a:latin typeface="MiSans"/>
                          <a:ea typeface="MiSans"/>
                        </a:defRPr>
                      </a:pPr>
                      <a:r>
                        <a:rPr sz="1350">
                          <a:solidFill>
                            <a:srgbClr val="1E293B"/>
                          </a:solidFill>
                          <a:latin typeface="MiSans"/>
                          <a:ea typeface="MiSans"/>
                        </a:rPr>
                        <a:t/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t">
                      <a:noAutofit/>
                    </a:bodyPr>
                    <a:lstStyle/>
                    <a:p>
                      <a:pPr algn="l">
                        <a:defRPr sz="1350">
                          <a:latin typeface="MiSans"/>
                          <a:ea typeface="MiSans"/>
                        </a:defRPr>
                      </a:pPr>
                      <a:r>
                        <a:rPr sz="1350">
                          <a:solidFill>
                            <a:srgbClr val="1E293B"/>
                          </a:solidFill>
                          <a:latin typeface="MiSans"/>
                          <a:ea typeface="MiSans"/>
                        </a:rPr>
                        <a:t/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dsl:footer|s=$caption"/>
          <p:cNvSpPr txBox="1"/>
          <p:nvPr/>
        </p:nvSpPr>
        <p:spPr>
          <a:xfrm>
            <a:off x="571500" y="647700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RV-MalTrace 深度技术汇报</a:t>
            </a:r>
          </a:p>
        </p:txBody>
      </p:sp>
      <p:sp>
        <p:nvSpPr>
          <p:cNvPr id="7" name="dsl:page-num|s=$caption"/>
          <p:cNvSpPr txBox="1"/>
          <p:nvPr/>
        </p:nvSpPr>
        <p:spPr>
          <a:xfrm>
            <a:off x="11239500" y="6477000"/>
            <a:ext cx="571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r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nav-bg"/>
          <p:cNvSpPr/>
          <p:nvPr/>
        </p:nvSpPr>
        <p:spPr>
          <a:xfrm>
            <a:off x="0" y="0"/>
            <a:ext cx="12192000" cy="381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sl:nav-text"/>
          <p:cNvSpPr txBox="1"/>
          <p:nvPr/>
        </p:nvSpPr>
        <p:spPr>
          <a:xfrm>
            <a:off x="571500" y="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FFFFFF"/>
                </a:solidFill>
                <a:latin typeface="QuattrocentoSans"/>
                <a:ea typeface="MiSans"/>
              </a:rPr>
              <a:t>08 Related Work</a:t>
            </a:r>
          </a:p>
        </p:txBody>
      </p:sp>
      <p:sp>
        <p:nvSpPr>
          <p:cNvPr id="4" name="dsl:page-title|s=$title"/>
          <p:cNvSpPr txBox="1"/>
          <p:nvPr/>
        </p:nvSpPr>
        <p:spPr>
          <a:xfrm>
            <a:off x="571500" y="523875"/>
            <a:ext cx="8572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400" noProof="1">
                <a:solidFill>
                  <a:srgbClr val="2563EB"/>
                </a:solidFill>
                <a:latin typeface="QuattrocentoSans"/>
                <a:ea typeface="MiSans"/>
              </a:rPr>
              <a:t>Raft（RAID'23）—— 同平台最直接的对比</a:t>
            </a:r>
          </a:p>
        </p:txBody>
      </p:sp>
      <p:sp>
        <p:nvSpPr>
          <p:cNvPr id="5" name="dsl:highlight-bg"/>
          <p:cNvSpPr/>
          <p:nvPr/>
        </p:nvSpPr>
        <p:spPr>
          <a:xfrm>
            <a:off x="571500" y="1047750"/>
            <a:ext cx="11049000" cy="476250"/>
          </a:xfrm>
          <a:prstGeom prst="roundRect">
            <a:avLst>
              <a:gd name="adj" fmla="val 6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sl:highlight-text"/>
          <p:cNvSpPr txBox="1"/>
          <p:nvPr/>
        </p:nvSpPr>
        <p:spPr>
          <a:xfrm>
            <a:off x="762000" y="1047750"/>
            <a:ext cx="10668000" cy="47625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50000"/>
              </a:lnSpc>
            </a:pPr>
            <a:r>
              <a:rPr b="1" sz="1200" noProof="1">
                <a:solidFill>
                  <a:srgbClr val="2563EB"/>
                </a:solidFill>
                <a:latin typeface="QuattrocentoSans"/>
                <a:ea typeface="MiSans"/>
              </a:rPr>
              <a:t>Raft 和 RV-MalTrace 都基于 RISC-V，但两者是正交技术：Raft 做数据流安全（DIFT），我们做行为流审计（Behavioral Trace）。</a:t>
            </a:r>
          </a:p>
        </p:txBody>
      </p:sp>
      <p:graphicFrame>
        <p:nvGraphicFramePr>
          <p:cNvPr id="7" name="dsl:diff-table"/>
          <p:cNvGraphicFramePr>
            <a:graphicFrameLocks noGrp="1"/>
          </p:cNvGraphicFramePr>
          <p:nvPr/>
        </p:nvGraphicFramePr>
        <p:xfrm>
          <a:off x="571500" y="1666875"/>
          <a:ext cx="11049000" cy="3619499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430780"/>
                <a:gridCol w="4309110"/>
                <a:gridCol w="4309110"/>
              </a:tblGrid>
              <a:tr h="36195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维度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Raft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RV-MalTrace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43434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核心目标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运行时数据流防护（DIFT）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行为流审计（Behavioral Trace）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硬件架构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协处理器（RoCC），主核可停顿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片上 trace tap（旁路捕获，非主核停顿）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43434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追踪对象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数据流（taint propagation）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控制流 + OS 语义事件（syscall、trap、priv）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系统修改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自定义指令 + 编译器插桩 + 内核修改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无需编译器插桩，无需内核修改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43434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对程序透明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不透明（需插桩）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对程序完全透明（无插桩、无内核修改）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用途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在线 enforcement（实时阻止违规）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离线审计（行为解释和证据链）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651509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一句话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Raft 防止恶意输入到达敏感操作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RV-MalTrace 解释程序做了什么 syscall、如何操作文件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dsl:quote-bg"/>
          <p:cNvSpPr/>
          <p:nvPr/>
        </p:nvSpPr>
        <p:spPr>
          <a:xfrm>
            <a:off x="571500" y="5429250"/>
            <a:ext cx="11049000" cy="5715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sl:quote-text"/>
          <p:cNvSpPr txBox="1"/>
          <p:nvPr/>
        </p:nvSpPr>
        <p:spPr>
          <a:xfrm>
            <a:off x="762000" y="5429250"/>
            <a:ext cx="10668000" cy="5715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5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推荐写法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：Raft demonstrates low-overhead RISC-V DIFT by propagating tags in a coprocessor. RV-MalTrace targets a different abstraction: it exports committed syscall, trap, privilege, marker, drop, and bounded pointer events from a RISC-V/CVA6 trace path, then reconstructs Linux behavior provenance offline.</a:t>
            </a:r>
          </a:p>
        </p:txBody>
      </p:sp>
      <p:sp>
        <p:nvSpPr>
          <p:cNvPr id="10" name="dsl:footer|s=$caption"/>
          <p:cNvSpPr txBox="1"/>
          <p:nvPr/>
        </p:nvSpPr>
        <p:spPr>
          <a:xfrm>
            <a:off x="571500" y="647700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RV-MalTrace 深度技术汇报</a:t>
            </a:r>
          </a:p>
        </p:txBody>
      </p:sp>
      <p:sp>
        <p:nvSpPr>
          <p:cNvPr id="11" name="dsl:page-num|s=$caption"/>
          <p:cNvSpPr txBox="1"/>
          <p:nvPr/>
        </p:nvSpPr>
        <p:spPr>
          <a:xfrm>
            <a:off x="11239500" y="6477000"/>
            <a:ext cx="571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r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nav-bg"/>
          <p:cNvSpPr/>
          <p:nvPr/>
        </p:nvSpPr>
        <p:spPr>
          <a:xfrm>
            <a:off x="0" y="0"/>
            <a:ext cx="12192000" cy="381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sl:nav-text"/>
          <p:cNvSpPr txBox="1"/>
          <p:nvPr/>
        </p:nvSpPr>
        <p:spPr>
          <a:xfrm>
            <a:off x="571500" y="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FFFFFF"/>
                </a:solidFill>
                <a:latin typeface="QuattrocentoSans"/>
                <a:ea typeface="MiSans"/>
              </a:rPr>
              <a:t>08 Related Work</a:t>
            </a:r>
          </a:p>
        </p:txBody>
      </p:sp>
      <p:sp>
        <p:nvSpPr>
          <p:cNvPr id="4" name="dsl:page-title|s=$title"/>
          <p:cNvSpPr txBox="1"/>
          <p:nvPr/>
        </p:nvSpPr>
        <p:spPr>
          <a:xfrm>
            <a:off x="571500" y="523875"/>
            <a:ext cx="8572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400" noProof="1">
                <a:solidFill>
                  <a:srgbClr val="2563EB"/>
                </a:solidFill>
                <a:latin typeface="QuattrocentoSans"/>
                <a:ea typeface="MiSans"/>
              </a:rPr>
              <a:t>Ninja（SEC'17 / TIFS'19）—— 同方向最接近的对手</a:t>
            </a:r>
          </a:p>
        </p:txBody>
      </p:sp>
      <p:sp>
        <p:nvSpPr>
          <p:cNvPr id="5" name="dsl:highlight-bg"/>
          <p:cNvSpPr/>
          <p:nvPr/>
        </p:nvSpPr>
        <p:spPr>
          <a:xfrm>
            <a:off x="571500" y="1047750"/>
            <a:ext cx="11049000" cy="476250"/>
          </a:xfrm>
          <a:prstGeom prst="roundRect">
            <a:avLst>
              <a:gd name="adj" fmla="val 6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sl:highlight-text"/>
          <p:cNvSpPr txBox="1"/>
          <p:nvPr/>
        </p:nvSpPr>
        <p:spPr>
          <a:xfrm>
            <a:off x="762000" y="1047750"/>
            <a:ext cx="10668000" cy="47625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50000"/>
              </a:lnSpc>
            </a:pPr>
            <a:r>
              <a:rPr b="1" sz="1200" noProof="1">
                <a:solidFill>
                  <a:srgbClr val="2563EB"/>
                </a:solidFill>
                <a:latin typeface="QuattrocentoSans"/>
                <a:ea typeface="MiSans"/>
              </a:rPr>
              <a:t>Ninja 和 RV-MalTrace 都关注恶意软件分析，都强调低侵入/抗规避，但实现路径截然不同。</a:t>
            </a:r>
          </a:p>
        </p:txBody>
      </p:sp>
      <p:graphicFrame>
        <p:nvGraphicFramePr>
          <p:cNvPr id="7" name="dsl:diff-table"/>
          <p:cNvGraphicFramePr>
            <a:graphicFrameLocks noGrp="1"/>
          </p:cNvGraphicFramePr>
          <p:nvPr/>
        </p:nvGraphicFramePr>
        <p:xfrm>
          <a:off x="571500" y="1666875"/>
          <a:ext cx="11049000" cy="342899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430780"/>
                <a:gridCol w="4309110"/>
                <a:gridCol w="4309110"/>
              </a:tblGrid>
              <a:tr h="34290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维度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Ninja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RV-MalTrace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411479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目标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ARM 透明 malware 分析/调试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RISC-V/Linux 行为语义证据链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79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隔离机制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TrustZone 安全域（EL3 vs normal）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无安全域；RTL 旁路捕获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411479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Trace 源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ARM 标准 ETM packet（指令流）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自定义 committed behavior event schema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79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系统修改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需定制 TrustZone 固件（ATF）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零修改任何系统软件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411479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分析方式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在线 trace + 人工 debug（GDB-like）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离线 trace 分析 + 自动化行为规则匹配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79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威胁模型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面向 evasive + 部分 privileged malware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trusted kernel、user-mode malware-like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61722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一句话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Ninja 是分析工具（trace + debug 供人工分析）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RV-MalTrace 是证据生成器（自动化行为规则匹配 + 审计证据链）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dsl:avoid-bg"/>
          <p:cNvSpPr/>
          <p:nvPr/>
        </p:nvSpPr>
        <p:spPr>
          <a:xfrm>
            <a:off x="571500" y="5238750"/>
            <a:ext cx="11049000" cy="762000"/>
          </a:xfrm>
          <a:prstGeom prst="roundRect">
            <a:avLst>
              <a:gd name="adj" fmla="val 6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sl:avoid-text"/>
          <p:cNvSpPr txBox="1"/>
          <p:nvPr/>
        </p:nvSpPr>
        <p:spPr>
          <a:xfrm>
            <a:off x="762000" y="5238750"/>
            <a:ext cx="10668000" cy="762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50000"/>
              </a:lnSpc>
            </a:pPr>
            <a:r>
              <a:rPr b="1" sz="1050" noProof="1">
                <a:solidFill>
                  <a:srgbClr val="EF4444"/>
                </a:solidFill>
                <a:latin typeface="QuattrocentoSans"/>
                <a:ea typeface="MiSans"/>
              </a:rPr>
              <a:t>避免的说法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：RV-MalTrace is transparent like Ninja. / RV-MalTrace can analyze privileged malware like Ninja. / RV-MalTrace achieves Ninja-level overhead.</a:t>
            </a:r>
          </a:p>
        </p:txBody>
      </p:sp>
      <p:sp>
        <p:nvSpPr>
          <p:cNvPr id="10" name="dsl:footer|s=$caption"/>
          <p:cNvSpPr txBox="1"/>
          <p:nvPr/>
        </p:nvSpPr>
        <p:spPr>
          <a:xfrm>
            <a:off x="571500" y="647700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RV-MalTrace 深度技术汇报</a:t>
            </a:r>
          </a:p>
        </p:txBody>
      </p:sp>
      <p:sp>
        <p:nvSpPr>
          <p:cNvPr id="11" name="dsl:page-num|s=$caption"/>
          <p:cNvSpPr txBox="1"/>
          <p:nvPr/>
        </p:nvSpPr>
        <p:spPr>
          <a:xfrm>
            <a:off x="11239500" y="6477000"/>
            <a:ext cx="571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r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nav-bg"/>
          <p:cNvSpPr/>
          <p:nvPr/>
        </p:nvSpPr>
        <p:spPr>
          <a:xfrm>
            <a:off x="0" y="0"/>
            <a:ext cx="12192000" cy="381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sl:nav-text"/>
          <p:cNvSpPr txBox="1"/>
          <p:nvPr/>
        </p:nvSpPr>
        <p:spPr>
          <a:xfrm>
            <a:off x="571500" y="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FFFFFF"/>
                </a:solidFill>
                <a:latin typeface="QuattrocentoSans"/>
                <a:ea typeface="MiSans"/>
              </a:rPr>
              <a:t>08 Related Work</a:t>
            </a:r>
          </a:p>
        </p:txBody>
      </p:sp>
      <p:sp>
        <p:nvSpPr>
          <p:cNvPr id="4" name="dsl:page-title|s=$title"/>
          <p:cNvSpPr txBox="1"/>
          <p:nvPr/>
        </p:nvSpPr>
        <p:spPr>
          <a:xfrm>
            <a:off x="571500" y="523875"/>
            <a:ext cx="8572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400" noProof="1">
                <a:solidFill>
                  <a:srgbClr val="2563EB"/>
                </a:solidFill>
                <a:latin typeface="QuattrocentoSans"/>
                <a:ea typeface="MiSans"/>
              </a:rPr>
              <a:t>HART（ESORICS'20）与 μAFL（ICSE'22）</a:t>
            </a:r>
          </a:p>
        </p:txBody>
      </p:sp>
      <p:sp>
        <p:nvSpPr>
          <p:cNvPr id="5" name="dsl:left-card-bg"/>
          <p:cNvSpPr/>
          <p:nvPr/>
        </p:nvSpPr>
        <p:spPr>
          <a:xfrm>
            <a:off x="571500" y="1047750"/>
            <a:ext cx="5381625" cy="2667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sl:left-card-title"/>
          <p:cNvSpPr txBox="1"/>
          <p:nvPr/>
        </p:nvSpPr>
        <p:spPr>
          <a:xfrm>
            <a:off x="762000" y="1143000"/>
            <a:ext cx="5000625" cy="333375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500" noProof="1">
                <a:solidFill>
                  <a:srgbClr val="2563EB"/>
                </a:solidFill>
                <a:latin typeface="QuattrocentoSans"/>
                <a:ea typeface="MiSans"/>
              </a:rPr>
              <a:t>HART</a:t>
            </a:r>
            <a:r>
              <a:rPr sz="1500" noProof="1">
                <a:solidFill>
                  <a:srgbClr val="2563EB"/>
                </a:solidFill>
                <a:latin typeface="QuattrocentoSans"/>
                <a:ea typeface="MiSans"/>
              </a:rPr>
              <a:t> </a:t>
            </a: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内核模块追踪</a:t>
            </a:r>
          </a:p>
        </p:txBody>
      </p:sp>
      <p:sp>
        <p:nvSpPr>
          <p:cNvPr id="7" name="dsl:left-card-body"/>
          <p:cNvSpPr txBox="1"/>
          <p:nvPr/>
        </p:nvSpPr>
        <p:spPr>
          <a:xfrm>
            <a:off x="762000" y="1524000"/>
            <a:ext cx="5000625" cy="204787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6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目标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：Linux 内核模块（binary-only）动态追踪与保护</a:t>
            </a:r>
          </a:p>
          <a:p>
            <a:pPr algn="l">
              <a:lnSpc>
                <a:spcPct val="16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平台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：ARM Cortex-A8（i.MX53）</a:t>
            </a:r>
          </a:p>
          <a:p>
            <a:pPr algn="l">
              <a:lnSpc>
                <a:spcPct val="16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机制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：ETM + ETB + PMU；小 ETB 的连续 trace 备份</a:t>
            </a:r>
          </a:p>
          <a:p>
            <a:pPr algn="l">
              <a:lnSpc>
                <a:spcPct val="16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用途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：在线 kernel module protection（HASAN）</a:t>
            </a:r>
          </a:p>
          <a:p>
            <a:pPr algn="l">
              <a:lnSpc>
                <a:spcPct val="16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评测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：overhead 5-6%，检测 6 个 heap CVE</a:t>
            </a:r>
          </a:p>
          <a:p>
            <a:pPr algn="l">
              <a:lnSpc>
                <a:spcPct val="160000"/>
              </a:lnSpc>
            </a:pPr>
            <a:r>
              <a:rPr b="1" sz="1050" noProof="1">
                <a:solidFill>
                  <a:srgbClr val="EF4444"/>
                </a:solidFill>
                <a:latin typeface="QuattrocentoSans"/>
                <a:ea typeface="MiSans"/>
              </a:rPr>
              <a:t>≠ 我们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：我们不检测 kernel CVE，不保护内核模块</a:t>
            </a:r>
          </a:p>
        </p:txBody>
      </p:sp>
      <p:sp>
        <p:nvSpPr>
          <p:cNvPr id="8" name="dsl:right-card-bg"/>
          <p:cNvSpPr/>
          <p:nvPr/>
        </p:nvSpPr>
        <p:spPr>
          <a:xfrm>
            <a:off x="6238875" y="1047750"/>
            <a:ext cx="5381625" cy="2667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sl:right-card-title"/>
          <p:cNvSpPr txBox="1"/>
          <p:nvPr/>
        </p:nvSpPr>
        <p:spPr>
          <a:xfrm>
            <a:off x="6429375" y="1143000"/>
            <a:ext cx="5000625" cy="333375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500" noProof="1">
                <a:solidFill>
                  <a:srgbClr val="2563EB"/>
                </a:solidFill>
                <a:latin typeface="QuattrocentoSans"/>
                <a:ea typeface="MiSans"/>
              </a:rPr>
              <a:t>μAFL</a:t>
            </a:r>
            <a:r>
              <a:rPr sz="1500" noProof="1">
                <a:solidFill>
                  <a:srgbClr val="2563EB"/>
                </a:solidFill>
                <a:latin typeface="QuattrocentoSans"/>
                <a:ea typeface="MiSans"/>
              </a:rPr>
              <a:t> </a:t>
            </a: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固件 fuzzing</a:t>
            </a:r>
          </a:p>
        </p:txBody>
      </p:sp>
      <p:sp>
        <p:nvSpPr>
          <p:cNvPr id="10" name="dsl:right-card-body"/>
          <p:cNvSpPr txBox="1"/>
          <p:nvPr/>
        </p:nvSpPr>
        <p:spPr>
          <a:xfrm>
            <a:off x="6429375" y="1524000"/>
            <a:ext cx="5000625" cy="204787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6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目标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：MCU 固件非侵入式 feedback-driven fuzzing</a:t>
            </a:r>
          </a:p>
          <a:p>
            <a:pPr algn="l">
              <a:lnSpc>
                <a:spcPct val="16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平台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：ARM Cortex-M（NXP/STM32）</a:t>
            </a:r>
          </a:p>
          <a:p>
            <a:pPr algn="l">
              <a:lnSpc>
                <a:spcPct val="16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机制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：ETM 指令 trace → coverage bitmap；DWT 过滤</a:t>
            </a:r>
          </a:p>
          <a:p>
            <a:pPr algn="l">
              <a:lnSpc>
                <a:spcPct val="16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用途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：fuzzing 漏洞发现（13 zero-day, 8 CVE）</a:t>
            </a:r>
          </a:p>
          <a:p>
            <a:pPr algn="l">
              <a:lnSpc>
                <a:spcPct val="16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评测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：bugs/CVEs 发现数量</a:t>
            </a:r>
          </a:p>
          <a:p>
            <a:pPr algn="l">
              <a:lnSpc>
                <a:spcPct val="160000"/>
              </a:lnSpc>
            </a:pPr>
            <a:r>
              <a:rPr b="1" sz="1050" noProof="1">
                <a:solidFill>
                  <a:srgbClr val="EF4444"/>
                </a:solidFill>
                <a:latin typeface="QuattrocentoSans"/>
                <a:ea typeface="MiSans"/>
              </a:rPr>
              <a:t>≠ 我们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：我们不 fuzzing，不发现漏洞</a:t>
            </a:r>
          </a:p>
        </p:txBody>
      </p:sp>
      <p:sp>
        <p:nvSpPr>
          <p:cNvPr id="11" name="dsl:bottom-bg"/>
          <p:cNvSpPr/>
          <p:nvPr/>
        </p:nvSpPr>
        <p:spPr>
          <a:xfrm>
            <a:off x="571500" y="3905250"/>
            <a:ext cx="11049000" cy="2095500"/>
          </a:xfrm>
          <a:prstGeom prst="roundRect">
            <a:avLst>
              <a:gd name="adj" fmla="val 4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l:bottom-title"/>
          <p:cNvSpPr txBox="1"/>
          <p:nvPr/>
        </p:nvSpPr>
        <p:spPr>
          <a:xfrm>
            <a:off x="762000" y="4000500"/>
            <a:ext cx="10668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200" noProof="1">
                <a:solidFill>
                  <a:srgbClr val="1E293B"/>
                </a:solidFill>
                <a:latin typeface="QuattrocentoSans"/>
                <a:ea typeface="MiSans"/>
              </a:rPr>
              <a:t>核心差异总结</a:t>
            </a:r>
          </a:p>
        </p:txBody>
      </p:sp>
      <p:sp>
        <p:nvSpPr>
          <p:cNvPr id="13" name="dsl:bottom-body"/>
          <p:cNvSpPr txBox="1"/>
          <p:nvPr/>
        </p:nvSpPr>
        <p:spPr>
          <a:xfrm>
            <a:off x="762000" y="4333875"/>
            <a:ext cx="10668000" cy="157162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6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HART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：面向内核模块（kernel space），必须修改内核模块加载过程（wrapper 注入）。我们是用户空间（user space），零内核修改。</a:t>
            </a:r>
          </a:p>
          <a:p>
            <a:pPr algn="l">
              <a:lnSpc>
                <a:spcPct val="16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μAFL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：安全测试工具（找 bug），输出是 AFL 覆盖率 bitmap。我们是行为审计证据链（追行为），输出是 JSONL trace 流 + 行为图 + 审计规则。</a:t>
            </a:r>
          </a:p>
          <a:p>
            <a:pPr algn="l">
              <a:lnSpc>
                <a:spcPct val="16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共性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：两者都利用硬件 trace 实现非侵入式监控，但 HART 监控内核，μAFL 利用覆盖率，我们构建 OS 语义事件。</a:t>
            </a:r>
          </a:p>
        </p:txBody>
      </p:sp>
      <p:sp>
        <p:nvSpPr>
          <p:cNvPr id="14" name="dsl:footer|s=$caption"/>
          <p:cNvSpPr txBox="1"/>
          <p:nvPr/>
        </p:nvSpPr>
        <p:spPr>
          <a:xfrm>
            <a:off x="571500" y="647700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RV-MalTrace 深度技术汇报</a:t>
            </a:r>
          </a:p>
        </p:txBody>
      </p:sp>
      <p:sp>
        <p:nvSpPr>
          <p:cNvPr id="15" name="dsl:page-num|s=$caption"/>
          <p:cNvSpPr txBox="1"/>
          <p:nvPr/>
        </p:nvSpPr>
        <p:spPr>
          <a:xfrm>
            <a:off x="11239500" y="6477000"/>
            <a:ext cx="571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r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nav-bg"/>
          <p:cNvSpPr/>
          <p:nvPr/>
        </p:nvSpPr>
        <p:spPr>
          <a:xfrm>
            <a:off x="0" y="0"/>
            <a:ext cx="12192000" cy="381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sl:nav-text"/>
          <p:cNvSpPr txBox="1"/>
          <p:nvPr/>
        </p:nvSpPr>
        <p:spPr>
          <a:xfrm>
            <a:off x="571500" y="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FFFFFF"/>
                </a:solidFill>
                <a:latin typeface="QuattrocentoSans"/>
                <a:ea typeface="MiSans"/>
              </a:rPr>
              <a:t>08 Related Work</a:t>
            </a:r>
          </a:p>
        </p:txBody>
      </p:sp>
      <p:sp>
        <p:nvSpPr>
          <p:cNvPr id="4" name="dsl:page-title|s=$title"/>
          <p:cNvSpPr txBox="1"/>
          <p:nvPr/>
        </p:nvSpPr>
        <p:spPr>
          <a:xfrm>
            <a:off x="571500" y="523875"/>
            <a:ext cx="8572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400" noProof="1">
                <a:solidFill>
                  <a:srgbClr val="2563EB"/>
                </a:solidFill>
                <a:latin typeface="QuattrocentoSans"/>
                <a:ea typeface="MiSans"/>
              </a:rPr>
              <a:t>综合定位：一句话总结</a:t>
            </a:r>
          </a:p>
        </p:txBody>
      </p:sp>
      <p:sp>
        <p:nvSpPr>
          <p:cNvPr id="5" name="dsl:quote-bg"/>
          <p:cNvSpPr/>
          <p:nvPr/>
        </p:nvSpPr>
        <p:spPr>
          <a:xfrm>
            <a:off x="571500" y="1047750"/>
            <a:ext cx="11049000" cy="952500"/>
          </a:xfrm>
          <a:prstGeom prst="roundRect">
            <a:avLst>
              <a:gd name="adj" fmla="val 6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sl:quote-text"/>
          <p:cNvSpPr txBox="1"/>
          <p:nvPr/>
        </p:nvSpPr>
        <p:spPr>
          <a:xfrm>
            <a:off x="762000" y="1095375"/>
            <a:ext cx="10668000" cy="85725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60000"/>
              </a:lnSpc>
            </a:pPr>
            <a:r>
              <a:rPr sz="1350" noProof="1">
                <a:solidFill>
                  <a:srgbClr val="2563EB"/>
                </a:solidFill>
                <a:latin typeface="QuattrocentoSans"/>
                <a:ea typeface="MiSans"/>
              </a:rPr>
              <a:t>别人用硬件 trace 做</a:t>
            </a:r>
            <a:r>
              <a:rPr b="1" sz="1350" noProof="1">
                <a:solidFill>
                  <a:srgbClr val="2563EB"/>
                </a:solidFill>
                <a:latin typeface="QuattrocentoSans"/>
                <a:ea typeface="MiSans"/>
              </a:rPr>
              <a:t>"防护"</a:t>
            </a:r>
            <a:r>
              <a:rPr sz="1350" noProof="1">
                <a:solidFill>
                  <a:srgbClr val="2563EB"/>
                </a:solidFill>
                <a:latin typeface="QuattrocentoSans"/>
                <a:ea typeface="MiSans"/>
              </a:rPr>
              <a:t>（DIFT、kernel sanitizer）或</a:t>
            </a:r>
            <a:r>
              <a:rPr b="1" sz="1350" noProof="1">
                <a:solidFill>
                  <a:srgbClr val="2563EB"/>
                </a:solidFill>
                <a:latin typeface="QuattrocentoSans"/>
                <a:ea typeface="MiSans"/>
              </a:rPr>
              <a:t>"分析"</a:t>
            </a:r>
            <a:r>
              <a:rPr sz="1350" noProof="1">
                <a:solidFill>
                  <a:srgbClr val="2563EB"/>
                </a:solidFill>
                <a:latin typeface="QuattrocentoSans"/>
                <a:ea typeface="MiSans"/>
              </a:rPr>
              <a:t>（透明调试、模糊测试）；</a:t>
            </a:r>
          </a:p>
          <a:p>
            <a:pPr algn="l">
              <a:lnSpc>
                <a:spcPct val="160000"/>
              </a:lnSpc>
            </a:pPr>
            <a:r>
              <a:rPr sz="1350" noProof="1">
                <a:solidFill>
                  <a:srgbClr val="2563EB"/>
                </a:solidFill>
                <a:latin typeface="QuattrocentoSans"/>
                <a:ea typeface="MiSans"/>
              </a:rPr>
              <a:t>我们用硬件 trace 做</a:t>
            </a:r>
            <a:r>
              <a:rPr b="1" sz="1350" noProof="1">
                <a:solidFill>
                  <a:srgbClr val="2563EB"/>
                </a:solidFill>
                <a:latin typeface="QuattrocentoSans"/>
                <a:ea typeface="MiSans"/>
              </a:rPr>
              <a:t>"行为证据"</a:t>
            </a:r>
            <a:r>
              <a:rPr sz="1350" noProof="1">
                <a:solidFill>
                  <a:srgbClr val="2563EB"/>
                </a:solidFill>
                <a:latin typeface="QuattrocentoSans"/>
                <a:ea typeface="MiSans"/>
              </a:rPr>
              <a:t>——从 RISC-V 指令流水线直接提取操作系统语义事件，形成可审计、可校验、可解释的恶意软件行为证据链。</a:t>
            </a:r>
          </a:p>
        </p:txBody>
      </p:sp>
      <p:sp>
        <p:nvSpPr>
          <p:cNvPr id="7" name="dsl:diff-title"/>
          <p:cNvSpPr txBox="1"/>
          <p:nvPr/>
        </p:nvSpPr>
        <p:spPr>
          <a:xfrm>
            <a:off x="571500" y="2190750"/>
            <a:ext cx="3810000" cy="333375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500" noProof="1">
                <a:solidFill>
                  <a:srgbClr val="1E293B"/>
                </a:solidFill>
                <a:latin typeface="QuattrocentoSans"/>
                <a:ea typeface="MiSans"/>
              </a:rPr>
              <a:t>五个核心差异</a:t>
            </a:r>
          </a:p>
        </p:txBody>
      </p:sp>
      <p:sp>
        <p:nvSpPr>
          <p:cNvPr id="8" name="dsl:diff-body"/>
          <p:cNvSpPr txBox="1"/>
          <p:nvPr/>
        </p:nvSpPr>
        <p:spPr>
          <a:xfrm>
            <a:off x="571500" y="2571750"/>
            <a:ext cx="11049000" cy="2286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70000"/>
              </a:lnSpc>
            </a:pPr>
            <a:r>
              <a:rPr b="1" sz="1200" noProof="1">
                <a:solidFill>
                  <a:srgbClr val="2563EB"/>
                </a:solidFill>
                <a:latin typeface="QuattrocentoSans"/>
                <a:ea typeface="MiSans"/>
              </a:rPr>
              <a:t>1. 自主 RTL 设计</a:t>
            </a:r>
            <a:r>
              <a:rPr sz="1200" noProof="1">
                <a:solidFill>
                  <a:srgbClr val="1E293B"/>
                </a:solidFill>
                <a:latin typeface="QuattrocentoSans"/>
                <a:ea typeface="MiSans"/>
              </a:rPr>
              <a:t>　不依赖 ARM ETM/ETB/PMU 等厂商调试 IP，可适配任何支持 RVFI 的 RISC-V core</a:t>
            </a:r>
          </a:p>
          <a:p>
            <a:pPr algn="l">
              <a:lnSpc>
                <a:spcPct val="170000"/>
              </a:lnSpc>
            </a:pPr>
            <a:r>
              <a:rPr b="1" sz="1200" noProof="1">
                <a:solidFill>
                  <a:srgbClr val="2563EB"/>
                </a:solidFill>
                <a:latin typeface="QuattrocentoSans"/>
                <a:ea typeface="MiSans"/>
              </a:rPr>
              <a:t>2. 零系统软件修改</a:t>
            </a:r>
            <a:r>
              <a:rPr sz="1200" noProof="1">
                <a:solidFill>
                  <a:srgbClr val="1E293B"/>
                </a:solidFill>
                <a:latin typeface="QuattrocentoSans"/>
                <a:ea typeface="MiSans"/>
              </a:rPr>
              <a:t>　无 eBPF、无 kernel helper、无编译器插桩，对内核/固件/用户态均零修改</a:t>
            </a:r>
          </a:p>
          <a:p>
            <a:pPr algn="l">
              <a:lnSpc>
                <a:spcPct val="170000"/>
              </a:lnSpc>
            </a:pPr>
            <a:r>
              <a:rPr b="1" sz="1200" noProof="1">
                <a:solidFill>
                  <a:srgbClr val="2563EB"/>
                </a:solidFill>
                <a:latin typeface="QuattrocentoSans"/>
                <a:ea typeface="MiSans"/>
              </a:rPr>
              <a:t>3. OS 语义事件原生捕获</a:t>
            </a:r>
            <a:r>
              <a:rPr sz="1200" noProof="1">
                <a:solidFill>
                  <a:srgbClr val="1E293B"/>
                </a:solidFill>
                <a:latin typeface="QuattrocentoSans"/>
                <a:ea typeface="MiSans"/>
              </a:rPr>
              <a:t>　RTL 层直接发出 SYSCALL_ENTRY、TRAP、PRIV 等语义事件，无需指令流解码</a:t>
            </a:r>
          </a:p>
          <a:p>
            <a:pPr algn="l">
              <a:lnSpc>
                <a:spcPct val="170000"/>
              </a:lnSpc>
            </a:pPr>
            <a:r>
              <a:rPr b="1" sz="1200" noProof="1">
                <a:solidFill>
                  <a:srgbClr val="2563EB"/>
                </a:solidFill>
                <a:latin typeface="QuattrocentoSans"/>
                <a:ea typeface="MiSans"/>
              </a:rPr>
              <a:t>4. 自动化行为审计</a:t>
            </a:r>
            <a:r>
              <a:rPr sz="1200" noProof="1">
                <a:solidFill>
                  <a:srgbClr val="1E293B"/>
                </a:solidFill>
                <a:latin typeface="QuattrocentoSans"/>
                <a:ea typeface="MiSans"/>
              </a:rPr>
              <a:t>　从 trace 到行为规则匹配的全链条自动化，面向可审计证据链</a:t>
            </a:r>
          </a:p>
          <a:p>
            <a:pPr algn="l">
              <a:lnSpc>
                <a:spcPct val="170000"/>
              </a:lnSpc>
            </a:pPr>
            <a:r>
              <a:rPr b="1" sz="1200" noProof="1">
                <a:solidFill>
                  <a:srgbClr val="2563EB"/>
                </a:solidFill>
                <a:latin typeface="QuattrocentoSans"/>
                <a:ea typeface="MiSans"/>
              </a:rPr>
              <a:t>5. RISC-V 生态差异化</a:t>
            </a:r>
            <a:r>
              <a:rPr sz="1200" noProof="1">
                <a:solidFill>
                  <a:srgbClr val="1E293B"/>
                </a:solidFill>
                <a:latin typeface="QuattrocentoSans"/>
                <a:ea typeface="MiSans"/>
              </a:rPr>
              <a:t>　首个面向 RISC-V/Linux 恶意软件行为审计的硬件 trace 框架</a:t>
            </a:r>
          </a:p>
        </p:txBody>
      </p:sp>
      <p:sp>
        <p:nvSpPr>
          <p:cNvPr id="9" name="dsl:avoid-title"/>
          <p:cNvSpPr txBox="1"/>
          <p:nvPr/>
        </p:nvSpPr>
        <p:spPr>
          <a:xfrm>
            <a:off x="571500" y="495300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200" noProof="1">
                <a:solidFill>
                  <a:srgbClr val="EF4444"/>
                </a:solidFill>
                <a:latin typeface="QuattrocentoSans"/>
                <a:ea typeface="MiSans"/>
              </a:rPr>
              <a:t>绝对避免的说法</a:t>
            </a:r>
          </a:p>
        </p:txBody>
      </p:sp>
      <p:sp>
        <p:nvSpPr>
          <p:cNvPr id="10" name="dsl:avoid-body"/>
          <p:cNvSpPr txBox="1"/>
          <p:nvPr/>
        </p:nvSpPr>
        <p:spPr>
          <a:xfrm>
            <a:off x="571500" y="5286375"/>
            <a:ext cx="11049000" cy="762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6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RV-MalTrace is transparent like Ninja. / RV-MalTrace detects real malware. / RV-MalTrace provides runtime protection like Raft.</a:t>
            </a:r>
          </a:p>
          <a:p>
            <a:pPr algn="l">
              <a:lnSpc>
                <a:spcPct val="160000"/>
              </a:lnSpc>
            </a:pP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RV-MalTrace finds vulnerabilities like μAFL. / RV-MalTrace protects kernel modules like HART.</a:t>
            </a:r>
          </a:p>
        </p:txBody>
      </p:sp>
      <p:sp>
        <p:nvSpPr>
          <p:cNvPr id="11" name="dsl:footer|s=$caption"/>
          <p:cNvSpPr txBox="1"/>
          <p:nvPr/>
        </p:nvSpPr>
        <p:spPr>
          <a:xfrm>
            <a:off x="571500" y="647700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RV-MalTrace 深度技术汇报</a:t>
            </a:r>
          </a:p>
        </p:txBody>
      </p:sp>
      <p:sp>
        <p:nvSpPr>
          <p:cNvPr id="12" name="dsl:page-num|s=$caption"/>
          <p:cNvSpPr txBox="1"/>
          <p:nvPr/>
        </p:nvSpPr>
        <p:spPr>
          <a:xfrm>
            <a:off x="11239500" y="6477000"/>
            <a:ext cx="571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r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nav-bg"/>
          <p:cNvSpPr/>
          <p:nvPr/>
        </p:nvSpPr>
        <p:spPr>
          <a:xfrm>
            <a:off x="0" y="0"/>
            <a:ext cx="12192000" cy="381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sl:nav-text"/>
          <p:cNvSpPr txBox="1"/>
          <p:nvPr/>
        </p:nvSpPr>
        <p:spPr>
          <a:xfrm>
            <a:off x="571500" y="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050" noProof="1">
                <a:solidFill>
                  <a:srgbClr val="FFFFFF"/>
                </a:solidFill>
                <a:latin typeface="QuattrocentoSans"/>
                <a:ea typeface="MiSans"/>
              </a:rPr>
              <a:t>09 结果与边界</a:t>
            </a:r>
          </a:p>
        </p:txBody>
      </p:sp>
      <p:sp>
        <p:nvSpPr>
          <p:cNvPr id="4" name="dsl:page-title|s=$title"/>
          <p:cNvSpPr txBox="1"/>
          <p:nvPr/>
        </p:nvSpPr>
        <p:spPr>
          <a:xfrm>
            <a:off x="571500" y="523875"/>
            <a:ext cx="85725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400" noProof="1">
                <a:solidFill>
                  <a:srgbClr val="2563EB"/>
                </a:solidFill>
                <a:latin typeface="QuattrocentoSans"/>
                <a:ea typeface="MiSans"/>
              </a:rPr>
              <a:t>Evidence Matrix 详细版</a:t>
            </a:r>
          </a:p>
        </p:txBody>
      </p:sp>
      <p:graphicFrame>
        <p:nvGraphicFramePr>
          <p:cNvPr id="5" name="dsl:matrix-table"/>
          <p:cNvGraphicFramePr>
            <a:graphicFrameLocks noGrp="1"/>
          </p:cNvGraphicFramePr>
          <p:nvPr/>
        </p:nvGraphicFramePr>
        <p:xfrm>
          <a:off x="571500" y="1047750"/>
          <a:ext cx="11049000" cy="457199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762250"/>
                <a:gridCol w="2762250"/>
                <a:gridCol w="2762250"/>
                <a:gridCol w="2762250"/>
              </a:tblGrid>
              <a:tr h="411479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Claim 类别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证据级别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支撑 Artifact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FFFFFF"/>
                          </a:solidFill>
                          <a:latin typeface="QuattrocentoSans"/>
                          <a:ea typeface="MiSans"/>
                        </a:rPr>
                        <a:t>边界说明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411479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Hardware trace events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Reportable ✅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RVFI 提交级信号 + BRAM records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旁路采集, 不修改 CVA6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79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ELF code attribution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Reportable ✅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exact_elf + build-id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Static analysis, 非 board-native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411479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Runtime OS map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Reportable ✅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/proc/pid/maps + exe hash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受控程序, 非 in-the-wild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79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Source-line attribution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Reportable ✅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.debug_line + DWARF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Debug ELF, 非 stripped binary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411479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qemu / strace 验证基准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Validation ⚠️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qemu/strace transcript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仅验证，不作为 hardware claim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79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Companion string (full)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Validation ⚠️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Host-side read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Not hardware-derived string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411479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Streaming/DMA throughput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Open ❌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None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Future work, 当前 sustained=0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79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Cycle-level runtime overhead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Open ❌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None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静态资源 delta ≠ runtime slowdown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411479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Real malware detection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Open ❌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None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Safe surrogates only, 非 real malware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 b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Malware family coverage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b="1"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Open ❌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None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/>
                      <a:r>
                        <a:rPr sz="1200" noProof="1">
                          <a:solidFill>
                            <a:srgbClr val="1E293B"/>
                          </a:solidFill>
                          <a:latin typeface="QuattrocentoSans"/>
                          <a:ea typeface="MiSans"/>
                        </a:rPr>
                        <a:t>12 workloads, 非 production coverage</a:t>
                      </a: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dsl:bottom-note"/>
          <p:cNvSpPr txBox="1"/>
          <p:nvPr/>
        </p:nvSpPr>
        <p:spPr>
          <a:xfrm>
            <a:off x="571500" y="5762625"/>
            <a:ext cx="11049000" cy="47625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50000"/>
              </a:lnSpc>
            </a:pPr>
            <a:r>
              <a:rPr b="1" sz="1050" noProof="1">
                <a:solidFill>
                  <a:srgbClr val="1E293B"/>
                </a:solidFill>
                <a:latin typeface="QuattrocentoSans"/>
                <a:ea typeface="MiSans"/>
              </a:rPr>
              <a:t>读法提示</a:t>
            </a:r>
            <a:r>
              <a:rPr sz="1050" noProof="1">
                <a:solidFill>
                  <a:srgbClr val="1E293B"/>
                </a:solidFill>
                <a:latin typeface="QuattrocentoSans"/>
                <a:ea typeface="MiSans"/>
              </a:rPr>
              <a:t>：蓝色 ✅ = 可报告硬证据；灰绿 ⚠️ = 验证辅助；红色 ❌ = 开放边界。每个报告项都必须能追到 artifact 与 数据溯源标签。</a:t>
            </a:r>
          </a:p>
        </p:txBody>
      </p:sp>
      <p:sp>
        <p:nvSpPr>
          <p:cNvPr id="7" name="dsl:footer|s=$caption"/>
          <p:cNvSpPr txBox="1"/>
          <p:nvPr/>
        </p:nvSpPr>
        <p:spPr>
          <a:xfrm>
            <a:off x="571500" y="6477000"/>
            <a:ext cx="38100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RV-MalTrace 深度技术汇报</a:t>
            </a:r>
          </a:p>
        </p:txBody>
      </p:sp>
      <p:sp>
        <p:nvSpPr>
          <p:cNvPr id="8" name="dsl:page-num|s=$caption"/>
          <p:cNvSpPr txBox="1"/>
          <p:nvPr/>
        </p:nvSpPr>
        <p:spPr>
          <a:xfrm>
            <a:off x="11239500" y="6477000"/>
            <a:ext cx="571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r">
              <a:lnSpc>
                <a:spcPct val="140000"/>
              </a:lnSpc>
            </a:pPr>
            <a:r>
              <a:rPr sz="1050" noProof="1">
                <a:solidFill>
                  <a:srgbClr val="64748B"/>
                </a:solidFill>
                <a:latin typeface="QuattrocentoSans"/>
                <a:ea typeface="MiSans"/>
              </a:rPr>
              <a:t>49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sl:final-label"/>
          <p:cNvSpPr txBox="1"/>
          <p:nvPr/>
        </p:nvSpPr>
        <p:spPr>
          <a:xfrm>
            <a:off x="952500" y="1524000"/>
            <a:ext cx="2857500" cy="28575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sz="1200" noProof="1">
                <a:solidFill>
                  <a:srgbClr val="FFFFFF">
                    <a:alpha val="60000"/>
                  </a:srgbClr>
                </a:solidFill>
                <a:latin typeface="QuattrocentoSans"/>
                <a:ea typeface="MiSans"/>
              </a:rPr>
              <a:t>CONCLUSION</a:t>
            </a:r>
          </a:p>
        </p:txBody>
      </p:sp>
      <p:sp>
        <p:nvSpPr>
          <p:cNvPr id="3" name="dsl:final-title"/>
          <p:cNvSpPr txBox="1"/>
          <p:nvPr/>
        </p:nvSpPr>
        <p:spPr>
          <a:xfrm>
            <a:off x="952500" y="1905000"/>
            <a:ext cx="8572500" cy="5715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2700" noProof="1">
                <a:solidFill>
                  <a:srgbClr val="FFFFFF"/>
                </a:solidFill>
                <a:latin typeface="QuattrocentoSans"/>
                <a:ea typeface="MiSans"/>
              </a:rPr>
              <a:t>核心结论</a:t>
            </a:r>
          </a:p>
        </p:txBody>
      </p:sp>
      <p:sp>
        <p:nvSpPr>
          <p:cNvPr id="4" name="dsl:final-divider"/>
          <p:cNvSpPr/>
          <p:nvPr/>
        </p:nvSpPr>
        <p:spPr>
          <a:xfrm>
            <a:off x="952500" y="2619375"/>
            <a:ext cx="7620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sl:final-body"/>
          <p:cNvSpPr txBox="1"/>
          <p:nvPr/>
        </p:nvSpPr>
        <p:spPr>
          <a:xfrm>
            <a:off x="952500" y="2857500"/>
            <a:ext cx="9525000" cy="20955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70000"/>
              </a:lnSpc>
            </a:pPr>
            <a:r>
              <a:rPr sz="1350" noProof="1">
                <a:solidFill>
                  <a:srgbClr val="FFFFFF">
                    <a:alpha val="86666"/>
                  </a:srgbClr>
                </a:solidFill>
                <a:latin typeface="QuattrocentoSans"/>
                <a:ea typeface="MiSans"/>
              </a:rPr>
              <a:t>RV-MalTrace 当前闭合的是一条</a:t>
            </a:r>
            <a:r>
              <a:rPr b="1" sz="1350" noProof="1">
                <a:solidFill>
                  <a:srgbClr val="FFFFFF">
                    <a:alpha val="86666"/>
                  </a:srgbClr>
                </a:solidFill>
                <a:latin typeface="QuattrocentoSans"/>
                <a:ea typeface="MiSans"/>
              </a:rPr>
              <a:t>受控板级行为重建证据链</a:t>
            </a:r>
          </a:p>
          <a:p>
            <a:pPr algn="l">
              <a:lnSpc>
                <a:spcPct val="170000"/>
              </a:lnSpc>
            </a:pPr>
            <a:r>
              <a:rPr sz="1350" noProof="1">
                <a:solidFill>
                  <a:srgbClr val="FFFFFF">
                    <a:alpha val="86666"/>
                  </a:srgbClr>
                </a:solidFill>
                <a:latin typeface="QuattrocentoSans"/>
                <a:ea typeface="MiSans"/>
              </a:rPr>
              <a:t>硬件侧在 CVA6/RVFI 提交路径捕获 marker、trap、privilege、syscall 和 bounded ARG_MEM 事件</a:t>
            </a:r>
          </a:p>
          <a:p>
            <a:pPr algn="l">
              <a:lnSpc>
                <a:spcPct val="170000"/>
              </a:lnSpc>
            </a:pPr>
            <a:r>
              <a:rPr sz="1350" noProof="1">
                <a:solidFill>
                  <a:srgbClr val="FFFFFF">
                    <a:alpha val="86666"/>
                  </a:srgbClr>
                </a:solidFill>
                <a:latin typeface="QuattrocentoSans"/>
                <a:ea typeface="MiSans"/>
              </a:rPr>
              <a:t>BRAM ring 记录 sequence 和 drop/wrap counters</a:t>
            </a:r>
          </a:p>
          <a:p>
            <a:pPr algn="l">
              <a:lnSpc>
                <a:spcPct val="170000"/>
              </a:lnSpc>
            </a:pPr>
            <a:r>
              <a:rPr sz="1350" noProof="1">
                <a:solidFill>
                  <a:srgbClr val="FFFFFF">
                    <a:alpha val="86666"/>
                  </a:srgbClr>
                </a:solidFill>
                <a:latin typeface="QuattrocentoSans"/>
                <a:ea typeface="MiSans"/>
              </a:rPr>
              <a:t>主机侧先用 标记窗口准入检查 接受 128/142 次 board attempts 中的完整窗口，并保留 14 个失败尝试</a:t>
            </a:r>
          </a:p>
          <a:p>
            <a:pPr algn="l">
              <a:lnSpc>
                <a:spcPct val="170000"/>
              </a:lnSpc>
            </a:pPr>
            <a:r>
              <a:rPr sz="1350" noProof="1">
                <a:solidFill>
                  <a:srgbClr val="FFFFFF">
                    <a:alpha val="86666"/>
                  </a:srgbClr>
                </a:solidFill>
                <a:latin typeface="QuattrocentoSans"/>
                <a:ea typeface="MiSans"/>
              </a:rPr>
              <a:t>再用 目标 ELF 精确映射 和 runtime process map 把 PC 绑定到具体 binary 和 process</a:t>
            </a:r>
          </a:p>
          <a:p>
            <a:pPr algn="l">
              <a:lnSpc>
                <a:spcPct val="170000"/>
              </a:lnSpc>
            </a:pPr>
            <a:r>
              <a:rPr sz="1350" noProof="1">
                <a:solidFill>
                  <a:srgbClr val="FFFFFF">
                    <a:alpha val="86666"/>
                  </a:srgbClr>
                </a:solidFill>
                <a:latin typeface="QuattrocentoSans"/>
                <a:ea typeface="MiSans"/>
              </a:rPr>
              <a:t>然后恢复 syscall sequence、fd/path graph 和 行为图</a:t>
            </a:r>
          </a:p>
          <a:p>
            <a:pPr algn="l">
              <a:lnSpc>
                <a:spcPct val="170000"/>
              </a:lnSpc>
            </a:pPr>
            <a:r>
              <a:rPr sz="1350" noProof="1">
                <a:solidFill>
                  <a:srgbClr val="FFFFFF">
                    <a:alpha val="86666"/>
                  </a:srgbClr>
                </a:solidFill>
                <a:latin typeface="QuattrocentoSans"/>
                <a:ea typeface="MiSans"/>
              </a:rPr>
              <a:t>最后用 字段来源标签 区分 hardware、exact_elf、runtime_os_map 和 validation_oracle</a:t>
            </a:r>
          </a:p>
          <a:p>
            <a:pPr algn="l">
              <a:lnSpc>
                <a:spcPct val="170000"/>
              </a:lnSpc>
            </a:pPr>
            <a:r>
              <a:rPr sz="1350" noProof="1">
                <a:solidFill>
                  <a:srgbClr val="FFFFFF">
                    <a:alpha val="86666"/>
                  </a:srgbClr>
                </a:solidFill>
                <a:latin typeface="QuattrocentoSans"/>
                <a:ea typeface="MiSans"/>
              </a:rPr>
              <a:t>当前支持 </a:t>
            </a:r>
            <a:r>
              <a:rPr b="1" sz="1350" noProof="1">
                <a:solidFill>
                  <a:srgbClr val="FFFFFF">
                    <a:alpha val="86666"/>
                  </a:srgbClr>
                </a:solidFill>
                <a:latin typeface="QuattrocentoSans"/>
                <a:ea typeface="MiSans"/>
              </a:rPr>
              <a:t>controlled 基于硬件迹的语义重建</a:t>
            </a:r>
          </a:p>
          <a:p>
            <a:pPr algn="l">
              <a:lnSpc>
                <a:spcPct val="170000"/>
              </a:lnSpc>
            </a:pPr>
            <a:r>
              <a:rPr sz="1350" noProof="1">
                <a:solidFill>
                  <a:srgbClr val="FFFFFF">
                    <a:alpha val="86666"/>
                  </a:srgbClr>
                </a:solidFill>
                <a:latin typeface="QuattrocentoSans"/>
                <a:ea typeface="MiSans"/>
              </a:rPr>
              <a:t>不支持 malware detector、production streaming/DMA 或 cycle-level overhead claim</a:t>
            </a:r>
          </a:p>
        </p:txBody>
      </p:sp>
      <p:sp>
        <p:nvSpPr>
          <p:cNvPr id="6" name="dsl:final-dimensions"/>
          <p:cNvSpPr txBox="1"/>
          <p:nvPr/>
        </p:nvSpPr>
        <p:spPr>
          <a:xfrm>
            <a:off x="952500" y="5143500"/>
            <a:ext cx="5715000" cy="762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FFFFFF">
                    <a:alpha val="53333"/>
                  </a:srgbClr>
                </a:solidFill>
                <a:latin typeface="QuattrocentoSans"/>
                <a:ea typeface="MiSans"/>
              </a:rPr>
              <a:t>本汇报覆盖 8 个维度 + Q&amp;A 备忘</a:t>
            </a:r>
          </a:p>
          <a:p>
            <a:pPr algn="l">
              <a:lnSpc>
                <a:spcPct val="150000"/>
              </a:lnSpc>
            </a:pPr>
            <a:r>
              <a:rPr sz="1050" noProof="1">
                <a:solidFill>
                  <a:srgbClr val="FFFFFF">
                    <a:alpha val="53333"/>
                  </a:srgbClr>
                </a:solidFill>
                <a:latin typeface="QuattrocentoSans"/>
                <a:ea typeface="MiSans"/>
              </a:rPr>
              <a:t>所有内容基于 rtl/trace/、docs/ 和 tools/ 中的真实代码与文档</a:t>
            </a:r>
          </a:p>
        </p:txBody>
      </p:sp>
      <p:sp>
        <p:nvSpPr>
          <p:cNvPr id="7" name="dsl:final-thanks"/>
          <p:cNvSpPr txBox="1"/>
          <p:nvPr/>
        </p:nvSpPr>
        <p:spPr>
          <a:xfrm>
            <a:off x="952500" y="6096000"/>
            <a:ext cx="3810000" cy="38100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pPr algn="l"/>
            <a:r>
              <a:rPr b="1" sz="1500" noProof="1">
                <a:solidFill>
                  <a:srgbClr val="FFFFFF"/>
                </a:solidFill>
                <a:latin typeface="QuattrocentoSans"/>
                <a:ea typeface="MiSans"/>
              </a:rPr>
              <a:t>谢谢老师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<?xml version="1.0" encoding="utf-8"?>
<DslMetadata>
  <Colors>
    <Color name="primary" value="#2563EB"/>
    <Color name="secondary" value="#64748B"/>
    <Color name="accent" value="#F59E0B"/>
    <Color name="background" value="#FFFFFF"/>
    <Color name="text" value="#1E293B"/>
    <Color name="light" value="#F1F5F9"/>
    <Color name="success" value="#10B981"/>
    <Color name="danger" value="#EF4444"/>
    <Color name="white" value="#FFFFFF"/>
    <Color name="border" value="#E2E8F0"/>
  </Colors>
  <TextStyles>
    <TextStyle name="title" font_size="32.0" color="$primary" font_family="QuattrocentoSans, MiSans" font_style="normal"/>
    <TextStyle name="subtitle" font_size="22.0" color="$secondary" font_family="QuattrocentoSans, MiSans" line_height="1.4"/>
    <TextStyle name="body" font_size="18.0" color="$text" font_family="QuattrocentoSans, MiSans" line_height="1.6"/>
    <TextStyle name="caption" font_size="14.0" color="$secondary" font_family="QuattrocentoSans, MiSans" line_height="1.4"/>
    <TextStyle name="hero" font_size="48.0" color="$white" font_family="QuattrocentoSans, MiSans"/>
    <TextStyle name="chapterTitle" font_size="40.0" color="$white" font_family="QuattrocentoSans, MiSans"/>
    <TextStyle name="dataNumber" font_size="44.0" color="$primary" font_family="QuattrocentoSans, MiSans"/>
    <TextStyle name="dataLabel" font_size="14.0" color="$secondary" font_family="QuattrocentoSans, MiSans"/>
  </TextStyles>
  <TableStyles>
    <TableStyle name="default" fontSize="16.0" fontFamily="QuattrocentoSans, MiSans" headerFill="$primary" headerColor="#FFFFFF" headerBold="true" bodyFill="#FFFFFF,$light" bodyColor="$text" firstColumnBold="true">
      <Border style="solid" width="1.0" color="#E2E8F0"/>
    </TableStyle>
  </TableStyles>
</DslMetadata>
</file>

<file path=customXml/itemProps1.xml><?xml version="1.0" encoding="utf-8"?>
<ns0:datastoreItem xmlns:ns0="http://schemas.openxmlformats.org/officeDocument/2006/customXml" ns0:itemID="{A18FDA11-C112-4361-BBE3-9C41CA034A8B}">
  <ns0:schemaRefs/>
</ns0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