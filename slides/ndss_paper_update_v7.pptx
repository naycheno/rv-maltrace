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5c000cbaf6480f" /><Relationship Type="http://schemas.openxmlformats.org/officeDocument/2006/relationships/extended-properties" Target="/docProps/app.xml" Id="R903156f54fcc443f" /><Relationship Type="http://schemas.openxmlformats.org/officeDocument/2006/relationships/officeDocument" Target="/ppt/presentation.xml" Id="R9af9bbe294fa4b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67c8d72ce84bcc"/>
  </p:sldMasterIdLst>
  <p:notesMasterIdLst>
    <p:notesMasterId xmlns:r="http://schemas.openxmlformats.org/officeDocument/2006/relationships" r:id="R0401ebd8acbb4a41"/>
  </p:notesMasterIdLst>
  <p:sldIdLst>
    <p:sldId xmlns:r="http://schemas.openxmlformats.org/officeDocument/2006/relationships" id="256" r:id="Rf5e86ca8b5034a24"/>
    <p:sldId xmlns:r="http://schemas.openxmlformats.org/officeDocument/2006/relationships" id="257" r:id="R8b554be49e054f5a"/>
    <p:sldId xmlns:r="http://schemas.openxmlformats.org/officeDocument/2006/relationships" id="258" r:id="R9bd5696f9c894041"/>
    <p:sldId xmlns:r="http://schemas.openxmlformats.org/officeDocument/2006/relationships" id="259" r:id="R78f73f3f806648b1"/>
    <p:sldId xmlns:r="http://schemas.openxmlformats.org/officeDocument/2006/relationships" id="260" r:id="Re5b2c1f668064d63"/>
    <p:sldId xmlns:r="http://schemas.openxmlformats.org/officeDocument/2006/relationships" id="261" r:id="Rb737a744052b4d22"/>
    <p:sldId xmlns:r="http://schemas.openxmlformats.org/officeDocument/2006/relationships" id="262" r:id="R53e2149b49dc4bb3"/>
    <p:sldId xmlns:r="http://schemas.openxmlformats.org/officeDocument/2006/relationships" id="263" r:id="R12f9cdaae68941fb"/>
    <p:sldId xmlns:r="http://schemas.openxmlformats.org/officeDocument/2006/relationships" id="264" r:id="R52f2ee456d454507"/>
    <p:sldId xmlns:r="http://schemas.openxmlformats.org/officeDocument/2006/relationships" id="265" r:id="R8f89f4aeeff94ea3"/>
    <p:sldId xmlns:r="http://schemas.openxmlformats.org/officeDocument/2006/relationships" id="266" r:id="R927e14571e3b427c"/>
    <p:sldId xmlns:r="http://schemas.openxmlformats.org/officeDocument/2006/relationships" id="267" r:id="R42b22633b22047cf"/>
    <p:sldId xmlns:r="http://schemas.openxmlformats.org/officeDocument/2006/relationships" id="268" r:id="R5290ba34fc3141f0"/>
    <p:sldId xmlns:r="http://schemas.openxmlformats.org/officeDocument/2006/relationships" id="269" r:id="R05c2aa0f5ec34441"/>
    <p:sldId xmlns:r="http://schemas.openxmlformats.org/officeDocument/2006/relationships" id="270" r:id="R0785b3b5b26a4299"/>
    <p:sldId xmlns:r="http://schemas.openxmlformats.org/officeDocument/2006/relationships" id="271" r:id="Rdb4c7011c20d4cd0"/>
    <p:sldId xmlns:r="http://schemas.openxmlformats.org/officeDocument/2006/relationships" id="272" r:id="Rbcb42364b4da417f"/>
    <p:sldId xmlns:r="http://schemas.openxmlformats.org/officeDocument/2006/relationships" id="273" r:id="Rbb9ebf95a7c346b5"/>
    <p:sldId xmlns:r="http://schemas.openxmlformats.org/officeDocument/2006/relationships" id="274" r:id="Rdc79467f560e4402"/>
    <p:sldId xmlns:r="http://schemas.openxmlformats.org/officeDocument/2006/relationships" id="275" r:id="Rdcd6ec9951834eef"/>
    <p:sldId xmlns:r="http://schemas.openxmlformats.org/officeDocument/2006/relationships" id="276" r:id="Rd675ac2744e14381"/>
    <p:sldId xmlns:r="http://schemas.openxmlformats.org/officeDocument/2006/relationships" id="277" r:id="R27c69c9a052d4d3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0fbfe68fbc4d01" /><Relationship Type="http://schemas.openxmlformats.org/officeDocument/2006/relationships/slideMaster" Target="/ppt/slideMasters/slideMaster1.xml" Id="R0b67c8d72ce84bcc" /><Relationship Type="http://schemas.openxmlformats.org/officeDocument/2006/relationships/notesMaster" Target="/ppt/notesMasters/notesMaster1.xml" Id="R0401ebd8acbb4a41" /><Relationship Type="http://schemas.openxmlformats.org/officeDocument/2006/relationships/presProps" Target="/ppt/presProps.xml" Id="R0c2d1786d58e4bd7" /><Relationship Type="http://schemas.openxmlformats.org/officeDocument/2006/relationships/tableStyles" Target="/ppt/tableStyles.xml" Id="R9b082ffedbd84b88" /><Relationship Type="http://schemas.openxmlformats.org/officeDocument/2006/relationships/slide" Target="/ppt/slides/slide1.xml" Id="Rf5e86ca8b5034a24" /><Relationship Type="http://schemas.openxmlformats.org/officeDocument/2006/relationships/slide" Target="/ppt/slides/slide2.xml" Id="R8b554be49e054f5a" /><Relationship Type="http://schemas.openxmlformats.org/officeDocument/2006/relationships/slide" Target="/ppt/slides/slide3.xml" Id="R9bd5696f9c894041" /><Relationship Type="http://schemas.openxmlformats.org/officeDocument/2006/relationships/slide" Target="/ppt/slides/slide4.xml" Id="R78f73f3f806648b1" /><Relationship Type="http://schemas.openxmlformats.org/officeDocument/2006/relationships/slide" Target="/ppt/slides/slide5.xml" Id="Re5b2c1f668064d63" /><Relationship Type="http://schemas.openxmlformats.org/officeDocument/2006/relationships/slide" Target="/ppt/slides/slide6.xml" Id="Rb737a744052b4d22" /><Relationship Type="http://schemas.openxmlformats.org/officeDocument/2006/relationships/slide" Target="/ppt/slides/slide7.xml" Id="R53e2149b49dc4bb3" /><Relationship Type="http://schemas.openxmlformats.org/officeDocument/2006/relationships/slide" Target="/ppt/slides/slide8.xml" Id="R12f9cdaae68941fb" /><Relationship Type="http://schemas.openxmlformats.org/officeDocument/2006/relationships/slide" Target="/ppt/slides/slide9.xml" Id="R52f2ee456d454507" /><Relationship Type="http://schemas.openxmlformats.org/officeDocument/2006/relationships/slide" Target="/ppt/slides/slide10.xml" Id="R8f89f4aeeff94ea3" /><Relationship Type="http://schemas.openxmlformats.org/officeDocument/2006/relationships/slide" Target="/ppt/slides/slide11.xml" Id="R927e14571e3b427c" /><Relationship Type="http://schemas.openxmlformats.org/officeDocument/2006/relationships/slide" Target="/ppt/slides/slide12.xml" Id="R42b22633b22047cf" /><Relationship Type="http://schemas.openxmlformats.org/officeDocument/2006/relationships/slide" Target="/ppt/slides/slide13.xml" Id="R5290ba34fc3141f0" /><Relationship Type="http://schemas.openxmlformats.org/officeDocument/2006/relationships/slide" Target="/ppt/slides/slide14.xml" Id="R05c2aa0f5ec34441" /><Relationship Type="http://schemas.openxmlformats.org/officeDocument/2006/relationships/slide" Target="/ppt/slides/slide15.xml" Id="R0785b3b5b26a4299" /><Relationship Type="http://schemas.openxmlformats.org/officeDocument/2006/relationships/slide" Target="/ppt/slides/slide16.xml" Id="Rdb4c7011c20d4cd0" /><Relationship Type="http://schemas.openxmlformats.org/officeDocument/2006/relationships/slide" Target="/ppt/slides/slide17.xml" Id="Rbcb42364b4da417f" /><Relationship Type="http://schemas.openxmlformats.org/officeDocument/2006/relationships/slide" Target="/ppt/slides/slide18.xml" Id="Rbb9ebf95a7c346b5" /><Relationship Type="http://schemas.openxmlformats.org/officeDocument/2006/relationships/slide" Target="/ppt/slides/slide19.xml" Id="Rdc79467f560e4402" /><Relationship Type="http://schemas.openxmlformats.org/officeDocument/2006/relationships/slide" Target="/ppt/slides/slide20.xml" Id="Rdcd6ec9951834eef" /><Relationship Type="http://schemas.openxmlformats.org/officeDocument/2006/relationships/slide" Target="/ppt/slides/slide21.xml" Id="Rd675ac2744e14381" /><Relationship Type="http://schemas.openxmlformats.org/officeDocument/2006/relationships/slide" Target="/ppt/slides/slide22.xml" Id="R27c69c9a052d4d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82fc6f43b345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7bac9c80fa40c7" /><Relationship Type="http://schemas.openxmlformats.org/officeDocument/2006/relationships/notesMaster" Target="/ppt/notesMasters/notesMaster1.xml" Id="Rc39898e3fc1540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8c2c0f34264286" /><Relationship Type="http://schemas.openxmlformats.org/officeDocument/2006/relationships/notesMaster" Target="/ppt/notesMasters/notesMaster1.xml" Id="Reb93ff6aea754d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c80e628baa4cba" /><Relationship Type="http://schemas.openxmlformats.org/officeDocument/2006/relationships/notesMaster" Target="/ppt/notesMasters/notesMaster1.xml" Id="R97d20f2ac2474b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86381674904126" /><Relationship Type="http://schemas.openxmlformats.org/officeDocument/2006/relationships/notesMaster" Target="/ppt/notesMasters/notesMaster1.xml" Id="R07b42b79ade54e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7c468ea09f431b" /><Relationship Type="http://schemas.openxmlformats.org/officeDocument/2006/relationships/notesMaster" Target="/ppt/notesMasters/notesMaster1.xml" Id="Rdfa68c54e4f84d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2b94ec13ac4140" /><Relationship Type="http://schemas.openxmlformats.org/officeDocument/2006/relationships/notesMaster" Target="/ppt/notesMasters/notesMaster1.xml" Id="R311ba4ec195442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07c7ab3c7a421e" /><Relationship Type="http://schemas.openxmlformats.org/officeDocument/2006/relationships/notesMaster" Target="/ppt/notesMasters/notesMaster1.xml" Id="R5e36763e3c7047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d0e2ccd4054308" /><Relationship Type="http://schemas.openxmlformats.org/officeDocument/2006/relationships/notesMaster" Target="/ppt/notesMasters/notesMaster1.xml" Id="Rb5c6956146754e6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27bd252bc747d1" /><Relationship Type="http://schemas.openxmlformats.org/officeDocument/2006/relationships/notesMaster" Target="/ppt/notesMasters/notesMaster1.xml" Id="R2f9785268252464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0ecf0352ab40b1" /><Relationship Type="http://schemas.openxmlformats.org/officeDocument/2006/relationships/notesMaster" Target="/ppt/notesMasters/notesMaster1.xml" Id="Rde01dbcbb9d5461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70c5ab4af95435a" /><Relationship Type="http://schemas.openxmlformats.org/officeDocument/2006/relationships/notesMaster" Target="/ppt/notesMasters/notesMaster1.xml" Id="R52cc8d98a3df4a2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aa155d9a88b4023" /><Relationship Type="http://schemas.openxmlformats.org/officeDocument/2006/relationships/notesMaster" Target="/ppt/notesMasters/notesMaster1.xml" Id="Rcb42a1f3a0b14da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4932e5484a14443" /><Relationship Type="http://schemas.openxmlformats.org/officeDocument/2006/relationships/notesMaster" Target="/ppt/notesMasters/notesMaster1.xml" Id="R775cbedf2988455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543975c05004e26" /><Relationship Type="http://schemas.openxmlformats.org/officeDocument/2006/relationships/notesMaster" Target="/ppt/notesMasters/notesMaster1.xml" Id="R447e6a887c254c9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eb69a14884e4b92" /><Relationship Type="http://schemas.openxmlformats.org/officeDocument/2006/relationships/notesMaster" Target="/ppt/notesMasters/notesMaster1.xml" Id="R267a1cb55f4c4db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144bbe5e91942e1" /><Relationship Type="http://schemas.openxmlformats.org/officeDocument/2006/relationships/notesMaster" Target="/ppt/notesMasters/notesMaster1.xml" Id="R199c57bdf2bc473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eb86fbfaede41c1" /><Relationship Type="http://schemas.openxmlformats.org/officeDocument/2006/relationships/notesMaster" Target="/ppt/notesMasters/notesMaster1.xml" Id="Re4713b68beec441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8926ce7631b4c8e" /><Relationship Type="http://schemas.openxmlformats.org/officeDocument/2006/relationships/notesMaster" Target="/ppt/notesMasters/notesMaster1.xml" Id="R85015bc9711e42d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ec2ad8ed0e3418e" /><Relationship Type="http://schemas.openxmlformats.org/officeDocument/2006/relationships/notesMaster" Target="/ppt/notesMasters/notesMaster1.xml" Id="R93c1613bcc3b466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f7e26d0e2e24b9f" /><Relationship Type="http://schemas.openxmlformats.org/officeDocument/2006/relationships/notesMaster" Target="/ppt/notesMasters/notesMaster1.xml" Id="Re29fd1bc8a7543b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174bfa4fbc044fd" /><Relationship Type="http://schemas.openxmlformats.org/officeDocument/2006/relationships/notesMaster" Target="/ppt/notesMasters/notesMaster1.xml" Id="R6a30293b86d648c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1b19df721e74af0" /><Relationship Type="http://schemas.openxmlformats.org/officeDocument/2006/relationships/notesMaster" Target="/ppt/notesMasters/notesMaster1.xml" Id="R8d61b06f57b74d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周会目标：不是复述论文结构，而是让听众能回答研究问题、价值、当前结论、证据、边界和下一步判断。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把导师/同学带到同一条判断链上：先明确问题和价值，再给结论、证据、边界，最后请大家判断下一步。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问题不是能不能记录事件，而是能否把低层硬件事件连接到进程、可执行文件和行为标签，同时不把参考日志误报成硬件恢复结果。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价值要讲清楚：软件 tracing 不是没用，而是不适合单独承担对抗性 workload 的全部证据链；硬件 trace 提供独立观察点，但必须补上归因和边界。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当前结论要一句话说完：在受控 RISC-V Linux workload 下，可以从 CVA6/Genesys2 trace 到 source-labeled reconstruction；不能声称真实 malware accuracy。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这页是周会的证据地图：不要先堆图，而是先告诉听众每类证据支持什么，不支持什么。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实现页只服务证据逻辑：哪些字段来自硬件 trace，哪些来自 ELF/runtime map，哪些只是 reference log。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先证明 trace contract：事件顺序、trap/retire、syscall entry/return、drop accounting。不要直接跳到 malware behavior。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回答图表证明了什么：证明 reconstruction 没有把 reference log 当成 hardware output。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说明本地 code attribution 支持哪些边界：PIE/ASLR、dynamic object、fork/exec、stripped binary；但不声称 board-native source-line attribution。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 122 作为目前最强的 CVA6 empirical result，同时说明 4 failed retained、0 drops/wraps/gaps in accepted windows。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明确 workload 的用法：controlled behavior coverage，而不是 in-the-wild malware benchmark。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这页必须带红线：1.0/0.0 的指标不能被听众理解成检测器准确率。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这页回答证据边界：real malware、production transport、cycle overhead、JTAG RAM boot 不能放进当前主结论。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博士周会要主动讲替代解释：是不是 software reference 帮太多？是不是 local fixture 不等于 board evidence？是不是 controlled workload 太窄？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成本页保留，但必须说清楚：resource delta and timing closure，不是 cycle-level overhead。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最后必须给导师可判断的问题：主 claim 是否足够，是否补一个 board-native evidence，哪些 nonclaims 放 limitations。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reproducibility 不再作为项目管理状态，而是作为证据可信度的一部分。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收尾把六问串起来，不再停在“这周做了哪些事情”。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p99 0.0215755 B/cycle; required 0.0323633 B/cycle; at 50 MHz required 1.618 MB/s; current sustained=0, noninterference=false。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列出 safe baseline、malware-behavior surrogates、benign controls。长样本名只放在附录，不进入主线叙事。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baseline vs trace-enabled resource table。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17e0fb747048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f99a0d2b5d42cc" /><Relationship Type="http://schemas.openxmlformats.org/officeDocument/2006/relationships/slideLayout" Target="/ppt/slideLayouts/slideLayout1.xml" Id="Re27390811cb64a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7390811cb64a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e0aa8916e4e84" /><Relationship Type="http://schemas.openxmlformats.org/officeDocument/2006/relationships/notesSlide" Target="/ppt/notesSlides/notesSlide1.xml" Id="Redcf189930484e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cfc40a1e2409b" /><Relationship Type="http://schemas.openxmlformats.org/officeDocument/2006/relationships/notesSlide" Target="/ppt/notesSlides/notesSlide2.xml" Id="Re719ea12275845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27c49debc47bd" /><Relationship Type="http://schemas.openxmlformats.org/officeDocument/2006/relationships/notesSlide" Target="/ppt/notesSlides/notesSlide3.xml" Id="Rf1857d58d50e41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a76f658d764197" /><Relationship Type="http://schemas.openxmlformats.org/officeDocument/2006/relationships/notesSlide" Target="/ppt/notesSlides/notesSlide4.xml" Id="R806de7f96ac448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6cfeef043040fd" /><Relationship Type="http://schemas.openxmlformats.org/officeDocument/2006/relationships/notesSlide" Target="/ppt/notesSlides/notesSlide5.xml" Id="R2cdb91e126ee4b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e9c178951436e" /><Relationship Type="http://schemas.openxmlformats.org/officeDocument/2006/relationships/notesSlide" Target="/ppt/notesSlides/notesSlide6.xml" Id="Rbf23e4ff573a46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f85f96bd74fe3" /><Relationship Type="http://schemas.openxmlformats.org/officeDocument/2006/relationships/notesSlide" Target="/ppt/notesSlides/notesSlide7.xml" Id="R3fc8cb4fbc6642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49f4b653b3470c" /><Relationship Type="http://schemas.openxmlformats.org/officeDocument/2006/relationships/notesSlide" Target="/ppt/notesSlides/notesSlide8.xml" Id="Rd59dbdb325324e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a673f2bdc425e" /><Relationship Type="http://schemas.openxmlformats.org/officeDocument/2006/relationships/notesSlide" Target="/ppt/notesSlides/notesSlide9.xml" Id="R1633f95fdc2445a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6882622e24be1" /><Relationship Type="http://schemas.openxmlformats.org/officeDocument/2006/relationships/notesSlide" Target="/ppt/notesSlides/notesSlide10.xml" Id="R7f16889ab5ee45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a5ff80d43485e" /><Relationship Type="http://schemas.openxmlformats.org/officeDocument/2006/relationships/notesSlide" Target="/ppt/notesSlides/notesSlide11.xml" Id="Rd738713d8eb8486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3f5817caf4bc2" /><Relationship Type="http://schemas.openxmlformats.org/officeDocument/2006/relationships/notesSlide" Target="/ppt/notesSlides/notesSlide12.xml" Id="R4c9cea7f6207443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43846faa44957" /><Relationship Type="http://schemas.openxmlformats.org/officeDocument/2006/relationships/notesSlide" Target="/ppt/notesSlides/notesSlide13.xml" Id="Rddacbb338d1b435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24224f60c143aa" /><Relationship Type="http://schemas.openxmlformats.org/officeDocument/2006/relationships/notesSlide" Target="/ppt/notesSlides/notesSlide14.xml" Id="R79d3481412a9416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79115c06fa4e57" /><Relationship Type="http://schemas.openxmlformats.org/officeDocument/2006/relationships/notesSlide" Target="/ppt/notesSlides/notesSlide15.xml" Id="Rc3a0854523bc44a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f84936591b4d2e" /><Relationship Type="http://schemas.openxmlformats.org/officeDocument/2006/relationships/notesSlide" Target="/ppt/notesSlides/notesSlide16.xml" Id="Ra5ee42443648425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33dada45a4042" /><Relationship Type="http://schemas.openxmlformats.org/officeDocument/2006/relationships/notesSlide" Target="/ppt/notesSlides/notesSlide17.xml" Id="R4c6a3dc3f81d44c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0bbc1d2c64e7c" /><Relationship Type="http://schemas.openxmlformats.org/officeDocument/2006/relationships/notesSlide" Target="/ppt/notesSlides/notesSlide18.xml" Id="R85e1c22b92f54e9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06e5307c24002" /><Relationship Type="http://schemas.openxmlformats.org/officeDocument/2006/relationships/notesSlide" Target="/ppt/notesSlides/notesSlide19.xml" Id="Rad0ad17f1e6f41f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835424d5c4e2d" /><Relationship Type="http://schemas.openxmlformats.org/officeDocument/2006/relationships/notesSlide" Target="/ppt/notesSlides/notesSlide20.xml" Id="Rcd376d7ec005446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b561492db4efe" /><Relationship Type="http://schemas.openxmlformats.org/officeDocument/2006/relationships/notesSlide" Target="/ppt/notesSlides/notesSlide21.xml" Id="R4b60ba30cb22467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55ccd2ee5d49c8" /><Relationship Type="http://schemas.openxmlformats.org/officeDocument/2006/relationships/notesSlide" Target="/ppt/notesSlides/notesSlide22.xml" Id="R3736d0370e024bd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D45908-9771-483F-AF0E-C38EB6EE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D8DC97-A7D7-4F24-A987-2E6D41B4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NDSS PAPER UPDATE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CA32D1-F7AE-4BB2-B4D3-D7704992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85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5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RV-MalTrace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E0D86A-9DF7-445A-BD80-BC91308A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What should the group believe after this update?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A70DDD-D2DE-4C3D-A64D-EA3EDAF6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C0A1E0-1D27-408A-8F69-DAA923E1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742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Scope: controlled Genesys2/CVA6 tracing and semantic reconstruction. Not a malware detector or production transport claim.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84B3D0-A13E-445E-95B2-2658804F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626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artifact root: results/evaluation/genesys2-cva6/current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950995-5BCC-4442-A35A-32EC9803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2875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1D9105-E5CA-4B32-8196-63F850A5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90700"/>
            <a:ext cx="2095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rPr>
              <a:t>TRACE</a:t>
            </a:r>
          </a:p>
          <a:p xmlns:a="http://schemas.openxmlformats.org/drawingml/2006/main">
            <a:pPr algn="ctr">
              <a:defRPr sz="27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rPr>
              <a:t>EVENTS</a:t>
            </a:r>
          </a:p>
          <a:p xmlns:a="http://schemas.openxmlformats.org/drawingml/2006/main">
            <a:pPr algn="ctr">
              <a:defRPr sz="27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rPr>
              <a:t>FIRST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EEBE1F-2B28-41CE-963B-CC074393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00500"/>
            <a:ext cx="1952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DA4060-5090-4C97-9288-122AF0B1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67175"/>
            <a:ext cx="16859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problem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6E7534-A057-4F3F-B8FF-39B4A3FA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339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D7BB22-B1E1-4165-BA6A-74734A4F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600575"/>
            <a:ext cx="1352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19B1F2-82A5-42BC-B082-A522EE38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673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B848AC-BE2E-4AFD-94C5-D22D3020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133975"/>
            <a:ext cx="1733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decision</a:t>
            </a:r>
          </a:p>
        </p:txBody>
      </p:sp>
    </p:spTree>
    <p:extLst>
      <p:ext uri="{BB962C8B-B14F-4D97-AF65-F5344CB8AC3E}">
        <p14:creationId xmlns:p14="http://schemas.microsoft.com/office/powerpoint/2010/main" val="13195047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0F226E-ACC1-421C-B523-76AC3CEF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4EAB17-44CD-4CFA-878D-80351D00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39F838-522E-4E67-87DD-4DB4FB8F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SIX QUESTIONS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F6C17-5476-4DD6-A857-AECC9F51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0B74F7-C9C9-4308-8481-129781E4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The report has to answer six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BADF01-2AC0-42C3-816A-FB888B8A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181A19-F683-4BD6-90F6-F64EF3C9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04950"/>
            <a:ext cx="8810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Every slide should help answer one of them.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18E909-9308-4A08-A342-203D133D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38350"/>
            <a:ext cx="87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4310F0-8A56-45CD-9B43-E0304551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05025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Q1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C04616-0373-423F-A51E-D12A5920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019300"/>
            <a:ext cx="833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63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Research problem: low-level trace must support high-level behavior claims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19BDDC-7028-45FB-8BF6-F6A0A254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5146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6A42DB-BADA-497B-BE0E-0895850B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47950"/>
            <a:ext cx="87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12CD92-018E-4438-BA28-65F41B58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14625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Q2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662951-76B0-44E3-9472-6E149C3F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28900"/>
            <a:ext cx="833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63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Why it matters: software references are visible and must not be the only evidence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6E06EC-92CC-4AF8-9B8F-A840BA7A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242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BE26E0-EAAA-4B51-A8BA-F120D6FD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57550"/>
            <a:ext cx="87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453FA6-ACE1-495D-8CB6-F9820890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24225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Q3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C30E33-5F5C-4960-A061-BA38D48A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238500"/>
            <a:ext cx="833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63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Core conclusion: controlled reconstruction works; detector accuracy is not claimed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22EF53-8934-4C5B-A812-20E8D96B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338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B74DF5-502D-4A1C-A90B-1AB48730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67150"/>
            <a:ext cx="87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131485-4393-4D7A-9333-2D108100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33825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Q4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F4C02F-967F-4B99-91E1-8300B299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48100"/>
            <a:ext cx="833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63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Evidence: trace tests, source labels, attribution fixtures, board windows, repro checks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B5B062-04E9-4291-82B8-52B24444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434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813550-BCD3-4F0F-9B70-2224F60F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87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29C7AC-46E3-4012-AD9C-5D86319F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43425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Q5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54B367-B07B-4B08-B633-59A7983E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457700"/>
            <a:ext cx="833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63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Boundary: no real-malware accuracy, production transport, or cycle-overhead claim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EC2B49-4C1D-4972-AB58-0BC9749F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9530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076FC4-3651-41C2-BED5-BF3A971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86350"/>
            <a:ext cx="87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0F582B-8378-4CE7-94D3-28FA0F88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153025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Q6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52170B-E127-4F44-9C93-734651C4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67300"/>
            <a:ext cx="833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63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Decision needed: what claim is worth submitting, and which gap to close next?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6A601B-B306-45C1-BD52-160F6819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5626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3152614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F84A3C-14D5-44BB-9B5C-2DFAF13E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7498A1-16E6-4564-B44A-0B72C613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3EC6AE-3850-4D8D-8EAA-EBF45592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RESEARCH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900F2-4195-4C34-A43B-7DACD443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C9DD94-B294-43CF-9CA8-637EE133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What is the research problem?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1335A1-85C7-42D9-922B-D0FA1BAE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11F230-7F8B-4400-8C2B-59665D72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04950"/>
            <a:ext cx="8810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Hardware trace is low-level; malware behavior claims are high-level.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017408-62DA-419D-936A-04E34969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47925"/>
            <a:ext cx="43815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6264C1-0E63-459F-8FE9-1E7E5324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146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00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000000"/>
                </a:solidFill>
                <a:latin typeface="Cascadia Mono"/>
                <a:ea typeface="Cascadia Mono"/>
                <a:cs typeface="Cascadia Mono"/>
              </a:rPr>
              <a:t>SOFTWARE OBSERVER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D026B6-CC58-4B15-B4B4-48923C49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718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Rich semantics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2B7904-E7DF-414A-82A6-2CBD6FC0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62375"/>
            <a:ext cx="3733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Useful reference data, but visible to the workload.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8AABD1-F6C9-49D0-A076-9387585C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47925"/>
            <a:ext cx="43815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005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5D4A63-A5D1-4494-9EBB-490A9562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146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OUT-OF-BAND TRACE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AB0D79-06B4-4E2F-8DDF-F8F93E5C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718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Hardware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795292-6809-4687-AB38-E56BB7E8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62375"/>
            <a:ext cx="3733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Commit-time trace starts below user-mode observer checks.</a:t>
            </a:r>
          </a:p>
        </p:txBody>
      </p:sp>
    </p:spTree>
    <p:extLst>
      <p:ext uri="{BB962C8B-B14F-4D97-AF65-F5344CB8AC3E}">
        <p14:creationId xmlns:p14="http://schemas.microsoft.com/office/powerpoint/2010/main" val="149492515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A40216-440B-4BC1-A159-1F8A8009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47FF83-24AA-4100-AE28-274C1BED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163B9-0541-4AC3-A31A-82D790E3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MOTIVATION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4D331A-55F2-462A-9229-29A04AFC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50E85D-B824-42CD-9EBB-DFD70002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Why is this worth studying?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D8C53E-BAD7-4060-B7F2-F5C8376F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08C21D-79AA-42D7-89C1-FCE3635C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04950"/>
            <a:ext cx="8810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Software logs are useful references, but they are part of the measured system.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E2A7EB-7C1E-4850-AD5B-22346679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31432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005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0B8513-2E7D-455E-A416-034339DF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24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OBSERVATION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E30D94-BFD5-4BCC-AC76-A8947285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623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Software traces are visible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562878-B43F-4292-9BDA-3CD439C4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0525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13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They are excellent references, but adversarial workloads can observe or react to them.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268933-FBAC-4515-AB5D-63B1FFAE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76500"/>
            <a:ext cx="31432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19050">
            <a:solidFill>
              <a:srgbClr val="1278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712CE8-1A4C-4686-8925-83DFE430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724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783A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12783A"/>
                </a:solidFill>
                <a:latin typeface="Cascadia Mono"/>
                <a:ea typeface="Cascadia Mono"/>
                <a:cs typeface="Cascadia Mono"/>
              </a:rPr>
              <a:t>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4A99F0-F267-4025-85CD-DE112651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1623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Hardware events are not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E1632D-52C1-4D20-91EE-E0A1BD51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90525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13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A PC, trap, or syscall transition still needs process and executable context.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1510E5-ACEB-47C1-AABF-F80AD495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76500"/>
            <a:ext cx="31432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D"/>
          </a:solidFill>
          <a:ln xmlns:a="http://schemas.openxmlformats.org/drawingml/2006/main" w="19050">
            <a:solidFill>
              <a:srgbClr val="B4231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85AF07-2616-48ED-8C7F-887F68CD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24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B42318"/>
                </a:solidFill>
                <a:latin typeface="Cascadia Mono"/>
                <a:ea typeface="Cascadia Mono"/>
                <a:cs typeface="Cascadia Mono"/>
              </a:rPr>
              <a:t>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1EB991-FE25-4E13-9D79-D6748D6D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623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Sources can be confused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2F172D-6691-4E60-ACC6-7F59DD91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0525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13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Reference logs must validate results without being reported as hardware output.</a:t>
            </a:r>
          </a:p>
        </p:txBody>
      </p:sp>
    </p:spTree>
    <p:extLst>
      <p:ext uri="{BB962C8B-B14F-4D97-AF65-F5344CB8AC3E}">
        <p14:creationId xmlns:p14="http://schemas.microsoft.com/office/powerpoint/2010/main" val="130128229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027E6D-D24E-4980-AAF3-90C20FB6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ED31B4-1CDE-4F86-A5A7-885B8C6C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EB0107-E538-40DE-A807-39D84D8F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CURRENT 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EE94BA-9928-43B1-8D67-EE68B574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26CF74-1EDF-40FA-B604-0446C02D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What is the current core conclusion?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452828-9604-4D1A-9D0C-74875BC9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224284-246D-419C-A418-D6818775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04950"/>
            <a:ext cx="8810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RV-MalTrace supports controlled behavior reconstruction, not detector accuracy.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6C4242-D641-4BD2-9F0B-0F840FC7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81250"/>
            <a:ext cx="10191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005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0D14E4-1ED9-4902-8D57-9DD32132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193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Current conclusion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BEB056-3375-4C55-B093-27BB93ED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0037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For controlled RISC-V Linux workloads, RV-MalTrace can reconstruct behavior summaries from CVA6 trace records while labeling supporting evidence sources.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E2E542-B743-4332-9DCC-B69CC2AD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95750"/>
            <a:ext cx="1381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E369EC-25CE-42FB-8661-812EE814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62425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SUPPORTED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65F424-95C6-4415-B9BC-C2B0EE8B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7670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trace ordering, syscall pairing, source labels, code attribution, reproducibility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99DDF7-2916-438E-9EA5-82E1D513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101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023C6F-AFF2-4679-8D45-A9218AE0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00600"/>
            <a:ext cx="1381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1FA0D5-C615-4517-A248-FF06CFB9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67275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NOT CLAIMED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EC788C-13BD-458B-B35B-F67975DB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8155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real-malware accuracy, payload equivalence, production throughput, cycle overhead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B333BF-5801-4BEE-895C-372BA90F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149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178821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3DCB8F-B129-404F-97DF-B714A2C5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F1AFD4-C47F-468B-BF3D-879616C7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409184-F7E5-4190-B07A-1517EF61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EVIDENCE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141AE-F4D6-4CFB-8C64-FD76FEAE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1BF4D-1735-409D-A001-D3A61BE2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Which evidence supports the conclusion?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3A633F-7943-4A38-96CA-C529578B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A39B6E-FAB5-43BF-BB17-6D192626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04950"/>
            <a:ext cx="8810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The evidence is useful only if each claim keeps its source and scope.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CE709E-580D-4EDE-AC03-7B78458D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9075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BA8BCD-477F-4AB8-8FB7-B669BE87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574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TRACE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60EF20-7B6B-4F1A-AA1C-43AB43FF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7170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Directed tests support event ordering and syscall entry/return pairing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17398D-BBC1-4F53-B712-BB51FCC1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051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F4D13F-4BAA-4ED9-894A-AC008185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7655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8BBCDC-EF57-465C-BA8F-F686EE6C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432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SOURCE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0614F9-5B39-48AC-A57C-17E4DA4B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5750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Reconstruction summaries mark hardware, ELF, runtime-map, and reference fields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D7A145-1577-4A7C-9007-55A5DE3D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909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30D527-F3AC-43D9-ACA2-1FE196F0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6235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D0EAAF-39C9-468F-9D52-D8585253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290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ATTRIB.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691079-3112-4074-B96B-9656351A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54330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Local fixtures cover PIE/ASLR, dynamic objects, fork/exec, stripped binaries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B90BA4-A5A2-4485-BF11-65853022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767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BAA5A6-AEBE-443C-8453-8FA493BA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4815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5A3F4F-8001-432F-A511-41791D3C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148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BOARD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E376B0-AAD7-48DD-A771-3824C860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2910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122 accepted CVA6 windows support scoped empirical claims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D1C63F-4E72-40CB-9618-B8239A3B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625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EE270A-FF64-479B-B44C-2B4D363D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93395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D4BAF4-3A32-47C9-B462-96371E17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006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REPRO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E8D03E-B523-4C51-BC3F-156B2911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1490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Manifest and SHA-256 checks make the current evidence package reviewable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2806CF-39C9-4ED6-8FC3-E9471C09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4483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5366659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625822-7E13-492E-8B61-A2A88420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040998-1B6E-4AA4-8176-1795C257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2DDA4-7C0C-41AA-8A2C-0DF731F1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SYSTEM MECHANISM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39BA41-B48A-4646-9D2E-BE12C0E6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DFCCE3-CC50-496E-AD47-68723551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How does the evidence flow?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4FDD73-E515-47AB-A1DC-5818511B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80C863-D888-490F-9E11-4F88418B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04950"/>
            <a:ext cx="8810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Trace records, code maps, runtime maps, and references stay separate.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77F700-F06A-4FFF-85E9-DF9DAABF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809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9050">
            <a:solidFill>
              <a:srgbClr val="005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6835FF-DE73-4DC3-8F8B-16A0873E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trace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6909BF-FEA0-42FA-BF36-674CACFA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board events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54A009-D7D0-4FC0-AD1D-1CC32CB5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31470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566432-A414-40B0-8CB0-EF145AF0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724150"/>
            <a:ext cx="1809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9050">
            <a:solidFill>
              <a:srgbClr val="1278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3633A4-FC65-4B96-B262-B68BC1B9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0289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783A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1">
                <a:solidFill>
                  <a:srgbClr val="12783A"/>
                </a:solidFill>
                <a:latin typeface="Cascadia Mono"/>
                <a:ea typeface="Cascadia Mono"/>
                <a:cs typeface="Cascadia Mono"/>
              </a:rPr>
              <a:t>code 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BDB9F1-B9BB-4932-A9B9-B3153BEC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4480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local ELF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2578ED-A27B-425E-85FE-66EF440F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1470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A9A91E-B3AD-4EC9-8EAC-44E2ED30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24150"/>
            <a:ext cx="1809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B7112B-BBAB-4B00-8FFF-3088DE30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289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1">
                <a:solidFill>
                  <a:srgbClr val="000000"/>
                </a:solidFill>
                <a:latin typeface="Cascadia Mono"/>
                <a:ea typeface="Cascadia Mono"/>
                <a:cs typeface="Cascadia Mono"/>
              </a:rPr>
              <a:t>join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3A7B10-B570-43EA-A7A6-1DFBC357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4480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PC + process scope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1CC96E-31B3-4AB8-91A7-133FEC77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31470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044892-3D3A-49CD-B7D5-49620686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24150"/>
            <a:ext cx="1809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9050">
            <a:solidFill>
              <a:srgbClr val="005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D5182C-3D30-4AF6-807F-DE34B1C4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0289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graph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77F8CC-563A-4065-912F-B646B0C4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4480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semantic events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57FAA3-33AD-43E8-BB79-BDB121DA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1470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29D4C0-B7D7-4164-AF46-1725F41F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24150"/>
            <a:ext cx="1809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0"/>
          </a:solidFill>
          <a:ln xmlns:a="http://schemas.openxmlformats.org/drawingml/2006/main" w="19050">
            <a:solidFill>
              <a:srgbClr val="A15C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E30BCB-43AD-4196-AAAC-BB4BDDC0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289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15C00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1">
                <a:solidFill>
                  <a:srgbClr val="A15C00"/>
                </a:solidFill>
                <a:latin typeface="Cascadia Mono"/>
                <a:ea typeface="Cascadia Mono"/>
                <a:cs typeface="Cascadia Mono"/>
              </a:rPr>
              <a:t>rules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975CAA-C9EE-4CA4-B8F1-2A0E4346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4480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behavior labels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0F8240-06DF-4B62-B07D-0C735052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62500"/>
            <a:ext cx="1381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A0A656-5DB1-4D19-B27C-16B94706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29175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SEPARATE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8C4962-EA66-4D71-BAEC-99380714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434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hardware trace is kept separate from reference labels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25F087-D350-4607-BB2A-5BE8BC2B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387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DE8165-9DE2-4839-B3BA-E97221E7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72100"/>
            <a:ext cx="1381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B17596-26AA-44F3-843A-ED0FEAB2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438775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TAG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652476-9F18-41F3-9FBE-496284C3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530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code and behavior claims carry source labels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0323BF-881E-4A41-BACF-83623145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483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0912592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9A6955-F9D9-40D9-9199-7FA66960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90E3A0-E7FE-4777-8CCB-6E66ADB5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CD9C46-4CF1-44F7-BE0B-0E37FF71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EVIDENCE DETAIL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651BB7-AC91-4FFB-8861-F82C3851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56194A-A9A7-4845-9144-12FC17E2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Evidence 1: trace correctness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15B201-1540-46CF-B216-14989FEE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37067A-8DAB-42E6-80F2-30B14BC4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04950"/>
            <a:ext cx="8810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The trace contract is tested before semantic claims are made.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CA9E80-326E-4234-A0EB-CD272548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81250"/>
            <a:ext cx="1381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062C07-B533-480F-B056-6F3EC403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47925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7CED68-5BEB-4B66-9715-45843691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622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retire, branch, jump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A0E7B2-9239-40C6-9580-4230519F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146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40B8C2-F83F-4FE9-8809-F19CB6BE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62300"/>
            <a:ext cx="1381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8BC9A6-0180-4588-9F6F-53A74728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28975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SYSCALL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B69B80-DDBE-4DD5-A1FE-5EAF5555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432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entry and qualified return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2092BB-64B2-440A-9360-6F79635D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957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BAFFAA-745F-4DE0-9A40-47105E8B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43350"/>
            <a:ext cx="1381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7ACFBA-FB93-4984-A1AD-2807F599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10025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455FEE-0DCE-45AC-8B0E-FAB9AB51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243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trap, CSR, SATP, privilege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B0B6B6-11BA-4084-9C09-2D629B01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5DE796-C5CB-4AAD-83BE-92588AC3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24400"/>
            <a:ext cx="1381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36E50C-7A6D-487F-ACE4-64493A50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91075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ACCOUNT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23BE6B-6E05-43FE-A898-5DA28437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053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ARG_MEM, marker, drop records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F86CBE-CFAC-4285-A6E6-79CB02EE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578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5792301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123945-E344-4395-BCB4-9E9CAC12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981FA1-359B-4589-9AFE-C4A68AEF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B30E46-A04A-4F2B-8E03-8EACB432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EVIDENCE DETAIL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7C0F8-7812-4FB3-9212-CF793191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E9EBB6-57EB-4F44-85EA-C310A933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Evidence 2: source-labeled reconstruction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23D583-6750-4EB9-89AB-683117A6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9BEEA5-CF5D-4AA2-AE0D-4F21B408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04950"/>
            <a:ext cx="8810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Derived fields are marked as hardware, ELF, runtime map, or reference.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EE5790-E93A-4DA9-B88F-C4D3B13A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00300"/>
            <a:ext cx="4476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9050">
            <a:solidFill>
              <a:srgbClr val="005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1E2216-0CB2-4C6F-9E84-F2EC13D4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6289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hardware trace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709888-5DC5-4676-B2D0-6E142343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9908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event sequence, traps, syscall transitions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FC2B74-C92C-4D52-8E92-67E0ED22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00300"/>
            <a:ext cx="4476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19050">
            <a:solidFill>
              <a:srgbClr val="1278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345057-572A-4C41-A49C-AE3EA6D5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6289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783A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1">
                <a:solidFill>
                  <a:srgbClr val="12783A"/>
                </a:solidFill>
                <a:latin typeface="Cascadia Mono"/>
                <a:ea typeface="Cascadia Mono"/>
                <a:cs typeface="Cascadia Mono"/>
              </a:rPr>
              <a:t>ELF metadata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4EDDDD-037E-4CFE-96C2-BF2737B2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9908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binary identity, sections, symbols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6FBCFF-4087-43C7-9BC5-393D7B71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81425"/>
            <a:ext cx="4476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DBC02E-A181-41F1-9D55-2975218B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100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1">
                <a:solidFill>
                  <a:srgbClr val="000000"/>
                </a:solidFill>
                <a:latin typeface="Cascadia Mono"/>
                <a:ea typeface="Cascadia Mono"/>
                <a:cs typeface="Cascadia Mono"/>
              </a:rPr>
              <a:t>runtime map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182BE9-78B1-4159-8181-EBDE5F34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37197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process scope and loaded objects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8FAA9D-084B-4571-964B-30BDFFB5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781425"/>
            <a:ext cx="4476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0"/>
          </a:solidFill>
          <a:ln xmlns:a="http://schemas.openxmlformats.org/drawingml/2006/main" w="19050">
            <a:solidFill>
              <a:srgbClr val="A15C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32FE8B-2B5B-451B-88C7-81644BE2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100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15C00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1">
                <a:solidFill>
                  <a:srgbClr val="A15C00"/>
                </a:solidFill>
                <a:latin typeface="Cascadia Mono"/>
                <a:ea typeface="Cascadia Mono"/>
                <a:cs typeface="Cascadia Mono"/>
              </a:rPr>
              <a:t>reference log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02D4A2-5368-4314-9F80-346B4048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37197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expected behavior for comparison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A42E13-AFC6-457F-91CD-53C941A2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81625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423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B42318"/>
                </a:solidFill>
                <a:latin typeface="Microsoft YaHei UI"/>
                <a:ea typeface="Microsoft YaHei UI"/>
                <a:cs typeface="Microsoft YaHei UI"/>
              </a:rPr>
              <a:t>The point is not more labels; it is preventing reference evidence from being reported as hardware recovery.</a:t>
            </a:r>
          </a:p>
        </p:txBody>
      </p:sp>
    </p:spTree>
    <p:extLst>
      <p:ext uri="{BB962C8B-B14F-4D97-AF65-F5344CB8AC3E}">
        <p14:creationId xmlns:p14="http://schemas.microsoft.com/office/powerpoint/2010/main" val="27249952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8E926B-88C7-4411-9B65-AC28C66B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F5011-67F3-43E0-BEE4-D29D61EC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DBA4D3-6D52-4CFF-BAA6-FDFD3FCA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EVIDENCE DETAIL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457A9A-698C-41C4-9967-734BEC4E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00489C-5F42-40F2-BEA3-05B0894C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Evidence 3: code attribution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D67874-5D8E-4CFC-831B-06349FCC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FF0E9D-4A3E-4F8D-B53B-E6783F12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04950"/>
            <a:ext cx="8810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ELF identity, symbols, syscall sites, and runtime maps constrain attribution.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AA505B-92F1-4D8C-957B-45527440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31432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19050">
            <a:solidFill>
              <a:srgbClr val="1278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1370EA-08E9-4822-826E-66FE2263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783A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12783A"/>
                </a:solidFill>
                <a:latin typeface="Cascadia Mono"/>
                <a:ea typeface="Cascadia Mono"/>
                <a:cs typeface="Cascadia Mono"/>
              </a:rPr>
              <a:t>CODE MAP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96A22F-3AD2-4EF6-8670-873A86B1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575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ELF identity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22E869-9244-4C1C-990C-5694D311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0050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13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hash, load ranges, sections, symbols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14F9BA-8F72-467C-930B-20675F1B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71750"/>
            <a:ext cx="31432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005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F7B66A-9E67-4FC1-8FCA-1A517D1F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8194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JOIN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9F0540-11E9-4302-BE45-FEB4AD8D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575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Trace to code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5EF6D3-2018-4356-B2D4-C1E311E9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00050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13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PC evidence plus process/runtime scope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FF55C8-BBDE-4E11-9408-A33B523B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31432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D"/>
          </a:solidFill>
          <a:ln xmlns:a="http://schemas.openxmlformats.org/drawingml/2006/main" w="19050">
            <a:solidFill>
              <a:srgbClr val="B4231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520FB2-0B8C-49E5-8967-CF804CF9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194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B42318"/>
                </a:solidFill>
                <a:latin typeface="Cascadia Mono"/>
                <a:ea typeface="Cascadia Mono"/>
                <a:cs typeface="Cascadia Mono"/>
              </a:rPr>
              <a:t>LIMITATION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BD95DC-E888-4D20-90EA-87F0671C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575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No source-line claim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8E5BE9-AB26-4757-ADF1-B411AEA0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0050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13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DWARF/source-line attribution needs board evidence</a:t>
            </a:r>
          </a:p>
        </p:txBody>
      </p:sp>
    </p:spTree>
    <p:extLst>
      <p:ext uri="{BB962C8B-B14F-4D97-AF65-F5344CB8AC3E}">
        <p14:creationId xmlns:p14="http://schemas.microsoft.com/office/powerpoint/2010/main" val="157833917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BBAEC1-5487-4F0B-B3A0-D5B9E254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65D60F-AF4C-4608-8B0B-13DE1886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1DA22-B0B0-4B5E-A8E4-A3DFBF12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EVIDENCE DETAIL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35602-C914-4A97-8291-59D7F571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A02FC-A791-484D-AF8F-D59A5094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Evidence 4: board runs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62F6D1-DCF7-425D-8236-17821B2F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7DF879-E31A-4D7B-908E-0130699D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04950"/>
            <a:ext cx="8810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122 accepted CVA6 windows support scoped empirical claims.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6A5DA9-497E-4720-81ED-1E45EB68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840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122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11C05F-D14C-4CAE-9013-DE7EF896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766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accepted board runs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340789-86AA-4D3B-96CF-0A780AE5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6220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913823-77F0-463F-AB39-410C25A9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1381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defRPr>
            </a:pPr>
            <a:r>
              <a:rPr sz="345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rPr>
              <a:t>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C3AAD0-4D85-46C6-9BC7-DB9C17C5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samples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C61D1C-0FF2-45C4-B652-55A67595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1381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defRPr>
            </a:pPr>
            <a:r>
              <a:rPr sz="345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rPr>
              <a:t>126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92F755-9C80-4D55-ADE3-5E2A76C2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attempts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F0F26B-4795-4F22-8B76-9D47CC87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95700"/>
            <a:ext cx="1381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defRPr>
            </a:pPr>
            <a:r>
              <a:rPr sz="345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B97EBC-ACD8-457A-8669-FFFD28D4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672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failed retained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35597D-AEB2-4A7A-A39C-7B9B2832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95700"/>
            <a:ext cx="1381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783A"/>
                </a:solidFill>
                <a:latin typeface="Cascadia Mono"/>
                <a:ea typeface="Cascadia Mono"/>
                <a:cs typeface="Cascadia Mono"/>
              </a:defRPr>
            </a:pPr>
            <a:r>
              <a:rPr sz="3450" b="1">
                <a:solidFill>
                  <a:srgbClr val="12783A"/>
                </a:solidFill>
                <a:latin typeface="Cascadia Mono"/>
                <a:ea typeface="Cascadia Mono"/>
                <a:cs typeface="Cascadia Mono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6A263C-0F04-4DBD-B870-E266A07E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672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drops / wraps / gaps</a:t>
            </a:r>
          </a:p>
        </p:txBody>
      </p:sp>
    </p:spTree>
    <p:extLst>
      <p:ext uri="{BB962C8B-B14F-4D97-AF65-F5344CB8AC3E}">
        <p14:creationId xmlns:p14="http://schemas.microsoft.com/office/powerpoint/2010/main" val="164187324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2072BE-EFAD-49FF-B896-F4C9F287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740639-69D2-4A08-B1CE-EB72F47A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6F827-BB02-4FD0-B7DD-8C565F20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EVIDENCE DETAIL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6C6FB0-15A7-4B7D-8C8E-E5C0E622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86C0AC-C8D0-4269-B71F-A7963973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Evidence 5: controlled workloads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EFCE7-6DB1-4B60-B940-245024DB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2EEEA1-5B8B-46AA-9911-5EF31D6E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04950"/>
            <a:ext cx="8810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The workload set checks behavior reconstruction, not real-world coverage.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807EA8-5286-49CE-B7B2-A877DB9B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67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safe 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4F4812-0FB8-4315-917B-577CD99A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432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5F86BE-6B91-45AE-8056-B0D6916B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43200"/>
            <a:ext cx="1000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213AFE-0673-4E63-A57D-792D66DE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67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rPr>
              <a:t>4 samples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946EE5-C827-43DF-9D55-CC5DFD00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90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42 accepted reps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D85FB9-A000-4FFB-9161-242F4EE1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43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surrogate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A373EB-8716-4CF8-A6F6-E2F6A4FB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195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FAAFD4-F096-4AFF-9387-711C4FC5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195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8832D6-F906-4E81-AE8C-2C112EE5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43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000000"/>
                </a:solidFill>
                <a:latin typeface="Microsoft YaHei UI"/>
                <a:ea typeface="Microsoft YaHei UI"/>
                <a:cs typeface="Microsoft YaHei UI"/>
              </a:rPr>
              <a:t>8 samples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9185AB-91FA-4897-B960-809B78DF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67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80 accepted reps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DB6A12-E487-4C38-A10D-B0EA459A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19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benign controls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85BABF-773B-4D6E-99DE-059800AD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958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7BF820-A78D-4874-87D8-5BFC5224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95800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06FA96-30E6-4CB0-A319-0D3A0D65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196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78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2783A"/>
                </a:solidFill>
                <a:latin typeface="Microsoft YaHei UI"/>
                <a:ea typeface="Microsoft YaHei UI"/>
                <a:cs typeface="Microsoft YaHei UI"/>
              </a:rPr>
              <a:t>5 samples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258862-EF87-4255-B863-63E6DF7F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43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scoped controls</a:t>
            </a:r>
          </a:p>
        </p:txBody>
      </p:sp>
    </p:spTree>
    <p:extLst>
      <p:ext uri="{BB962C8B-B14F-4D97-AF65-F5344CB8AC3E}">
        <p14:creationId xmlns:p14="http://schemas.microsoft.com/office/powerpoint/2010/main" val="162927481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BE275D-13D9-4B1D-8A5D-E6A9BF40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70C893-E5E2-456A-8056-A3B891C7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D8E324-8F19-4966-A24F-1B50932F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EVIDENCE DETAIL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E1A9F-5559-45AB-9BA4-873418E1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CB1920-C830-477D-BF2C-8480EE14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Evidence 6: behavior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321BD7-45A7-4B6E-A59A-B6A851C4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E289EF-2095-44B3-B2E3-D051D239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04950"/>
            <a:ext cx="8810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Perfect scoped metrics validate reconstruction, not detector accuracy.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F0D4F2-E700-41E4-A192-1515EBEE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2095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005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0B1DB7-B00E-4104-B23E-15F3574F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289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31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1.0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998BD3-03F6-4083-8BB6-5F6FF4CC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3855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syscall recall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008EEE-0DA7-4050-BA55-697AEFFE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81300"/>
            <a:ext cx="2095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005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20D21A-DDD9-41D9-AB28-634F896B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289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31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1.0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DB687E-6CE8-4187-B250-E41E1759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63855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precision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1687A3-94E6-4CCA-B0FA-B8581291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2095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005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B2A4A2-0BD4-41EC-AF18-64CA3B0D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289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31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1.0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43F2B3-B0CC-4A07-AB89-CC9C94E2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3855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argument recon.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6193B2-FBF8-4E87-BBEC-5EC663EE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2095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19050">
            <a:solidFill>
              <a:srgbClr val="1278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1C6A22-CCDD-4E96-BE54-86C00641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289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783A"/>
                </a:solidFill>
                <a:latin typeface="Cascadia Mono"/>
                <a:ea typeface="Cascadia Mono"/>
                <a:cs typeface="Cascadia Mono"/>
              </a:defRPr>
            </a:pPr>
            <a:r>
              <a:rPr sz="3150" b="1">
                <a:solidFill>
                  <a:srgbClr val="12783A"/>
                </a:solidFill>
                <a:latin typeface="Cascadia Mono"/>
                <a:ea typeface="Cascadia Mono"/>
                <a:cs typeface="Cascadia Mono"/>
              </a:rPr>
              <a:t>0.0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6C920C-C961-4BF8-B44E-1CA0AAF5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3855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benign FPR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2D91F0-9858-46FF-B679-7988225A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781550"/>
            <a:ext cx="752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D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ED1551-30CF-4EA4-BD97-ED65E09F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886325"/>
            <a:ext cx="752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423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B42318"/>
                </a:solidFill>
                <a:latin typeface="Microsoft YaHei UI"/>
                <a:ea typeface="Microsoft YaHei UI"/>
                <a:cs typeface="Microsoft YaHei UI"/>
              </a:rPr>
              <a:t>Controlled workload analysis only. Not detection accuracy.</a:t>
            </a:r>
          </a:p>
        </p:txBody>
      </p:sp>
    </p:spTree>
    <p:extLst>
      <p:ext uri="{BB962C8B-B14F-4D97-AF65-F5344CB8AC3E}">
        <p14:creationId xmlns:p14="http://schemas.microsoft.com/office/powerpoint/2010/main" val="54723232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C4156F-AED5-4010-A069-CB1CDDF7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35C1CB-4BFA-4B5C-B25F-1EF92A36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2902A2-6567-4121-B664-7478EDCC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147050-1CC4-4284-8F47-1D0C706B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479E6E-3CD2-4F38-B08A-AD713C8A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What are the boundaries?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B798BA-1205-46A5-B00E-E0C31744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982B6F-B77C-44B0-8742-389C8C05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04950"/>
            <a:ext cx="8810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Unsupported topics stay as limitations or future 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BD9F06-1A19-4EF4-B40A-5D91C9B7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05050"/>
            <a:ext cx="1381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FF3852-D014-4F8A-9C2D-89419490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71725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WRITE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3ECAB3-D82F-451E-8B9F-CF15BF1B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860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hardware-assisted behavior tracing and analysis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5BC906-F407-485C-AA3A-A5A94835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956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A53E42-296C-40F8-8399-82882FA2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86100"/>
            <a:ext cx="1381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D978BF-DC41-438A-98A1-3488D7CB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52775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WRITE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3B5883-43C5-4E97-884B-B9B3B548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670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35T end-to-end prototype; scoped CVA6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1AD7DC-EA30-492F-8818-331E48D9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766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7E353F-0AED-460C-8B04-FD2F975F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67150"/>
            <a:ext cx="1381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A43C06-C168-4E04-8574-3AFFC110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33825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LIMIT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D38BCB-E335-40CB-BB82-B6D07F19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481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synthetic and safety-controlled malware-derived behaviors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F2C31B-C55A-4793-A00D-7FA6829E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577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CFAE10-5392-478E-AA15-37CF8084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48200"/>
            <a:ext cx="1381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6A8F4B-D269-41AC-9FE8-EEC9B557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14875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DO NOT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4B509C-C7C6-42BE-9D47-8F50F457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291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real-malware accuracy, payload equivalence, production detector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1D3C09-9BFB-40DE-9B69-7135AB64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387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4828870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CAB018-C726-465A-89BF-8A9610C8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127E91-9219-439C-915C-04432CAD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7A9F2A-4FF8-411F-94D9-C27709B6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ALTERNATIVE EXPLANATIONS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141861-BFDE-4ACA-A146-0B48A86A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374B0A-9EFB-4416-B208-25309B6B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What else could explain the result?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BF75EF-D278-4B77-8638-69ACEAA0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370F98-3DC9-462F-8CF0-8E45CFCB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04950"/>
            <a:ext cx="8810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The current evidence rules out some failures, but not all external validity concerns.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49AE57-60F4-4DE3-AFAD-21B2E499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66950"/>
            <a:ext cx="1162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CFC5F0-8BA1-49D3-96CA-736B143D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33625"/>
            <a:ext cx="1162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ALT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0E942F-B89A-4ED5-BD45-1D510743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47900"/>
            <a:ext cx="823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38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Reference logs may supply too much semantic information; source labels expose that boundary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D70483-4B58-4729-B649-ABEECB91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765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1519D9-1BE1-4836-A3BF-32420E9B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67050"/>
            <a:ext cx="1162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2BF00C-9543-4F5F-A189-7163E2BC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33725"/>
            <a:ext cx="1162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ALT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C1CB83-2E5E-43E7-8F87-5C16B707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48000"/>
            <a:ext cx="823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38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Local code-attribution fixtures may not equal board-native source-line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C758C3-590F-400E-8155-AB4B3199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766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6805C6-5B5A-4418-A7B3-E6B868CA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67150"/>
            <a:ext cx="1162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F87D1E-C889-4604-846C-324C412C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33825"/>
            <a:ext cx="1162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ALT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317A9D-4917-4432-B1E4-F0BE14BB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48100"/>
            <a:ext cx="823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38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Controlled workloads may not predict in-the-wild malware behavior coverage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C9D2E6-2273-4DB0-ABD1-F66C2A4A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DB30FD-76B9-4E8B-9B8D-8865DB0E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67250"/>
            <a:ext cx="1162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8AA5FA-DCB2-47EC-B88E-D3ED3580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33925"/>
            <a:ext cx="1162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ALT 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E2B447-D261-4AC5-9836-45F2A94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48200"/>
            <a:ext cx="823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38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Resource deltas do not establish runtime slowdown without cycle-overhead measurement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A8C988-D1F9-464A-8A9A-DB80923F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768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730190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D6B020-6EF3-4EE0-97AC-56DB97CD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E303DB-3A1B-476A-BEDC-2089FB2C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F7997E-F6E0-47FB-B3F0-45E48D19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COST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E6670A-A8EC-4D41-AADD-3C119464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01A5E4-176B-4B3A-9CBF-C2CAC8BB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What cost is measured?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0A103E-DA27-44B2-A29C-24D9F967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B07EEA-65FF-4D45-A9D5-8F961DB5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04950"/>
            <a:ext cx="8810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Resource and timing evidence support implementation cost, not runtime slowdown.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57C972-28AE-4A14-9EF7-98935830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571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defRPr>
            </a:pPr>
            <a:r>
              <a:rPr sz="180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rPr>
              <a:t>LUT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D21062-B468-4D02-B0FA-E334B7B8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28900"/>
            <a:ext cx="428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EAA299-982F-4D89-8549-C5C8247E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28900"/>
            <a:ext cx="361759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2044F6-FA01-4DE0-AC28-9C96B3C0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rPr>
              <a:t>+25.32%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7D2673-8B40-4B81-9293-96C42980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575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defRPr>
            </a:pPr>
            <a:r>
              <a:rPr sz="180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rPr>
              <a:t>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840925-F1CD-41AF-A878-5B0BDE32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14700"/>
            <a:ext cx="428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94EE2D-F120-46B0-9405-B398A185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14700"/>
            <a:ext cx="2311718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712408-6E4F-4EDA-99A8-4AC74728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575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78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2783A"/>
                </a:solidFill>
                <a:latin typeface="Microsoft YaHei UI"/>
                <a:ea typeface="Microsoft YaHei UI"/>
                <a:cs typeface="Microsoft YaHei UI"/>
              </a:rPr>
              <a:t>+16.18%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2EBA5B-DB62-465F-AAA7-D0137E08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9433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defRPr>
            </a:pPr>
            <a:r>
              <a:rPr sz="180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rPr>
              <a:t>BRAM18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D3436E-1727-4CF6-8913-DF32362E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00500"/>
            <a:ext cx="428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2BBCEB-3C19-4DB8-A8C7-C0B7187F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00500"/>
            <a:ext cx="79438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4DCB27-90A6-44C7-A445-BDC09343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433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15C0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A15C00"/>
                </a:solidFill>
                <a:latin typeface="Microsoft YaHei UI"/>
                <a:ea typeface="Microsoft YaHei UI"/>
                <a:cs typeface="Microsoft YaHei UI"/>
              </a:rPr>
              <a:t>+5.56%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90EF82-EE8D-4664-AB44-B9B30FF1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291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defRPr>
            </a:pPr>
            <a:r>
              <a:rPr sz="180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rPr>
              <a:t>DSP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3FE3C6-D474-496F-9C7E-EF9DD026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86300"/>
            <a:ext cx="428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D47B45-D13B-4311-AD79-898C52D3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86300"/>
            <a:ext cx="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1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9A92B5-CA66-4CB9-AD64-6D60E4F1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291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+0.00%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A958C3-97B2-4591-BF96-B6AA54FC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353050"/>
            <a:ext cx="828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423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B42318"/>
                </a:solidFill>
                <a:latin typeface="Microsoft YaHei UI"/>
                <a:ea typeface="Microsoft YaHei UI"/>
                <a:cs typeface="Microsoft YaHei UI"/>
              </a:rPr>
              <a:t>Timing MET, slack 0.177 ns. Cycle-level runtime overhead remains unsupported.</a:t>
            </a:r>
          </a:p>
        </p:txBody>
      </p:sp>
    </p:spTree>
    <p:extLst>
      <p:ext uri="{BB962C8B-B14F-4D97-AF65-F5344CB8AC3E}">
        <p14:creationId xmlns:p14="http://schemas.microsoft.com/office/powerpoint/2010/main" val="94001470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7DBDC6-8FA8-4A75-914B-000DF9E4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84B645-99BA-40C4-BE2A-F2722944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79724B-891E-47E5-AA49-8B1AF759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NEXT STEP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91931F-60AB-4D8E-80A5-0BF143C1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6865A-93FD-4C7B-A0FF-52B0885C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What should the group help decide?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8DE1D0-8E80-45E2-ACB7-2EF82FC0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907F91-1D51-4312-86AC-DEBE0E19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04950"/>
            <a:ext cx="8810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The next work is not more running; it is claim selection and one evidence gap.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7473D4-031E-46A8-BCD4-AB1D981D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66950"/>
            <a:ext cx="1162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BC3619-BEC2-4A2B-AB0B-31C8498F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33625"/>
            <a:ext cx="1162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DECIDE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C4D2C8-6D8D-4580-8B11-EC1DE174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47900"/>
            <a:ext cx="823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38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Is the submission claim trace-backed behavior reconstruction, not malware detection?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A58EA6-9412-42F2-BD79-AD8ABA3A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765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53162D-859D-41D2-91A3-32176E16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67050"/>
            <a:ext cx="1162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EBFD99-B8E1-49FB-9E4B-6A2F7179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33725"/>
            <a:ext cx="1162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DECIDE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3066A8-DD7F-4666-AD85-6AF7D314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48000"/>
            <a:ext cx="823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38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Which single evidence gap matters most: board-native source lines, overhead, or transport?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5F6001-98C1-4EF5-8FA8-783E8A54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766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16A44D-EDB8-4A64-8209-2EEE6192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67150"/>
            <a:ext cx="1162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6793BC-323C-4DA8-9CF9-5889C267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33825"/>
            <a:ext cx="1162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REMOVE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9D6F61-CD32-4567-B9BC-F7312C5E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48100"/>
            <a:ext cx="823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38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Move real-malware accuracy and payload-equivalence claims to limitations/future 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F8BECE-B097-49EC-A526-CE46B9C6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63CBAA-0186-4AEB-8B0D-1A12F62B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67250"/>
            <a:ext cx="1162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E92E29-5AFC-43A1-AA1A-7C3536E3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33925"/>
            <a:ext cx="1162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NEXT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7BEB8E-A281-45C5-85FD-5673312A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48200"/>
            <a:ext cx="823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38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Convert remaining prose claims into final figures and claim-evidence tables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D7DB17-D79E-4CC4-8694-335B0458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768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5252894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8D29CA-2796-45B3-ADC3-7767C312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0EB23F-E7EB-4355-8D8A-A45FA0A0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059D30-035C-4618-8B74-12BAB398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REPRODUCIBILITY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B3BEE0-EC75-436E-9FDD-4B2FE136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F386F-6B7E-46F8-87F5-34B03E07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The artifact package is reviewable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D95E9D-93EF-4BEB-9649-D63373BB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D864CA-1250-4D54-8F55-4B13391F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04950"/>
            <a:ext cx="8810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The paper should cite reproducible evidence, not untracked experiment memory.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16DE57-5E38-464D-829E-8FC63ED6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81250"/>
            <a:ext cx="1381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ED11A-DF56-4100-98C8-9E879652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47925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MANIFEST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626BB5-CE08-4C99-ABC0-AB55528F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622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current artifact root accepted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6AD087-CBCD-47B7-B1AA-D04D06B8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146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CE46D8-DD06-46F1-A42F-D86C5E0C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62300"/>
            <a:ext cx="1381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E98005-9E7D-4BCF-B698-99ADD018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28975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ARCHIVE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BBBB71-E1F4-4B5D-8F77-372C7B8A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432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3160 files, 316.9 MB, SHA d5b806...433b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F3D685-8142-442B-BC70-B9D32489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957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C1FEB9-C59F-4FB9-9500-F253EB39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43350"/>
            <a:ext cx="1381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246562-96A3-43A6-B48C-32D7F514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10025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CHECKERS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76E8C2-0DEF-4CA4-B5AB-ED06F551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243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repro:quick and documented full gates 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98F639-17D8-4846-AA30-A943D95C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34B1C3-6F8D-4AA9-9245-4C124E39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24400"/>
            <a:ext cx="1381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041719-8BCF-4699-BE65-74F5E857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91075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PAPER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22138C-1BBD-4B65-94EE-8BD137D1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053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NDSS draft builds; figures and quantitative tables still need final polish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9A242E-9B91-4A3A-8987-6CBDBC7F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578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04158644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90D9A8-B40F-4CC6-9EC8-D03FC1B1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1360DD-74D1-44B0-BEA8-449083D0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13E59B-721D-40A9-8BD5-293508C2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TAKEAWAY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DB26E8-5134-4BDC-B97F-A79ACB02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2DE4C6-B1CA-44B8-B453-73D45337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Paper narrative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144141-DCA5-43E6-AF19-B8B9ADAF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DCF1C4-A911-44FD-A2A7-1F6A70F8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04950"/>
            <a:ext cx="8810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Problem -&gt; conclusion -&gt; evidence -&gt; boundary -&gt; decision.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55982B-0425-4F44-A28A-208C3FFF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18669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005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20E7EE-00B3-490F-B8D5-F91A9E62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rPr>
              <a:t>Problem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1DB9B1-C788-40D4-9716-B2B74355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57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trace to behavior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214DB7-CEC2-48F6-9A3C-5915BAED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33700"/>
            <a:ext cx="18669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005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399E33-FA69-4B67-8095-FA043230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94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rPr>
              <a:t>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CD631D-47DC-4329-A8F9-9DDE659E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957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less visible path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6286E5-DE5C-4C81-B342-A08A8614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33700"/>
            <a:ext cx="18669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005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73DAA7-C43F-4FB0-9395-A2C67FFD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194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rPr>
              <a:t>Conclusion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4BFA5E-3D0A-4F6C-A739-8378FA44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957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controlled recon.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F23625-4557-4DF7-972C-ADFFDA88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33700"/>
            <a:ext cx="18669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19050">
            <a:solidFill>
              <a:srgbClr val="1278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C3FC96-147D-429F-9B07-4042E485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194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78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12783A"/>
                </a:solidFill>
                <a:latin typeface="Microsoft YaHei UI"/>
                <a:ea typeface="Microsoft YaHei UI"/>
                <a:cs typeface="Microsoft YaHei UI"/>
              </a:rPr>
              <a:t>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079EF6-83F7-4A44-8422-299FFC91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957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tests + board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FAB49D-E0CC-4411-8573-2F245F2F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33700"/>
            <a:ext cx="18669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D"/>
          </a:solidFill>
          <a:ln xmlns:a="http://schemas.openxmlformats.org/drawingml/2006/main" w="19050">
            <a:solidFill>
              <a:srgbClr val="B4231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61E60F-C8A4-42A3-AF76-5A8B6293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194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23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B42318"/>
                </a:solidFill>
                <a:latin typeface="Microsoft YaHei UI"/>
                <a:ea typeface="Microsoft YaHei UI"/>
                <a:cs typeface="Microsoft YaHei UI"/>
              </a:rPr>
              <a:t>Decision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278B49-4B80-4B69-B4C4-E98842B0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957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claim + gap</a:t>
            </a:r>
          </a:p>
        </p:txBody>
      </p:sp>
    </p:spTree>
    <p:extLst>
      <p:ext uri="{BB962C8B-B14F-4D97-AF65-F5344CB8AC3E}">
        <p14:creationId xmlns:p14="http://schemas.microsoft.com/office/powerpoint/2010/main" val="78859740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F4D52C-FCDF-499E-B6EE-653B52AE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58C2A-1FA2-4B86-90BC-2E2B44B7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68A240-A55B-40EC-AE81-BC81BCA3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APPENDIX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4D29BD-3EA9-4C9B-9FE6-A2A78B94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E4CDF8-EFBE-48F1-8843-4F2D3F8F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Streaming/DMA remains future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15D510-24C2-42DB-908E-A19F2E93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BA7E17-225D-4859-968E-350C8F90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04950"/>
            <a:ext cx="8810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Readiness and target profiles are not throughput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D5DA0A-D71B-46C0-B9B5-57CE9A50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1381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DF0CC1-4A8B-4F4E-ADA3-6344160E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33675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TARGET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97E228-689E-4A64-BCC3-44F1936A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479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p99 = 0.0215755 event bytes/cycle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61B4B1-FE42-4798-B456-53A83DF2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004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E072E6-78C2-482A-810E-FC974076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48050"/>
            <a:ext cx="1381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390FCA-445C-4D0F-B47B-E2B5CE73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14725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REQUIRED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C6D776-DCBD-4BF7-833F-A2D11E5C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290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0.0323633 event bytes/cycle, about 1.618 MB/s at 50 MHz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8382C6-CE4E-4279-84A5-951EA017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814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07E427-7673-4016-A001-C5E8845F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29100"/>
            <a:ext cx="1381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E8DE3E-1B13-41F1-9D17-E6BC75A7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95775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CURRENT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CE7D99-7EDE-4CFF-A986-CF6A705E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100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sustained streaming = 0; noninterference = false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3EC23D-7DF3-4BDD-9AA6-E27588BC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625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9905447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38969B-3349-4F5A-A730-188DF410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602D7-90FA-4C09-A83D-3D5AE735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9BC72-3E60-48D0-AD76-099E64F9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APPENDIX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AE92E9-3B3E-4FBF-AC1A-B7B78EB7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43456A-1C16-401D-AE7D-0AF533C4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Workload roster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F7D5D-84C0-465D-893F-26295D99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6645DB-0415-4A72-B50A-2736DE8F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04950"/>
            <a:ext cx="8810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Sample names are appendix material, not main-story material.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61A0B0-AA99-4A80-8417-9B886174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09800"/>
            <a:ext cx="1381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19C712-6404-45F5-AC4E-1F5472E5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76475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SAFE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AFE2FD-0A3C-4A51-8528-3E909023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907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hello_write; file_open_read_write; fork_exec; illegal_instruction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6BB50E-FF85-43BB-86C5-AA1DCDFB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384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CC1F86-45D1-46A1-91FD-EE27025B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90850"/>
            <a:ext cx="1381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CBB92F-B22C-4B14-A1AB-8E8AE6C5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57525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SURROGATE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91029B-EA7B-45B7-8AD2-A75FCDAA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7180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file_scan; batch_open_read_write; self_copy_sim; abnormal_syscall_sequence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4CF7BC-5456-438C-8612-3A614744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195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EE3A76-3772-473E-B5BD-4BF8C4F8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71900"/>
            <a:ext cx="1381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433D6F-607C-4FD9-93A7-3B1ECE70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38575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SURROGATE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4081A0-27EB-4D18-8EED-8605E01D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528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illegal_trap; process_chain; dynamic_executable_memory; anti_debug_like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844840-2768-4797-825F-C6034243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005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AC632C-61A1-4A31-8B4B-53833B8E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52950"/>
            <a:ext cx="1381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95DEBD-A212-455A-A576-B656C05D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19625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63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BENIGN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8678C1-1C4F-43D5-B96F-03338664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3390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hello; cat; clock_status; getdents_only; mmap_rw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9991F4-9523-4CBD-BAF7-8CA3FADD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1816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46557711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0F70F9-45DC-4EDB-8048-34D69DE7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F0204C-C4AC-4B6C-B260-899E6180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0C74C3-FED4-4E69-A161-533D7C1F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APPENDIX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CCA65-891E-4AD9-AC26-75CC80CF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F2DAD7-D00F-4D36-9536-91C01C30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Resource detail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117618-1FF3-40CB-94C8-16382839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718C61-141B-45E3-94F6-CF668F88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04950"/>
            <a:ext cx="8810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Resource/timing claim is supported; runtime overhead is not.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B657ED-D0D6-4CE6-AF41-03948AAC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288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LUT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B8999D-1867-4251-A686-7052C908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4288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7F9545-B8A0-4D7C-BE12-158C6AE5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BRAM18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205917-1495-4924-84CC-C7E1E507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288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DSP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93EB80-692D-4A31-AB9F-18257018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718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rPr>
              <a:t>baseline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2026AA-00A0-4DA9-A971-A607D22D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718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84,923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2C749C-4C7D-4A3F-887E-D34CF6B8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718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56,491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369CB1-9D6D-40C1-AEBD-B442BD0E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718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108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AA8DD-31C1-4BD7-8F0A-255412C2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718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27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0950C4-54F7-4895-B80B-B3D8077C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0995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2FC673-ACD6-4B26-95C7-83A49B13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14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rPr>
              <a:t>trace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D74585-6045-4228-952D-104DD96C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14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106,428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7E8BB7-4886-4498-B38D-B3318F28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714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65,634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0ECACB-FB21-440C-9B25-CA0F32AA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14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114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78E439-AA12-4194-ABAA-2EE784E0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14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27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A9B652-DDB8-4746-A294-EB0124AC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5290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D769E6-E037-4221-B679-2A16614F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577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delta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C1884C-EC35-4203-AB0C-C133E758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577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rPr>
              <a:t>+25.32%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F27691-04A0-4157-A9D0-64009A79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4577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rPr>
              <a:t>+16.18%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F4CDAC-41AC-467C-BF7A-C877CE97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577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rPr>
              <a:t>+5.56%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E7F6AD-0BBD-4A07-8741-3C03FFEB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577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rPr>
              <a:t>+0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3B03F6-68E2-4FC1-BE8E-20049AF3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9585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402665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2026-06-26T02:02:39.3750000Z</dcterms:created>
  <dcterms:modified xsi:type="dcterms:W3CDTF">2026-06-26T02:02:39.3750000Z</dcterms:modified>
</coreProperties>
</file>