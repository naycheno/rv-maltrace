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30842e0c244c61" /><Relationship Type="http://schemas.openxmlformats.org/officeDocument/2006/relationships/extended-properties" Target="/docProps/app.xml" Id="R66523796875b4eb9" /><Relationship Type="http://schemas.openxmlformats.org/officeDocument/2006/relationships/officeDocument" Target="/ppt/presentation.xml" Id="Rb8b46a604fe841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504c41c5ea4ff8"/>
  </p:sldMasterIdLst>
  <p:notesMasterIdLst>
    <p:notesMasterId xmlns:r="http://schemas.openxmlformats.org/officeDocument/2006/relationships" r:id="Rdba223075d494ff3"/>
  </p:notesMasterIdLst>
  <p:sldIdLst>
    <p:sldId xmlns:r="http://schemas.openxmlformats.org/officeDocument/2006/relationships" id="256" r:id="R29a7c121d89f45fe"/>
    <p:sldId xmlns:r="http://schemas.openxmlformats.org/officeDocument/2006/relationships" id="257" r:id="R9984907dc63940a6"/>
    <p:sldId xmlns:r="http://schemas.openxmlformats.org/officeDocument/2006/relationships" id="258" r:id="Rbf7eff9d33874742"/>
    <p:sldId xmlns:r="http://schemas.openxmlformats.org/officeDocument/2006/relationships" id="259" r:id="Rf0a78a942b384422"/>
    <p:sldId xmlns:r="http://schemas.openxmlformats.org/officeDocument/2006/relationships" id="260" r:id="Ra6c794ef4f284ca0"/>
    <p:sldId xmlns:r="http://schemas.openxmlformats.org/officeDocument/2006/relationships" id="261" r:id="Rb596902d25ed4748"/>
    <p:sldId xmlns:r="http://schemas.openxmlformats.org/officeDocument/2006/relationships" id="262" r:id="Rb6f2c137602c4da0"/>
    <p:sldId xmlns:r="http://schemas.openxmlformats.org/officeDocument/2006/relationships" id="263" r:id="Rf7783f2f233b419f"/>
    <p:sldId xmlns:r="http://schemas.openxmlformats.org/officeDocument/2006/relationships" id="264" r:id="R4c2c15ccab8747a2"/>
    <p:sldId xmlns:r="http://schemas.openxmlformats.org/officeDocument/2006/relationships" id="265" r:id="R236c67acaeb043d4"/>
    <p:sldId xmlns:r="http://schemas.openxmlformats.org/officeDocument/2006/relationships" id="266" r:id="R7f30a4c86529430e"/>
    <p:sldId xmlns:r="http://schemas.openxmlformats.org/officeDocument/2006/relationships" id="267" r:id="R2a74b58c437d4b8d"/>
    <p:sldId xmlns:r="http://schemas.openxmlformats.org/officeDocument/2006/relationships" id="268" r:id="R1b70f4eac9a2486d"/>
    <p:sldId xmlns:r="http://schemas.openxmlformats.org/officeDocument/2006/relationships" id="269" r:id="R60a10e4b2bbd42b0"/>
    <p:sldId xmlns:r="http://schemas.openxmlformats.org/officeDocument/2006/relationships" id="270" r:id="R9e09156b24a34c43"/>
    <p:sldId xmlns:r="http://schemas.openxmlformats.org/officeDocument/2006/relationships" id="271" r:id="R007fe0d8eaee46ba"/>
    <p:sldId xmlns:r="http://schemas.openxmlformats.org/officeDocument/2006/relationships" id="272" r:id="R85459e06744a45a3"/>
    <p:sldId xmlns:r="http://schemas.openxmlformats.org/officeDocument/2006/relationships" id="273" r:id="Rc0c9c121e2304573"/>
    <p:sldId xmlns:r="http://schemas.openxmlformats.org/officeDocument/2006/relationships" id="274" r:id="R7083e3013bf04b25"/>
    <p:sldId xmlns:r="http://schemas.openxmlformats.org/officeDocument/2006/relationships" id="275" r:id="R2d44f9e039194a3c"/>
    <p:sldId xmlns:r="http://schemas.openxmlformats.org/officeDocument/2006/relationships" id="276" r:id="R55aa8a58d6584642"/>
    <p:sldId xmlns:r="http://schemas.openxmlformats.org/officeDocument/2006/relationships" id="277" r:id="R23865eae41eb4eb1"/>
    <p:sldId xmlns:r="http://schemas.openxmlformats.org/officeDocument/2006/relationships" id="278" r:id="Rc24e2be9aa91413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a95f2b1acac4434" /><Relationship Type="http://schemas.openxmlformats.org/officeDocument/2006/relationships/slideMaster" Target="/ppt/slideMasters/slideMaster1.xml" Id="Rac504c41c5ea4ff8" /><Relationship Type="http://schemas.openxmlformats.org/officeDocument/2006/relationships/notesMaster" Target="/ppt/notesMasters/notesMaster1.xml" Id="Rdba223075d494ff3" /><Relationship Type="http://schemas.openxmlformats.org/officeDocument/2006/relationships/presProps" Target="/ppt/presProps.xml" Id="R98d23d8cb6cb4bd8" /><Relationship Type="http://schemas.openxmlformats.org/officeDocument/2006/relationships/tableStyles" Target="/ppt/tableStyles.xml" Id="R2e821b3850a646f3" /><Relationship Type="http://schemas.openxmlformats.org/officeDocument/2006/relationships/slide" Target="/ppt/slides/slide1.xml" Id="R29a7c121d89f45fe" /><Relationship Type="http://schemas.openxmlformats.org/officeDocument/2006/relationships/slide" Target="/ppt/slides/slide2.xml" Id="R9984907dc63940a6" /><Relationship Type="http://schemas.openxmlformats.org/officeDocument/2006/relationships/slide" Target="/ppt/slides/slide3.xml" Id="Rbf7eff9d33874742" /><Relationship Type="http://schemas.openxmlformats.org/officeDocument/2006/relationships/slide" Target="/ppt/slides/slide4.xml" Id="Rf0a78a942b384422" /><Relationship Type="http://schemas.openxmlformats.org/officeDocument/2006/relationships/slide" Target="/ppt/slides/slide5.xml" Id="Ra6c794ef4f284ca0" /><Relationship Type="http://schemas.openxmlformats.org/officeDocument/2006/relationships/slide" Target="/ppt/slides/slide6.xml" Id="Rb596902d25ed4748" /><Relationship Type="http://schemas.openxmlformats.org/officeDocument/2006/relationships/slide" Target="/ppt/slides/slide7.xml" Id="Rb6f2c137602c4da0" /><Relationship Type="http://schemas.openxmlformats.org/officeDocument/2006/relationships/slide" Target="/ppt/slides/slide8.xml" Id="Rf7783f2f233b419f" /><Relationship Type="http://schemas.openxmlformats.org/officeDocument/2006/relationships/slide" Target="/ppt/slides/slide9.xml" Id="R4c2c15ccab8747a2" /><Relationship Type="http://schemas.openxmlformats.org/officeDocument/2006/relationships/slide" Target="/ppt/slides/slide10.xml" Id="R236c67acaeb043d4" /><Relationship Type="http://schemas.openxmlformats.org/officeDocument/2006/relationships/slide" Target="/ppt/slides/slide11.xml" Id="R7f30a4c86529430e" /><Relationship Type="http://schemas.openxmlformats.org/officeDocument/2006/relationships/slide" Target="/ppt/slides/slide12.xml" Id="R2a74b58c437d4b8d" /><Relationship Type="http://schemas.openxmlformats.org/officeDocument/2006/relationships/slide" Target="/ppt/slides/slide13.xml" Id="R1b70f4eac9a2486d" /><Relationship Type="http://schemas.openxmlformats.org/officeDocument/2006/relationships/slide" Target="/ppt/slides/slide14.xml" Id="R60a10e4b2bbd42b0" /><Relationship Type="http://schemas.openxmlformats.org/officeDocument/2006/relationships/slide" Target="/ppt/slides/slide15.xml" Id="R9e09156b24a34c43" /><Relationship Type="http://schemas.openxmlformats.org/officeDocument/2006/relationships/slide" Target="/ppt/slides/slide16.xml" Id="R007fe0d8eaee46ba" /><Relationship Type="http://schemas.openxmlformats.org/officeDocument/2006/relationships/slide" Target="/ppt/slides/slide17.xml" Id="R85459e06744a45a3" /><Relationship Type="http://schemas.openxmlformats.org/officeDocument/2006/relationships/slide" Target="/ppt/slides/slide18.xml" Id="Rc0c9c121e2304573" /><Relationship Type="http://schemas.openxmlformats.org/officeDocument/2006/relationships/slide" Target="/ppt/slides/slide19.xml" Id="R7083e3013bf04b25" /><Relationship Type="http://schemas.openxmlformats.org/officeDocument/2006/relationships/slide" Target="/ppt/slides/slide20.xml" Id="R2d44f9e039194a3c" /><Relationship Type="http://schemas.openxmlformats.org/officeDocument/2006/relationships/slide" Target="/ppt/slides/slide21.xml" Id="R55aa8a58d6584642" /><Relationship Type="http://schemas.openxmlformats.org/officeDocument/2006/relationships/slide" Target="/ppt/slides/slide22.xml" Id="R23865eae41eb4eb1" /><Relationship Type="http://schemas.openxmlformats.org/officeDocument/2006/relationships/slide" Target="/ppt/slides/slide23.xml" Id="Rc24e2be9aa9141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ba0af657a845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2f59ce09264423f" /><Relationship Type="http://schemas.openxmlformats.org/officeDocument/2006/relationships/notesMaster" Target="/ppt/notesMasters/notesMaster1.xml" Id="R5f64e2ac556c48c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7a4f808cac346e7" /><Relationship Type="http://schemas.openxmlformats.org/officeDocument/2006/relationships/notesMaster" Target="/ppt/notesMasters/notesMaster1.xml" Id="R7cc73597dc5f4e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31bf8a3d6e34342" /><Relationship Type="http://schemas.openxmlformats.org/officeDocument/2006/relationships/notesMaster" Target="/ppt/notesMasters/notesMaster1.xml" Id="R50fcf641b1ea4e7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c3586569c0d4815" /><Relationship Type="http://schemas.openxmlformats.org/officeDocument/2006/relationships/notesMaster" Target="/ppt/notesMasters/notesMaster1.xml" Id="R91152765b881425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233c474de3c4c09" /><Relationship Type="http://schemas.openxmlformats.org/officeDocument/2006/relationships/notesMaster" Target="/ppt/notesMasters/notesMaster1.xml" Id="Rd045bf58dd94458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8efa9afa0634582" /><Relationship Type="http://schemas.openxmlformats.org/officeDocument/2006/relationships/notesMaster" Target="/ppt/notesMasters/notesMaster1.xml" Id="R97dd8d0153ec46f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a84d10dbade418f" /><Relationship Type="http://schemas.openxmlformats.org/officeDocument/2006/relationships/notesMaster" Target="/ppt/notesMasters/notesMaster1.xml" Id="Ra2b2b0a0d1d04e5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3b53c92e2c74857" /><Relationship Type="http://schemas.openxmlformats.org/officeDocument/2006/relationships/notesMaster" Target="/ppt/notesMasters/notesMaster1.xml" Id="Re26afcc023bf4bb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deee5b89d3d4513" /><Relationship Type="http://schemas.openxmlformats.org/officeDocument/2006/relationships/notesMaster" Target="/ppt/notesMasters/notesMaster1.xml" Id="R92badb4873a547b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4cc263a8c5d4d8a" /><Relationship Type="http://schemas.openxmlformats.org/officeDocument/2006/relationships/notesMaster" Target="/ppt/notesMasters/notesMaster1.xml" Id="R3d7d037960d74fb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13338ebfb3b4969" /><Relationship Type="http://schemas.openxmlformats.org/officeDocument/2006/relationships/notesMaster" Target="/ppt/notesMasters/notesMaster1.xml" Id="R0e48d00d1d7942b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9750a7a75b846ca" /><Relationship Type="http://schemas.openxmlformats.org/officeDocument/2006/relationships/notesMaster" Target="/ppt/notesMasters/notesMaster1.xml" Id="Rfb10e4ee78c548d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bfb95bdb98c457c" /><Relationship Type="http://schemas.openxmlformats.org/officeDocument/2006/relationships/notesMaster" Target="/ppt/notesMasters/notesMaster1.xml" Id="Rbdb9c32cbc1a439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a736d5a29b74654" /><Relationship Type="http://schemas.openxmlformats.org/officeDocument/2006/relationships/notesMaster" Target="/ppt/notesMasters/notesMaster1.xml" Id="Rbfcce529446c453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069e36c09c64cfb" /><Relationship Type="http://schemas.openxmlformats.org/officeDocument/2006/relationships/notesMaster" Target="/ppt/notesMasters/notesMaster1.xml" Id="R0d3458b8ccb245c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0850a4f68d24277" /><Relationship Type="http://schemas.openxmlformats.org/officeDocument/2006/relationships/notesMaster" Target="/ppt/notesMasters/notesMaster1.xml" Id="Rd58cfeb39f9c449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b3064a765e640fa" /><Relationship Type="http://schemas.openxmlformats.org/officeDocument/2006/relationships/notesMaster" Target="/ppt/notesMasters/notesMaster1.xml" Id="Re4fcd0d46dc54be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1ad441fa75e4c1e" /><Relationship Type="http://schemas.openxmlformats.org/officeDocument/2006/relationships/notesMaster" Target="/ppt/notesMasters/notesMaster1.xml" Id="R37fd505900ca4b0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07b70e0144049ab" /><Relationship Type="http://schemas.openxmlformats.org/officeDocument/2006/relationships/notesMaster" Target="/ppt/notesMasters/notesMaster1.xml" Id="Rb66b03bb3bcb414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f3baac50e6840ae" /><Relationship Type="http://schemas.openxmlformats.org/officeDocument/2006/relationships/notesMaster" Target="/ppt/notesMasters/notesMaster1.xml" Id="Rf4b887d38cc9438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346355fe91e433e" /><Relationship Type="http://schemas.openxmlformats.org/officeDocument/2006/relationships/notesMaster" Target="/ppt/notesMasters/notesMaster1.xml" Id="Rd59d2facba704ad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052db55c177451c" /><Relationship Type="http://schemas.openxmlformats.org/officeDocument/2006/relationships/notesMaster" Target="/ppt/notesMasters/notesMaster1.xml" Id="R3ade1d4612f3425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dd0ac3e39b84ac9" /><Relationship Type="http://schemas.openxmlformats.org/officeDocument/2006/relationships/notesMaster" Target="/ppt/notesMasters/notesMaster1.xml" Id="Rf482163fe14e45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论文中心叙事：这不是 advisor decision deck，也不是 malware detector。核心论文对象是 hardware-assisted tracing、code attribution 和 provenance-aware semantic reconstruction。provenance 在这里按常规定义使用：每个高层语义标签必须能追溯到 trace、code map 或 oracle/reference field。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问题写成 paper problem：strace/QEMU/host logs 是必要 reference/oracle，但对抗性 workload 可感知软件观测面。oracle 是测试领域常用术语；主 slide 使用 reference，避免听众误读。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论文主张不是泛泛的 trace substrate，而是 hardware trace + code map + rule-based behavior analysis。provenance 是标准数据谱系/证据追踪术语，不是自造词；真实 malware 检测准确率仍不是当前 claim。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贡献页只讲三点：CVA6 out-of-band trace collection、semantic reconstruction with provenance、Genesys2/CVA6 validation artifacts。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回应核心问题：应用不是单独的 trace，也不是单独的 malware detector，而是把硬件 trace、本地 ELF/code-map 分析、malware-behavior taxonomy/rules 连接起来。trace-backed behavior analysis 是描述性组合词，页内拆成三列解释。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实现路径：trace.jsonl -&gt; semantic_events/behavior_graph；ELF/code_map -&gt; trace-code join；manifest/rules -&gt; rule-based malware-behavior analysis。用 data sources 替代 evidence planes，避免生造术语。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35T: 13/13 synthetic matrix + 6/6 malware-derived safety-controlled behavior cases。Genesys2/CVA6: 12 controlled case studies, 8 safe surrogate case studies, local code fixtures PASS, but not real-malware validation。scoped prototype 是标准项目/论文表述，比 bounded app 更自然。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保留 CVA6 的论文贡献：从 commit-time trace 到 semantic event reconstruction，再到 validation scripts/checkers。此处不把它写成完整 malware detector。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事件类型来自 trace_format.md：retire/control-flow/syscall/trap/context/memory/drop。这里按类别表达，不把所有枚举塞满。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本地代码分析包括 build_code_map、join_trace_code_map、source attribution summary。Genesys2 local fixtures PASS，但 board-native DWARF/source-line 仍不能声称。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35T evidence: 13/13 synthetic matrix PASS, 512-record trace budget, fd/path and process-tree targeted validation PASS, 6/6 malware-derived safety-controlled behavior cases PASS。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Genesys2/CVA6 current: case_study_manifest PASS with 12 case studies; 8 safe surrogate case studies; rule-based behavior analysis metrics PASS; local code fixtures PASS_LOCAL_CODE_ANALYSIS_FIXTURES; real malware containment PASS but no payloads in repo。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RQ 不要写成 submission traffic light，而是写成 evaluation design：supported evidence、limited evidence、unsupported claims。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12 samples, 126 attempts, 122 accepted reps, 4 failed retained, 0 drops/wraps/gaps in accepted windows。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 safe baseline programs, 8 malware-behavior surrogate workloads, 5 benign controls。不要称真实 malware benchmark。surrogate 是安全实验中常用术语，这里指 repo-authored、safety-controlled implementations。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指标全过容易被误读，所以图内必须写 controlled-only / not detection accuracy。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LUT +25.32%, FF +16.18%, BRAM18 +5.56%, DSP +0, timing MET slack 0.177 ns。不能写 runtime slowdown。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raw archive 3160 files / 316.9 MB；repro quick/full pass；paper skeleton builds but content incomplete。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以论文写作边界为中心：可以写 trace-backed behavior analysis 和 35T end-to-end prototype，不能写 mature malware detector 或 CVA6 real-malware accuracy。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收尾不再让导师拍板，而是给出论文中心叙事：problem -&gt; trace-backed analysis pipeline -&gt; scoped prototype -&gt; limitations/future work。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 p99 0.0215755 B/cycle; required 0.0323633 B/cycle; at 50 MHz required 1.618 MB/s; current sustained=0, noninterference=false。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列出 safe baseline、malware-behavior surrogates、benign controls。P0 safe 是内部分组名，正文不使用。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baseline vs trace-enabled resource table。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1680f96ee24f5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a1047526e824bf6" /><Relationship Type="http://schemas.openxmlformats.org/officeDocument/2006/relationships/slideLayout" Target="/ppt/slideLayouts/slideLayout1.xml" Id="R4408016f8c49458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08016f8c49458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367adacd3d4de8" /><Relationship Type="http://schemas.openxmlformats.org/officeDocument/2006/relationships/notesSlide" Target="/ppt/notesSlides/notesSlide1.xml" Id="R3aa9dc5c3f654d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a61aac592f4916" /><Relationship Type="http://schemas.openxmlformats.org/officeDocument/2006/relationships/notesSlide" Target="/ppt/notesSlides/notesSlide2.xml" Id="R5bc66e4c7c824ac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4bb22a5079449d" /><Relationship Type="http://schemas.openxmlformats.org/officeDocument/2006/relationships/notesSlide" Target="/ppt/notesSlides/notesSlide3.xml" Id="R31a5a0f0aa144be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ba877c30984876" /><Relationship Type="http://schemas.openxmlformats.org/officeDocument/2006/relationships/notesSlide" Target="/ppt/notesSlides/notesSlide4.xml" Id="Raeb97df4337e4e2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3126c72ccb47ca" /><Relationship Type="http://schemas.openxmlformats.org/officeDocument/2006/relationships/notesSlide" Target="/ppt/notesSlides/notesSlide5.xml" Id="Rafe122fa1ffb46c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890ec0f0234ccb" /><Relationship Type="http://schemas.openxmlformats.org/officeDocument/2006/relationships/notesSlide" Target="/ppt/notesSlides/notesSlide6.xml" Id="Rdf5ef35d55fd43b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0c8b30b7d54cf0" /><Relationship Type="http://schemas.openxmlformats.org/officeDocument/2006/relationships/notesSlide" Target="/ppt/notesSlides/notesSlide7.xml" Id="Rbfb0079b655f470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a16e3dff714f8e" /><Relationship Type="http://schemas.openxmlformats.org/officeDocument/2006/relationships/notesSlide" Target="/ppt/notesSlides/notesSlide8.xml" Id="Rd38d9d587d244df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f5a3a43b1a403f" /><Relationship Type="http://schemas.openxmlformats.org/officeDocument/2006/relationships/notesSlide" Target="/ppt/notesSlides/notesSlide9.xml" Id="Raba571d328924e4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7f9ccce56e429d" /><Relationship Type="http://schemas.openxmlformats.org/officeDocument/2006/relationships/notesSlide" Target="/ppt/notesSlides/notesSlide10.xml" Id="R5d41fb86e2d746e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33ce4ede554a17" /><Relationship Type="http://schemas.openxmlformats.org/officeDocument/2006/relationships/notesSlide" Target="/ppt/notesSlides/notesSlide11.xml" Id="R3bddace0a5db464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e96d5bd47f457e" /><Relationship Type="http://schemas.openxmlformats.org/officeDocument/2006/relationships/notesSlide" Target="/ppt/notesSlides/notesSlide12.xml" Id="R201e236c6efd422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62f54a770e4257" /><Relationship Type="http://schemas.openxmlformats.org/officeDocument/2006/relationships/notesSlide" Target="/ppt/notesSlides/notesSlide13.xml" Id="Ra3be09b4d48741c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a5eaf4610e4a0f" /><Relationship Type="http://schemas.openxmlformats.org/officeDocument/2006/relationships/notesSlide" Target="/ppt/notesSlides/notesSlide14.xml" Id="R23d13d347e494dd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5bb037f2e24eeb" /><Relationship Type="http://schemas.openxmlformats.org/officeDocument/2006/relationships/notesSlide" Target="/ppt/notesSlides/notesSlide15.xml" Id="R626df30ace43437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6a4eac24f34553" /><Relationship Type="http://schemas.openxmlformats.org/officeDocument/2006/relationships/notesSlide" Target="/ppt/notesSlides/notesSlide16.xml" Id="Rb362a4a12aa2413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a0f9a8210147d1" /><Relationship Type="http://schemas.openxmlformats.org/officeDocument/2006/relationships/notesSlide" Target="/ppt/notesSlides/notesSlide17.xml" Id="Rf16d03a66e7e4d9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ba4169e06a4324" /><Relationship Type="http://schemas.openxmlformats.org/officeDocument/2006/relationships/notesSlide" Target="/ppt/notesSlides/notesSlide18.xml" Id="Rea9970fa4e064a4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7b362f12be465c" /><Relationship Type="http://schemas.openxmlformats.org/officeDocument/2006/relationships/notesSlide" Target="/ppt/notesSlides/notesSlide19.xml" Id="Re7fc48d0fb2a47f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c2e1f1349243e8" /><Relationship Type="http://schemas.openxmlformats.org/officeDocument/2006/relationships/notesSlide" Target="/ppt/notesSlides/notesSlide20.xml" Id="R028f6649a7cc49b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dd1b5e563f440e" /><Relationship Type="http://schemas.openxmlformats.org/officeDocument/2006/relationships/notesSlide" Target="/ppt/notesSlides/notesSlide21.xml" Id="Re2fee3b8bdf944c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1aa4602659408a" /><Relationship Type="http://schemas.openxmlformats.org/officeDocument/2006/relationships/notesSlide" Target="/ppt/notesSlides/notesSlide22.xml" Id="R742dc8d91b8f4b5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dde53191ef4cdd" /><Relationship Type="http://schemas.openxmlformats.org/officeDocument/2006/relationships/notesSlide" Target="/ppt/notesSlides/notesSlide23.xml" Id="Rbedd49b345e14da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6516EC-A09E-4F15-99BC-057D15419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FC06CC-A75A-4E78-B9A0-0A8A27B61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NDSS PAPER UPDATE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30136F-F2AC-48C3-9C17-CAF3C05BC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85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52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RV-MalTrace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16F84A-CE09-46AE-B0D7-3AC5585D3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0350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Hardware-assisted behavior tracing for RISC-V Linux workloads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B76635-BBC4-43E2-A188-F07FFCA76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FB0F03-10B3-4E01-B87E-947CF18AA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742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Scope: controlled Genesys2/CVA6 tracing and semantic reconstruction. Not a malware detector or production transport claim.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A2A5AD-5A77-4AE3-8EF9-48B4D6809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9125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artifact root: results/evaluation/genesys2-cva6/current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771DFA-65AD-4D81-9B78-0199420B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428750"/>
            <a:ext cx="2095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3C0485-435A-44F4-8988-033881CFA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90700"/>
            <a:ext cx="2095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057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0057FF"/>
                </a:solidFill>
                <a:latin typeface="Microsoft YaHei UI"/>
                <a:ea typeface="Microsoft YaHei UI"/>
                <a:cs typeface="Microsoft YaHei UI"/>
              </a:rPr>
              <a:t>TRACE</a:t>
            </a:r>
          </a:p>
          <a:p xmlns:a="http://schemas.openxmlformats.org/drawingml/2006/main">
            <a:pPr algn="ctr">
              <a:defRPr sz="2700" b="1">
                <a:solidFill>
                  <a:srgbClr val="0057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0057FF"/>
                </a:solidFill>
                <a:latin typeface="Microsoft YaHei UI"/>
                <a:ea typeface="Microsoft YaHei UI"/>
                <a:cs typeface="Microsoft YaHei UI"/>
              </a:rPr>
              <a:t>EVENTS</a:t>
            </a:r>
          </a:p>
          <a:p xmlns:a="http://schemas.openxmlformats.org/drawingml/2006/main">
            <a:pPr algn="ctr">
              <a:defRPr sz="2700" b="1">
                <a:solidFill>
                  <a:srgbClr val="0057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0057FF"/>
                </a:solidFill>
                <a:latin typeface="Microsoft YaHei UI"/>
                <a:ea typeface="Microsoft YaHei UI"/>
                <a:cs typeface="Microsoft YaHei UI"/>
              </a:rPr>
              <a:t>FIRST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C3C2B7-5C84-453F-AE3D-06811EF3E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005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06156A-5A45-4B53-B52D-83C6A741E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5529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4AF13C-00CD-456B-8166-971C3D97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105400"/>
            <a:ext cx="1762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4761286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9C83D9-1BBE-40CA-A103-B5AB0A32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35BBF8-EE67-4F70-8103-A6C06AD57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6B5E37-65A3-474F-99BA-E7E87B2CA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RESEARCH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F534E2-DDD0-4846-B34A-D6CE9419A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B4E86C-7519-42D4-AB3B-00E583F8E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Software-only tracing changes the observation surface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D0541B-5C77-482F-BE1E-9DF1D0E2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16DAB5-AF9C-415C-B1A7-BF5640AD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rPr>
              <a:t>Software tracers are useful references, but visible to workloads.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ADA62C-B2B4-43E3-A5DB-218E16D6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19375"/>
            <a:ext cx="4381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1D1FFA-470F-4E57-AA6E-5973D79F0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860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0000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000000"/>
                </a:solidFill>
                <a:latin typeface="Cascadia Mono"/>
                <a:ea typeface="Cascadia Mono"/>
                <a:cs typeface="Cascadia Mono"/>
              </a:rPr>
              <a:t>SOFTWARE OBSERVER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423D54-A1C3-4599-B879-B93D8D0A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2422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Rich semantics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A2CEA9-B38B-477C-9608-42B99761D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76675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0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rPr>
              <a:t>Useful reference data, but visible to the workload.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121454-8C77-453A-9F1A-5A95426A6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19375"/>
            <a:ext cx="4381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19050">
            <a:solidFill>
              <a:srgbClr val="005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40C6C8-3920-4740-8971-332D00133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860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OUT-OF-BAND TRACE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964837-DCF6-4A95-B9CB-4113E06D7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2422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Hardware path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40E441-58DB-4679-AE0C-31716FC09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76675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0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rPr>
              <a:t>Commit-time trace starts below user-mode observer checks.</a:t>
            </a:r>
          </a:p>
        </p:txBody>
      </p:sp>
    </p:spTree>
    <p:extLst>
      <p:ext uri="{BB962C8B-B14F-4D97-AF65-F5344CB8AC3E}">
        <p14:creationId xmlns:p14="http://schemas.microsoft.com/office/powerpoint/2010/main" val="177291829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C92D22-3B5B-4BD6-8087-5D5CB4CFD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EE4FF9-3CCE-401E-B64A-ECCF58DFD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7D4119-6C40-4B8D-BC5D-DCA97ED46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THESIS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E4C2F7-897E-488B-A9B6-57D693C28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54F0FD-1AF7-4D96-8A71-BAF1D12F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Trace events first; derived semantics carry provenance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A7FF0E-8E52-4C68-9442-1B1BAD64E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DB9B35-00EF-4483-A0B3-AACE468E2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rPr>
              <a:t>The paper claims a trace-backed behavior analysis pipeline.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2511D2-77AC-4257-A2E0-88965A8EB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8605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352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TRACE EVENTS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BE0686-8916-48E1-B44D-4BC2FD2A9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81300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rPr>
              <a:t>with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7742C7-135F-4C70-885F-79C2A1B6C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860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783A"/>
                </a:solidFill>
                <a:latin typeface="Cascadia Mono"/>
                <a:ea typeface="Cascadia Mono"/>
                <a:cs typeface="Cascadia Mono"/>
              </a:defRPr>
            </a:pPr>
            <a:r>
              <a:rPr sz="3450" b="1">
                <a:solidFill>
                  <a:srgbClr val="12783A"/>
                </a:solidFill>
                <a:latin typeface="Cascadia Mono"/>
                <a:ea typeface="Cascadia Mono"/>
                <a:cs typeface="Cascadia Mono"/>
              </a:rPr>
              <a:t>PROVENANCE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40C789-F954-4572-8846-4A5576380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1950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BBAE15-FCA0-45C3-9519-01600A91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957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Committed events are hardware observations.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B0485F-B28E-48C2-BF38-DDB8EBC1F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09575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Provenance means source tags for derived labels.</a:t>
            </a:r>
          </a:p>
        </p:txBody>
      </p:sp>
    </p:spTree>
    <p:extLst>
      <p:ext uri="{BB962C8B-B14F-4D97-AF65-F5344CB8AC3E}">
        <p14:creationId xmlns:p14="http://schemas.microsoft.com/office/powerpoint/2010/main" val="213498273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965E5A-309C-4F6C-8E03-E586235BA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DAC29D-1210-4C5E-AC98-8C66B5D5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A984DF-8346-420A-B347-01CFCC639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CONTRIBUTIONS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DC40B6-DB4E-4E0E-B2F9-DC4651FA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EA8BFD-1AA5-4A98-9EC5-5F98682F1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Three contributions define the paper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4B485C-7122-470D-B814-48A8162B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A4A3A0-6026-448F-858B-4AF39A990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rPr>
              <a:t>Each contribution maps to code and evidence in the repository.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881F13-797C-4042-BCD9-F853CBF45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52700"/>
            <a:ext cx="3143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19050">
            <a:solidFill>
              <a:srgbClr val="005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36CFE0-A769-4283-A14A-278FD263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003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C1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68CD6B-311A-4A1B-AA0B-FF4F7C8D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3850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CVA6 trace tap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94E013-9756-4B80-B250-4E3192E52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814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rPr>
              <a:t>Out-of-band commit, privilege, and drop events.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503922-F445-44B6-832F-2BB8FDAC9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552700"/>
            <a:ext cx="3143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EF"/>
          </a:solidFill>
          <a:ln xmlns:a="http://schemas.openxmlformats.org/drawingml/2006/main" w="19050">
            <a:solidFill>
              <a:srgbClr val="1278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A89547-5C8D-43C4-9999-48D33913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8003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783A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12783A"/>
                </a:solidFill>
                <a:latin typeface="Cascadia Mono"/>
                <a:ea typeface="Cascadia Mono"/>
                <a:cs typeface="Cascadia Mono"/>
              </a:rPr>
              <a:t>C2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D5F87F-FEE8-4151-BDDE-6CDA571DE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23850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Semantic reconstruction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54F98A-73D8-4372-80F0-566AF015B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9814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rPr>
              <a:t>Derived behavior labels with provenance.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8C9F38-E70B-4102-B500-751F2B758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52700"/>
            <a:ext cx="3143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E1D08C-FA75-418B-863D-9FE6C736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003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0000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000000"/>
                </a:solidFill>
                <a:latin typeface="Cascadia Mono"/>
                <a:ea typeface="Cascadia Mono"/>
                <a:cs typeface="Cascadia Mono"/>
              </a:rPr>
              <a:t>C3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BCD007-7897-477D-841D-10AEECD0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3850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Validation artifacts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F29781-42F7-41A3-9062-3C38AAC0D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9814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rPr>
              <a:t>Genesys2/CVA6 runs, manifests, and checkers.</a:t>
            </a:r>
          </a:p>
        </p:txBody>
      </p:sp>
    </p:spTree>
    <p:extLst>
      <p:ext uri="{BB962C8B-B14F-4D97-AF65-F5344CB8AC3E}">
        <p14:creationId xmlns:p14="http://schemas.microsoft.com/office/powerpoint/2010/main" val="177732070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9DDB2E-4F0C-4A81-B968-2A105E184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A5ABC1-32CD-4687-AB83-A15061DB2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F3E913-81D8-4D20-BA49-5F69223B8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CORE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9E9BC8-5FAD-4024-A9AA-C0EEF8B02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9A5BA7-1826-4A29-85C1-04958FB6B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The application is trace-backed behavior analysis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34F478-F90D-4906-AF5B-FF3E14372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8397B-0040-4FA0-A244-AC1A23CDB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rPr>
              <a:t>Hardware trace, local code analysis, and malware-behavior rules are joined.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349F09-5C94-46C7-814A-9F0CEF222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90800"/>
            <a:ext cx="3143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19050">
            <a:solidFill>
              <a:srgbClr val="005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81713E-1A7B-4792-94D5-CDC323166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956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HARDWARE TRACE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287EAF-19C1-49F5-B5D2-1DEFDD98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147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Trace events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F6F84C-0EA6-412E-B369-402292E0A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481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0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rPr>
              <a:t>syscalls, traps, returns, drops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F388E5-FD91-4DEA-8168-7CAC594A1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590800"/>
            <a:ext cx="3143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EF"/>
          </a:solidFill>
          <a:ln xmlns:a="http://schemas.openxmlformats.org/drawingml/2006/main" w="19050">
            <a:solidFill>
              <a:srgbClr val="1278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4FD380-BC3A-4020-A36B-1CBCDDFC0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8956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783A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12783A"/>
                </a:solidFill>
                <a:latin typeface="Cascadia Mono"/>
                <a:ea typeface="Cascadia Mono"/>
                <a:cs typeface="Cascadia Mono"/>
              </a:rPr>
              <a:t>LOCAL 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CA9A91-B65C-4499-9DED-439C4B7D7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3147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Attribution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A94341-E056-482A-8389-5932F48F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8481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0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rPr>
              <a:t>ELF hash, symbols, syscall sites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C15BCE-B158-4697-A7CA-415E5947A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90800"/>
            <a:ext cx="3143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E0"/>
          </a:solidFill>
          <a:ln xmlns:a="http://schemas.openxmlformats.org/drawingml/2006/main" w="19050">
            <a:solidFill>
              <a:srgbClr val="A15C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423464-BA69-4039-8821-D3043DF3A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956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15C00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A15C00"/>
                </a:solidFill>
                <a:latin typeface="Cascadia Mono"/>
                <a:ea typeface="Cascadia Mono"/>
                <a:cs typeface="Cascadia Mono"/>
              </a:rPr>
              <a:t>MALWARE ANALYSIS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72DA40-7514-4A41-89BE-E9DF037F1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147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Behavior rules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4816A2-164B-406D-9618-05E7A720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8481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0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rPr>
              <a:t>rule families, lineage, limitations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EEFB0C-9DD3-4BEF-8B6E-39D146DD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435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B423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B42318"/>
                </a:solidFill>
                <a:latin typeface="Microsoft YaHei UI"/>
                <a:ea typeface="Microsoft YaHei UI"/>
                <a:cs typeface="Microsoft YaHei UI"/>
              </a:rPr>
              <a:t>Core claim: trace-backed behavior analysis, not a mature classifier.</a:t>
            </a:r>
          </a:p>
        </p:txBody>
      </p:sp>
    </p:spTree>
    <p:extLst>
      <p:ext uri="{BB962C8B-B14F-4D97-AF65-F5344CB8AC3E}">
        <p14:creationId xmlns:p14="http://schemas.microsoft.com/office/powerpoint/2010/main" val="148305679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FD5A63-59A2-44E1-9A11-BF516406C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B24A9B-783F-4272-969C-E469B86DF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56FC4F-B57F-428F-B9AF-55C8CE91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HOW IT WORKS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236954-3E97-4528-ACB2-5633E124F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45FE41-E781-4B6B-A9B0-3BBFB5C0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Implementation joins three data sources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054733-C25C-4A57-A1F5-25306B73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FEBD5E-F7E7-43F6-9F0A-1F03D3E70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rPr>
              <a:t>Trace events stay separate from code attribution and behavior labels.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43C157-7EB1-49E3-ADB3-DE78F826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1809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9050">
            <a:solidFill>
              <a:srgbClr val="005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7FA0F5-7527-4A7D-85AD-97B6A2029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1650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trace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B8A37B-0B4A-4161-AB38-A32356F1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4805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rPr>
              <a:t>board events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1443DE-5754-47A2-8934-AF0995DDF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31470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F423CA-20E9-4900-9327-FE699804E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724150"/>
            <a:ext cx="1809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9050">
            <a:solidFill>
              <a:srgbClr val="1278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37C9DE-2ECE-48F6-B397-BABA7589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02895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2783A"/>
                </a:solidFill>
                <a:latin typeface="Cascadia Mono"/>
                <a:ea typeface="Cascadia Mono"/>
                <a:cs typeface="Cascadia Mono"/>
              </a:defRPr>
            </a:pPr>
            <a:r>
              <a:rPr sz="1650" b="1">
                <a:solidFill>
                  <a:srgbClr val="12783A"/>
                </a:solidFill>
                <a:latin typeface="Cascadia Mono"/>
                <a:ea typeface="Cascadia Mono"/>
                <a:cs typeface="Cascadia Mono"/>
              </a:rPr>
              <a:t>code map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A3A0EF-3671-4BEA-B26C-A8E00CF19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44805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rPr>
              <a:t>local ELF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7922A7-E9FC-4B41-8FD5-99F04C152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1470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68C850-8D82-417A-99ED-C8D9FCA48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724150"/>
            <a:ext cx="1809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B940F1-1D36-4366-BBE6-52F042DFB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02895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Cascadia Mono"/>
                <a:ea typeface="Cascadia Mono"/>
                <a:cs typeface="Cascadia Mono"/>
              </a:defRPr>
            </a:pPr>
            <a:r>
              <a:rPr sz="1650" b="1">
                <a:solidFill>
                  <a:srgbClr val="000000"/>
                </a:solidFill>
                <a:latin typeface="Cascadia Mono"/>
                <a:ea typeface="Cascadia Mono"/>
                <a:cs typeface="Cascadia Mono"/>
              </a:rPr>
              <a:t>join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B12D2D-C93B-4BD4-83F6-AF270BC49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44805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rPr>
              <a:t>PC + process scope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92FC87-8FAC-450C-80A3-6A04BA49C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31470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4A30E5-6C5D-4BF2-B2CE-94292762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724150"/>
            <a:ext cx="1809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9050">
            <a:solidFill>
              <a:srgbClr val="005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F9530D-7A95-4A42-B911-E99DCB5A5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02895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1650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graph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968BD9-A06E-4971-8D35-215197C91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44805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rPr>
              <a:t>semantic events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D7E9CA-E93C-4DA0-97BB-9C1B92A44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31470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0C2D82-C168-4D99-829F-8F6F85AF6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24150"/>
            <a:ext cx="1809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E0"/>
          </a:solidFill>
          <a:ln xmlns:a="http://schemas.openxmlformats.org/drawingml/2006/main" w="19050">
            <a:solidFill>
              <a:srgbClr val="A15C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607941-D88B-41DA-A3A6-AB1BFBB6D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02895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A15C00"/>
                </a:solidFill>
                <a:latin typeface="Cascadia Mono"/>
                <a:ea typeface="Cascadia Mono"/>
                <a:cs typeface="Cascadia Mono"/>
              </a:defRPr>
            </a:pPr>
            <a:r>
              <a:rPr sz="1650" b="1">
                <a:solidFill>
                  <a:srgbClr val="A15C00"/>
                </a:solidFill>
                <a:latin typeface="Cascadia Mono"/>
                <a:ea typeface="Cascadia Mono"/>
                <a:cs typeface="Cascadia Mono"/>
              </a:rPr>
              <a:t>rules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8A1AE2-AB49-46D1-B4F1-1E1539D34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44805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rPr>
              <a:t>behavior labels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2C9D24-D6AB-469E-9DDB-0FAB0D955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762500"/>
            <a:ext cx="1381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13D9DC-76AB-42CC-B527-F0D8AAF57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819650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SEPARATE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B482E4-2365-4BA6-9FA4-6CDAE9842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7434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hardware trace is kept separate from reference labels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0B5458-4605-4806-B268-09716D6E0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2387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87F675-06F8-4B58-98A5-556373C3C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372100"/>
            <a:ext cx="1381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8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E7FAE1-7C0F-4116-AB1E-D8BDC284F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429250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TAG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C36EA2D-7C50-4746-BB21-30C4D55FD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3530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code and behavior claims carry provenance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921425-8DC7-4842-BB48-B593E274A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8483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7705649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F4AD6C-7CD4-4BF9-A0B1-436FCD845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0AACB5-EC09-4E10-8824-59315CBD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0E3491-50DA-425D-8C17-D922037AE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IMPLEMENTATION STATUS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544519-81D8-4A84-929B-7DAAF577B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54C848-4658-4C3C-BF4D-6C9FC8C37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Implemented as a scoped prototype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904242-64E9-46B3-B3D7-1D3B61064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406133-1645-4A28-8ECA-E0086A45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rPr>
              <a:t>35T is end-to-end; Genesys2/CVA6 supports scoped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8C6280-97B9-4DFC-9EFE-9F4FA9EB7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524125"/>
            <a:ext cx="1381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8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25E7A4-9ECE-41B2-8A7D-C62B44615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581275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35T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7D66C6-67B2-4333-8CD9-FAAA0D013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05075"/>
            <a:ext cx="800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13/13 matrix PASS; 6/6 behavior cases PASS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4FDCDA-3BC8-46DA-BDFE-CF5839C3F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90875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8B9394-6228-498F-B7B2-A2C2BB6F7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438525"/>
            <a:ext cx="1381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BBFF8E-00A0-40EE-A694-36A523DF5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495675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CVA6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2A37C3-43A8-4E03-9667-61896CFFB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419475"/>
            <a:ext cx="800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12 case studies PASS; 8 safe surrogates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2006D8-56B4-408E-9640-91A56E44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105275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0604D3-63B9-457E-862E-7A695E3B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352925"/>
            <a:ext cx="1381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B0B8CA-9555-41B4-A4D0-03ACEE362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10075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LIMIT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B1C9ED-E4BF-49C1-B509-032E1CB5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333875"/>
            <a:ext cx="800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no accuracy, payload-equivalence, or source-line claim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DF3E89-EB50-4793-A0EE-F2259BEE6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019675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1861826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7DEF32-4D41-49F0-BD73-08EFDE71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122934-4962-4EF5-843E-2E671AA4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B1BD6E-2566-4440-8732-BC5DAC64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SYSTEM OVERVIEW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717316-89F3-4176-8C06-79196BE41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DA0AF9-EF14-4F90-B82D-7DAB5306B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CVA6 commit events feed semantic reconstruction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CD20F5-EF78-44D3-B495-C7DB54EA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A1415D-6E92-453C-B44F-44B507C6E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rPr>
              <a:t>The CVA6 path is sideband trace plus offline reconstruction.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D490B5-419D-417E-A064-AD278C77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60045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2A808C-7356-4BAB-8260-1944DEEED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95625"/>
            <a:ext cx="1524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19050">
            <a:solidFill>
              <a:srgbClr val="005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1E3908-FE80-4E55-B4DF-684995E6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62325"/>
            <a:ext cx="1181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CVA6</a:t>
            </a:r>
          </a:p>
          <a:p xmlns:a="http://schemas.openxmlformats.org/drawingml/2006/main">
            <a:pPr algn="ctr">
              <a:defRPr sz="17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commit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A99154-E434-4886-BE6B-8539C0A15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60045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E96D4F-FD81-464F-A9E3-7068C48C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95625"/>
            <a:ext cx="1524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19050">
            <a:solidFill>
              <a:srgbClr val="D8DE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DFB1F0-69D0-4E85-A6F1-105E99683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362325"/>
            <a:ext cx="1181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trace</a:t>
            </a:r>
          </a:p>
          <a:p xmlns:a="http://schemas.openxmlformats.org/drawingml/2006/main">
            <a:pPr algn="ctr">
              <a:defRPr sz="17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adapter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DF809E-1022-421C-BB23-E11E677E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0045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53C7EA-82CD-4366-8FEF-2BD7268A7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95625"/>
            <a:ext cx="1524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9050">
            <a:solidFill>
              <a:srgbClr val="D8DE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6A70F9-1B0E-4BBA-B0F2-7CCE7DC0B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362325"/>
            <a:ext cx="1181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filter +</a:t>
            </a:r>
          </a:p>
          <a:p xmlns:a="http://schemas.openxmlformats.org/drawingml/2006/main">
            <a:pPr algn="ctr">
              <a:defRPr sz="17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drop log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3F893D-B63E-4E51-B7C9-FC941BA38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0045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E0FBAD-6D73-4776-8220-C415A77BE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95625"/>
            <a:ext cx="1524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9050">
            <a:solidFill>
              <a:srgbClr val="D8DE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ED118E-4627-42F7-8367-ADD096F65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62325"/>
            <a:ext cx="1181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BRAM</a:t>
            </a:r>
          </a:p>
          <a:p xmlns:a="http://schemas.openxmlformats.org/drawingml/2006/main">
            <a:pPr algn="ctr">
              <a:defRPr sz="17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ring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9467D9-088B-4168-AE44-1DC1EB55A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60045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DFCD59-A64C-420B-AC80-07432791F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95625"/>
            <a:ext cx="1524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9050">
            <a:solidFill>
              <a:srgbClr val="D8DE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39EC8F-D675-4706-AE02-99C2BC140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362325"/>
            <a:ext cx="1181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event</a:t>
            </a:r>
          </a:p>
          <a:p xmlns:a="http://schemas.openxmlformats.org/drawingml/2006/main">
            <a:pPr algn="ctr">
              <a:defRPr sz="17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recon.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1B2461-B13B-4757-B2BB-842F0E2C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095625"/>
            <a:ext cx="1524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9050">
            <a:solidFill>
              <a:srgbClr val="D8DE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42209C-454F-4F73-AA64-533F1D54D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362325"/>
            <a:ext cx="1181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check</a:t>
            </a:r>
          </a:p>
          <a:p xmlns:a="http://schemas.openxmlformats.org/drawingml/2006/main">
            <a:pPr algn="ctr">
              <a:defRPr sz="17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scripts</a:t>
            </a:r>
          </a:p>
        </p:txBody>
      </p:sp>
    </p:spTree>
    <p:extLst>
      <p:ext uri="{BB962C8B-B14F-4D97-AF65-F5344CB8AC3E}">
        <p14:creationId xmlns:p14="http://schemas.microsoft.com/office/powerpoint/2010/main" val="26769285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478C8B-B292-41BD-A748-702AD3015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6BCB87-3980-4258-A1F3-095A97793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CD1682-F6F9-48B9-9377-336362677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TRACE SEMANTICS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51D64C-F6B4-4F81-8966-29C3AA419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7A3769-16A5-4082-AC4F-D9C19E13A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Trace records capture transitions and drops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C61610-CD85-4CEC-911F-CC62DAD31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CDE291-4558-4FF3-8E0C-145DF532D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rPr>
              <a:t>The trace format is the contract between RTL and analysis.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3B7BAA-DA2E-4C1A-B42F-E0BFBD715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381250"/>
            <a:ext cx="1381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F0AD97-5FCC-4480-96AC-9895FFC38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38400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CONTROL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D3D15E-AF06-4F94-8198-D4EA0E1D8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622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retire, branch, jump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89D904-E1C7-45D7-B12C-C1A8DBE4A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9146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C333C5-2C70-419B-9BAB-9BEF697E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62300"/>
            <a:ext cx="1381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8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ADE17F-8B91-49E9-8A51-34282CF8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19450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SYSCALL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5C492E-DA72-477E-971B-02C1EDEDC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432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entry and qualified return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B3FFE0-F2A8-4156-8BA1-4A81A3846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6957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BB7003-B788-4A05-A14B-4F2973B8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943350"/>
            <a:ext cx="1381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BAAB7D-6456-4908-AC7D-500398928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000500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CONTEXT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BBC7A8-7C7F-49DE-844A-85AF76F53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9243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trap, CSR, SATP, privilege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0CCBDA-31B9-4049-9A73-6F070AC8A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DE5FFD-A83A-43E3-AD19-F7AA81D80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724400"/>
            <a:ext cx="1381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1D302F-D257-4D8E-A8F5-9BCA4BC00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781550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ACCOUNT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D28AF1-B9A2-4265-8145-D1C3E330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7053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ARG_MEM, marker, drop records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2924D6-0B1C-40C9-BBB0-35BA13E15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2578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5574241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18342B-B41E-4235-AB79-2C2D988FF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E65B12-6D6C-4C39-96B3-19240C2C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37A298-7E44-4129-9F88-0F509457D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LOCAL CODE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30DF79-0EE1-4195-B83F-AB03B6FB5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1064F8-B65B-4C10-9828-ADFF894E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Code maps make trace evidence attributable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3CEDBB-683D-447E-AA70-FEFFEBCBC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62FAF4-25AC-4157-93DF-2A36E3DF2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rPr>
              <a:t>ELF identity, symbols, syscall sites, and runtime maps constrain attribution.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4887C9-5CC0-4118-BCE9-CEF35ADBD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3143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EF"/>
          </a:solidFill>
          <a:ln xmlns:a="http://schemas.openxmlformats.org/drawingml/2006/main" w="19050">
            <a:solidFill>
              <a:srgbClr val="1278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183940-E8F7-4B08-98A2-B1D0025B5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194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783A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12783A"/>
                </a:solidFill>
                <a:latin typeface="Cascadia Mono"/>
                <a:ea typeface="Cascadia Mono"/>
                <a:cs typeface="Cascadia Mono"/>
              </a:rPr>
              <a:t>CODE MAP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49191E-1490-4837-BB9A-0AD950772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5755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ELF identity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760E45-93A9-4713-B548-C83AC4B99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005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rPr>
              <a:t>hash, load ranges, sections, symbols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AAA337-D4D4-48F9-89F9-5E6DC0B4A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571750"/>
            <a:ext cx="3143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19050">
            <a:solidFill>
              <a:srgbClr val="005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435D22-E1BC-4FFF-9D95-66BE8528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8194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JOIN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33B983-1342-4B8B-93B5-66E5FBF74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25755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Trace to code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4DF5E7-C656-460D-912D-3980353C4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0005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rPr>
              <a:t>PC evidence plus process/runtime scope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B3E333-47CD-4F4E-995B-58653B209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71750"/>
            <a:ext cx="3143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D"/>
          </a:solidFill>
          <a:ln xmlns:a="http://schemas.openxmlformats.org/drawingml/2006/main" w="19050">
            <a:solidFill>
              <a:srgbClr val="B4231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D5C809-8781-42E7-A26D-B86161045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194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2318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B42318"/>
                </a:solidFill>
                <a:latin typeface="Cascadia Mono"/>
                <a:ea typeface="Cascadia Mono"/>
                <a:cs typeface="Cascadia Mono"/>
              </a:rPr>
              <a:t>LIMITATION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266CF7-D383-469B-8B21-59E0E76EC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5755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No source-line claim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CE23C9-A644-4DE4-87D4-AA5526A4D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005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rPr>
              <a:t>DWARF/source-line attribution needs board evidence</a:t>
            </a:r>
          </a:p>
        </p:txBody>
      </p:sp>
    </p:spTree>
    <p:extLst>
      <p:ext uri="{BB962C8B-B14F-4D97-AF65-F5344CB8AC3E}">
        <p14:creationId xmlns:p14="http://schemas.microsoft.com/office/powerpoint/2010/main" val="57269149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C2BF76-E5EA-45A3-BD41-DE3870CF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DB7790-669E-45C5-BAED-DC1EFF9AD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3882D8-6E6E-43CA-B203-1E518EBE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35T CLOSURE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D471A8-7A42-4E85-9C80-CD44DEAA9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350860-4BE7-4E2D-BB6C-33713CB94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The 35T end-to-end path is implemented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2DB8A1-3F34-4BDC-ABA2-750AB44EE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8F9791-4748-400E-802E-19B023538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rPr>
              <a:t>35T connects trace capture, code-map join, and behavior rules.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246F47-A575-4EF9-A26C-90405E332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47950"/>
            <a:ext cx="2190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EF"/>
          </a:solidFill>
          <a:ln xmlns:a="http://schemas.openxmlformats.org/drawingml/2006/main" w="19050">
            <a:solidFill>
              <a:srgbClr val="1278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F90E03-6C21-41A0-9AC0-27D54954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95275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2783A"/>
                </a:solidFill>
                <a:latin typeface="Cascadia Mono"/>
                <a:ea typeface="Cascadia Mono"/>
                <a:cs typeface="Cascadia Mono"/>
              </a:defRPr>
            </a:pPr>
            <a:r>
              <a:rPr sz="3300" b="1">
                <a:solidFill>
                  <a:srgbClr val="12783A"/>
                </a:solidFill>
                <a:latin typeface="Cascadia Mono"/>
                <a:ea typeface="Cascadia Mono"/>
                <a:cs typeface="Cascadia Mono"/>
              </a:rPr>
              <a:t>13/13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AB224C-A721-4BF5-AEEE-C5D28C1C1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543300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synthetic matrix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8D99A7-1578-4DD8-A251-BB1DFBC1C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647950"/>
            <a:ext cx="2190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19050">
            <a:solidFill>
              <a:srgbClr val="005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88174F-60B0-4157-B0C3-29B342DEB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95275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3300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512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4A071B-FA3E-4C17-A024-0F583F05F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543300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trace records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8041C8-9E37-418D-A12F-FE6BF203D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647950"/>
            <a:ext cx="2190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EF"/>
          </a:solidFill>
          <a:ln xmlns:a="http://schemas.openxmlformats.org/drawingml/2006/main" w="19050">
            <a:solidFill>
              <a:srgbClr val="12783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0D5C61-0796-43A1-9824-706BEA48C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95275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783A"/>
                </a:solidFill>
                <a:latin typeface="Cascadia Mono"/>
                <a:ea typeface="Cascadia Mono"/>
                <a:cs typeface="Cascadia Mono"/>
              </a:defRPr>
            </a:pPr>
            <a:r>
              <a:rPr sz="2850" b="1">
                <a:solidFill>
                  <a:srgbClr val="12783A"/>
                </a:solidFill>
                <a:latin typeface="Cascadia Mono"/>
                <a:ea typeface="Cascadia Mono"/>
                <a:cs typeface="Cascadia Mono"/>
              </a:rPr>
              <a:t>PASS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3FD0F2-C4E7-4D93-B1BE-B065B965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543300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fd/path + process tree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4976C0-3845-4E64-808C-540B4B50B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647950"/>
            <a:ext cx="2190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E0"/>
          </a:solidFill>
          <a:ln xmlns:a="http://schemas.openxmlformats.org/drawingml/2006/main" w="19050">
            <a:solidFill>
              <a:srgbClr val="A15C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B33094-52D5-44EB-9A9D-1F70E12F8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95275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A15C00"/>
                </a:solidFill>
                <a:latin typeface="Cascadia Mono"/>
                <a:ea typeface="Cascadia Mono"/>
                <a:cs typeface="Cascadia Mono"/>
              </a:defRPr>
            </a:pPr>
            <a:r>
              <a:rPr sz="3300" b="1">
                <a:solidFill>
                  <a:srgbClr val="A15C00"/>
                </a:solidFill>
                <a:latin typeface="Cascadia Mono"/>
                <a:ea typeface="Cascadia Mono"/>
                <a:cs typeface="Cascadia Mono"/>
              </a:rPr>
              <a:t>6/6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C15432-D669-4E1B-A72F-BF2C81746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543300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malware-derived behavior cases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083719-9A2F-412A-80CE-179638163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857750"/>
            <a:ext cx="828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D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8CA990-9BA2-4B1C-A032-4B98BD408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962525"/>
            <a:ext cx="828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423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B42318"/>
                </a:solidFill>
                <a:latin typeface="Microsoft YaHei UI"/>
                <a:ea typeface="Microsoft YaHei UI"/>
                <a:cs typeface="Microsoft YaHei UI"/>
              </a:rPr>
              <a:t>Implemented as a safety-controlled prototype; not malware-family accuracy.</a:t>
            </a:r>
          </a:p>
        </p:txBody>
      </p:sp>
    </p:spTree>
    <p:extLst>
      <p:ext uri="{BB962C8B-B14F-4D97-AF65-F5344CB8AC3E}">
        <p14:creationId xmlns:p14="http://schemas.microsoft.com/office/powerpoint/2010/main" val="51516749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124E2B-1FC4-401A-A46E-0D842797D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C8ECB6-37AD-405A-BE34-74B892624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B1056A-B9A4-49D4-8187-5975BCDE7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GENESYS2/CVA6 STATUS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897ECA-7811-4459-85E5-0E8109A21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FAA0FF-D540-4FCB-94E4-0794F3D52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CVA6 supports the current paper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548E31-F2D1-46B7-BF78-D2A79A8B8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1A5A4F-1971-4935-B769-806865284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rPr>
              <a:t>It is not yet a real-malware validation or source-line attribution claim.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959E68-5264-4EEF-974D-8CAAA4F9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333625"/>
            <a:ext cx="1381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8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6C52DE-2B0C-4BAC-A74C-05239250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390775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PASS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DC2102-10FB-4903-A882-D8DFDE056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14575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12 controlled case studies in current manifest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E732CA-024B-40CB-B13B-454920DA6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905125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9F796A-A6E3-4FC9-AB2D-84B0EB52E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14675"/>
            <a:ext cx="1381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8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C52736-DE1F-4D4F-B1C2-1E77A3DB1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71825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PASS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E57EDF-9A94-428E-AE84-3E1C4AA03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95625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8 safe malware-behavior surrogate case studies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357DB2-E35D-415D-AB6E-8E592682B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686175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9652D6-EBB5-42AB-953B-24030686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95725"/>
            <a:ext cx="1381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F19368-3E56-45DD-A4F8-0FA55F0F3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952875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LIMITED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89D2C7-2881-4139-B005-F76A5050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876675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local code fixtures pass; source-line attribution not claimed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301013-9424-411B-8451-ED595B8EC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67225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D6B13C-C406-480D-BA17-8E85BEE1A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676775"/>
            <a:ext cx="1381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39A43D-5633-4A1D-850F-435A89A0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733925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NO CLAIM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BB768F-634E-4792-98B9-9789773AF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657725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real malware validation and detector accuracy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EA1138-7260-4C99-807B-84492FA56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248275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2363484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4FAAED-D01E-4D65-99D3-14E35FE5C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BC30D9-4B3F-4BAF-81FD-0E4C9F83F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C4033E-A70C-477B-AB00-C32699C49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EVALUATION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635AED-E0F1-43E4-B083-2C18979C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272462-D77B-48BB-AA32-E0300E547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Separate supported, limited, and unsupported claims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D3D4FF-6835-44E7-8130-F6DD3A1F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1EE88A-55D5-4DFC-B56E-2ED1FD50C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rPr>
              <a:t>The paper must separate implementation evidence from nonclaims.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86CB96-4DD6-4DB3-AF14-881C1075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52700"/>
            <a:ext cx="3143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EF"/>
          </a:solidFill>
          <a:ln xmlns:a="http://schemas.openxmlformats.org/drawingml/2006/main" w="19050">
            <a:solidFill>
              <a:srgbClr val="1278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2833EE-5EE2-4061-ADC8-FD912DFF0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003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783A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12783A"/>
                </a:solidFill>
                <a:latin typeface="Cascadia Mono"/>
                <a:ea typeface="Cascadia Mono"/>
                <a:cs typeface="Cascadia Mono"/>
              </a:rPr>
              <a:t>SUPPORTED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2E77AC-B3CD-4A49-9964-45A6BB0E7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3850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Core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56927C-D64F-4710-87AE-886D61551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814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rPr>
              <a:t>correctness, provenance, board runs, resource/timing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1F415A-EC7A-41C1-B851-96E338DAE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552700"/>
            <a:ext cx="3143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E0"/>
          </a:solidFill>
          <a:ln xmlns:a="http://schemas.openxmlformats.org/drawingml/2006/main" w="19050">
            <a:solidFill>
              <a:srgbClr val="A15C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C66757-98FF-4352-824C-C627AB3DF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8003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15C00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A15C00"/>
                </a:solidFill>
                <a:latin typeface="Cascadia Mono"/>
                <a:ea typeface="Cascadia Mono"/>
                <a:cs typeface="Cascadia Mono"/>
              </a:rPr>
              <a:t>LIMITED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1E6610-6230-4AF1-A47E-B0073B073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23850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Scoped claims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F264DD-1550-4BF3-90A6-5CB7DA24E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9814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rPr>
              <a:t>source lines, strings, benign controls, tracer baseline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572CCF-2E22-49C3-A72B-C4FA94F0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52700"/>
            <a:ext cx="3143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D"/>
          </a:solidFill>
          <a:ln xmlns:a="http://schemas.openxmlformats.org/drawingml/2006/main" w="19050">
            <a:solidFill>
              <a:srgbClr val="B4231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110C43-37C7-4CC7-8782-00C9D9B9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003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2318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B42318"/>
                </a:solidFill>
                <a:latin typeface="Cascadia Mono"/>
                <a:ea typeface="Cascadia Mono"/>
                <a:cs typeface="Cascadia Mono"/>
              </a:rPr>
              <a:t>UNSUPPORTED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435220-7280-46D4-8356-CE1C56609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3850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Not claimed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A30899-A9DD-4A16-90C2-FCC1C8548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9814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rPr>
              <a:t>transport, overhead, real malware validation</a:t>
            </a:r>
          </a:p>
        </p:txBody>
      </p:sp>
    </p:spTree>
    <p:extLst>
      <p:ext uri="{BB962C8B-B14F-4D97-AF65-F5344CB8AC3E}">
        <p14:creationId xmlns:p14="http://schemas.microsoft.com/office/powerpoint/2010/main" val="90436472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9FABEB-CD79-46CE-8983-D738BF135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7A059D-FE65-45BE-8B0D-A851A7715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94061A-CAF2-4363-95D8-D8FDD3E6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GENESYS2/CVA6 RESULT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851A07-9748-4DFD-A4AA-2CE6C0698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5CCD38-C4B8-4253-9EB6-74B58E29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122 accepted board runs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C3507B-4481-4B48-A534-4FF8C1AD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3635E8-D172-4163-AD6C-77BE320C9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rPr>
              <a:t>This is the strongest current CVA6 empirical result.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37D6CB-7649-4ACB-BA95-57386A975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0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8400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122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5389C5-7779-4099-9A12-E11DB183C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766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accepted board runs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EEC5A7-07CF-4DD4-AB95-0B81668F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36220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53BED0-55CC-4825-8291-27F141477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1381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418"/>
                </a:solidFill>
                <a:latin typeface="Cascadia Mono"/>
                <a:ea typeface="Cascadia Mono"/>
                <a:cs typeface="Cascadia Mono"/>
              </a:defRPr>
            </a:pPr>
            <a:r>
              <a:rPr sz="3450" b="1">
                <a:solidFill>
                  <a:srgbClr val="111418"/>
                </a:solidFill>
                <a:latin typeface="Cascadia Mono"/>
                <a:ea typeface="Cascadia Mono"/>
                <a:cs typeface="Cascadia Mono"/>
              </a:rPr>
              <a:t>12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E663FF-8816-4280-A0E5-82D73930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480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rPr>
              <a:t>samples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D5632B-01A5-46F1-87AE-66D6CA3BB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0"/>
            <a:ext cx="1381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418"/>
                </a:solidFill>
                <a:latin typeface="Cascadia Mono"/>
                <a:ea typeface="Cascadia Mono"/>
                <a:cs typeface="Cascadia Mono"/>
              </a:defRPr>
            </a:pPr>
            <a:r>
              <a:rPr sz="3450" b="1">
                <a:solidFill>
                  <a:srgbClr val="111418"/>
                </a:solidFill>
                <a:latin typeface="Cascadia Mono"/>
                <a:ea typeface="Cascadia Mono"/>
                <a:cs typeface="Cascadia Mono"/>
              </a:rPr>
              <a:t>126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87BA52-6731-42DF-97E3-8FB8399E2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480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rPr>
              <a:t>attempts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9B0888-EC82-4159-92E3-226E3FAA2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95700"/>
            <a:ext cx="1381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418"/>
                </a:solidFill>
                <a:latin typeface="Cascadia Mono"/>
                <a:ea typeface="Cascadia Mono"/>
                <a:cs typeface="Cascadia Mono"/>
              </a:defRPr>
            </a:pPr>
            <a:r>
              <a:rPr sz="3450" b="1">
                <a:solidFill>
                  <a:srgbClr val="111418"/>
                </a:solidFill>
                <a:latin typeface="Cascadia Mono"/>
                <a:ea typeface="Cascadia Mono"/>
                <a:cs typeface="Cascadia Mono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EECE7B-831D-4A14-8DA3-78FF3269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672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rPr>
              <a:t>failed retained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9AC333-9525-4AC9-B657-58A8305BA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95700"/>
            <a:ext cx="1381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783A"/>
                </a:solidFill>
                <a:latin typeface="Cascadia Mono"/>
                <a:ea typeface="Cascadia Mono"/>
                <a:cs typeface="Cascadia Mono"/>
              </a:defRPr>
            </a:pPr>
            <a:r>
              <a:rPr sz="3450" b="1">
                <a:solidFill>
                  <a:srgbClr val="12783A"/>
                </a:solidFill>
                <a:latin typeface="Cascadia Mono"/>
                <a:ea typeface="Cascadia Mono"/>
                <a:cs typeface="Cascadia Mono"/>
              </a:rPr>
              <a:t>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C0968F-2F6A-4B26-AA8E-1BC5AF71C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672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rPr>
              <a:t>drops / wraps / gaps</a:t>
            </a:r>
          </a:p>
        </p:txBody>
      </p:sp>
    </p:spTree>
    <p:extLst>
      <p:ext uri="{BB962C8B-B14F-4D97-AF65-F5344CB8AC3E}">
        <p14:creationId xmlns:p14="http://schemas.microsoft.com/office/powerpoint/2010/main" val="177879253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290762-78C3-4A12-9D15-DAEED4785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86481B-BC7A-4B8F-B212-D34B52047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D0BE72-F11E-4C22-A613-63992F95C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WORKLOADS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AA6413-0192-4AEC-B43F-DEC90167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74D5BF-F862-49A0-8AC2-B70DEB0DF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Controlled workloads, not in-the-wild malware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858DD7-86CF-4FBA-A0F8-6C66FF95E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885457-0645-40BB-805B-19F961154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rPr>
              <a:t>The workload set supports tracing validation under controlled behavior coverage.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7C1B55-A5BF-4F35-914C-A76640E3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667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safe baseline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6F97A6-226C-4908-956D-C0A08F448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432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9540C3-D193-43E8-B280-DC08249B9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43200"/>
            <a:ext cx="1000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1E4FFB-EE6B-4650-9019-4ECE20E03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67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57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0057FF"/>
                </a:solidFill>
                <a:latin typeface="Microsoft YaHei UI"/>
                <a:ea typeface="Microsoft YaHei UI"/>
                <a:cs typeface="Microsoft YaHei UI"/>
              </a:rPr>
              <a:t>4 samples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80FC58-512C-48FA-A8C2-0E664152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908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rPr>
              <a:t>42 accepted reps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B169BC-8F6F-42A6-AE4F-49F0C2F59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433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surrogate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5F4EDF-9DD9-4E7F-B6FB-6CA58F8B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195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32002C-038C-45E6-B5B3-A910454B9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195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2C889F-30EA-42C8-8219-F8AEAD418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433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000000"/>
                </a:solidFill>
                <a:latin typeface="Microsoft YaHei UI"/>
                <a:ea typeface="Microsoft YaHei UI"/>
                <a:cs typeface="Microsoft YaHei UI"/>
              </a:rPr>
              <a:t>8 samples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DAB960-77A9-4C26-A9CD-F3965125A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671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rPr>
              <a:t>80 accepted reps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8D89CA-5209-4FAD-82BC-80F651C78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196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benign controls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E5B297-82E7-4097-935E-3B07C8CF2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958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503552-A8AF-4FE1-81F2-996455867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95800"/>
            <a:ext cx="2047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8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4D5BE6-437D-43CA-A43E-32A91DBE8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196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783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12783A"/>
                </a:solidFill>
                <a:latin typeface="Microsoft YaHei UI"/>
                <a:ea typeface="Microsoft YaHei UI"/>
                <a:cs typeface="Microsoft YaHei UI"/>
              </a:rPr>
              <a:t>5 samples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871845-915F-4C7E-BEE1-5A4BB63F0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434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rPr>
              <a:t>scoped controls</a:t>
            </a:r>
          </a:p>
        </p:txBody>
      </p:sp>
    </p:spTree>
    <p:extLst>
      <p:ext uri="{BB962C8B-B14F-4D97-AF65-F5344CB8AC3E}">
        <p14:creationId xmlns:p14="http://schemas.microsoft.com/office/powerpoint/2010/main" val="129261008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D77FD8-83CA-41E4-8A1E-FE2B789A5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FAB3F0-31DD-48E8-A3CB-E1E8C6648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11EC75-805A-42CF-8FD8-B5F6446BC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BEHAVIOR AUDIT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B30B9D-64A2-45D2-A775-A3D0AEB8F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8E51E8-FA3A-48A6-90DD-0532FB50E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Rule-based behavior analysis passes scoped checks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163287-BE5C-460F-8914-2D2127134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DBA67E-E513-44F2-B724-2D2890ADD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rPr>
              <a:t>These metrics validate reconstruction, not detector accuracy.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33157D-04CA-401B-A012-BF32C4CA7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2095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19050">
            <a:solidFill>
              <a:srgbClr val="005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D49E7F-1A28-4011-9563-48729D968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2895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3150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1.0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CDC7BB-ADAC-4B90-ABC0-98948815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38550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syscall recall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D42CD6-8BE2-4E02-99EB-7B6BB7128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81300"/>
            <a:ext cx="2095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19050">
            <a:solidFill>
              <a:srgbClr val="005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5303AE-BA01-47E3-86F3-835DA4090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02895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3150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1.0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45F5BA-E73F-463E-9793-1077EEADA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638550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precision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A45B77-2954-4BB7-B261-B62144CC1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81300"/>
            <a:ext cx="2095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19050">
            <a:solidFill>
              <a:srgbClr val="005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6F660E-5C33-4D9B-9D25-4C34676A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2895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3150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1.0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FC9EB0-F66C-4018-9682-6C3FD0752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38550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argument recon.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7C79B9-C31E-497C-9279-801E8924F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81300"/>
            <a:ext cx="2095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EF"/>
          </a:solidFill>
          <a:ln xmlns:a="http://schemas.openxmlformats.org/drawingml/2006/main" w="19050">
            <a:solidFill>
              <a:srgbClr val="12783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E12884-E6B8-4D5B-95EE-CC44D4B72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2895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783A"/>
                </a:solidFill>
                <a:latin typeface="Cascadia Mono"/>
                <a:ea typeface="Cascadia Mono"/>
                <a:cs typeface="Cascadia Mono"/>
              </a:defRPr>
            </a:pPr>
            <a:r>
              <a:rPr sz="3150" b="1">
                <a:solidFill>
                  <a:srgbClr val="12783A"/>
                </a:solidFill>
                <a:latin typeface="Cascadia Mono"/>
                <a:ea typeface="Cascadia Mono"/>
                <a:cs typeface="Cascadia Mono"/>
              </a:rPr>
              <a:t>0.0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9D75A5-950E-4116-A7D9-E13D2FC5A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638550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benign FPR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93FF21-1A3B-4625-802D-0F917A10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781550"/>
            <a:ext cx="752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D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DA4298-F44D-4A82-A211-A414A22A9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886325"/>
            <a:ext cx="752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423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B42318"/>
                </a:solidFill>
                <a:latin typeface="Microsoft YaHei UI"/>
                <a:ea typeface="Microsoft YaHei UI"/>
                <a:cs typeface="Microsoft YaHei UI"/>
              </a:rPr>
              <a:t>Controlled workload analysis only. Not detection accuracy.</a:t>
            </a:r>
          </a:p>
        </p:txBody>
      </p:sp>
    </p:spTree>
    <p:extLst>
      <p:ext uri="{BB962C8B-B14F-4D97-AF65-F5344CB8AC3E}">
        <p14:creationId xmlns:p14="http://schemas.microsoft.com/office/powerpoint/2010/main" val="1211263215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AFBFF3-CEE7-4E29-BD39-2C0713F3E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D255C2-2BF2-48C3-9E46-23E480FA8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B916ED-593F-4656-BB38-5CCE3A76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COST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C5365B-35BC-44FF-B537-70DE8A9FF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888B6C-B967-4FA7-AF1D-164E77F9A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Resource cost is measured; overhead is not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922C1D-3C8D-470D-A8C4-B760F24B7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3B05B8-B021-4BF2-A664-2509423EE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rPr>
              <a:t>Timing/resource evidence supports implementation cost, not cycle slowdown.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574FAF-9CB8-4391-8683-5C3ABC2E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5717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418"/>
                </a:solidFill>
                <a:latin typeface="Cascadia Mono"/>
                <a:ea typeface="Cascadia Mono"/>
                <a:cs typeface="Cascadia Mono"/>
              </a:defRPr>
            </a:pPr>
            <a:r>
              <a:rPr sz="1800" b="1">
                <a:solidFill>
                  <a:srgbClr val="111418"/>
                </a:solidFill>
                <a:latin typeface="Cascadia Mono"/>
                <a:ea typeface="Cascadia Mono"/>
                <a:cs typeface="Cascadia Mono"/>
              </a:rPr>
              <a:t>LUT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F0709D-A976-4F9A-A6BB-E1D6DE051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28900"/>
            <a:ext cx="428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1B83AB-0E17-4B66-AB88-10B35BD0C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28900"/>
            <a:ext cx="361759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BDC572-FBDA-4280-8E13-4F3056BB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7175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57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0057FF"/>
                </a:solidFill>
                <a:latin typeface="Microsoft YaHei UI"/>
                <a:ea typeface="Microsoft YaHei UI"/>
                <a:cs typeface="Microsoft YaHei UI"/>
              </a:rPr>
              <a:t>+25.32%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2D2D64-0305-43F6-AF36-962953484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2575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418"/>
                </a:solidFill>
                <a:latin typeface="Cascadia Mono"/>
                <a:ea typeface="Cascadia Mono"/>
                <a:cs typeface="Cascadia Mono"/>
              </a:defRPr>
            </a:pPr>
            <a:r>
              <a:rPr sz="1800" b="1">
                <a:solidFill>
                  <a:srgbClr val="111418"/>
                </a:solidFill>
                <a:latin typeface="Cascadia Mono"/>
                <a:ea typeface="Cascadia Mono"/>
                <a:cs typeface="Cascadia Mono"/>
              </a:rPr>
              <a:t>FF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19C938-B091-4FEE-A750-2CFF9983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14700"/>
            <a:ext cx="428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8BABBD-9A87-42F0-8772-E4D704BFA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14700"/>
            <a:ext cx="2311718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8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5D267A-DD41-4F73-A548-69DF84F2E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5755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783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12783A"/>
                </a:solidFill>
                <a:latin typeface="Microsoft YaHei UI"/>
                <a:ea typeface="Microsoft YaHei UI"/>
                <a:cs typeface="Microsoft YaHei UI"/>
              </a:rPr>
              <a:t>+16.18%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0CAEBC-C44A-43FE-81AA-E5DEA9E2B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9433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418"/>
                </a:solidFill>
                <a:latin typeface="Cascadia Mono"/>
                <a:ea typeface="Cascadia Mono"/>
                <a:cs typeface="Cascadia Mono"/>
              </a:defRPr>
            </a:pPr>
            <a:r>
              <a:rPr sz="1800" b="1">
                <a:solidFill>
                  <a:srgbClr val="111418"/>
                </a:solidFill>
                <a:latin typeface="Cascadia Mono"/>
                <a:ea typeface="Cascadia Mono"/>
                <a:cs typeface="Cascadia Mono"/>
              </a:rPr>
              <a:t>BRAM18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A2BF6E-F6DD-435D-AE05-C7910FCBC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00500"/>
            <a:ext cx="428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610869-3813-483E-B021-67F56E68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00500"/>
            <a:ext cx="79438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332892-F489-4CCA-A804-0129D9A28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4335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15C0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A15C00"/>
                </a:solidFill>
                <a:latin typeface="Microsoft YaHei UI"/>
                <a:ea typeface="Microsoft YaHei UI"/>
                <a:cs typeface="Microsoft YaHei UI"/>
              </a:rPr>
              <a:t>+5.56%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6C5430-0897-4EED-B68C-858745359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291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418"/>
                </a:solidFill>
                <a:latin typeface="Cascadia Mono"/>
                <a:ea typeface="Cascadia Mono"/>
                <a:cs typeface="Cascadia Mono"/>
              </a:defRPr>
            </a:pPr>
            <a:r>
              <a:rPr sz="1800" b="1">
                <a:solidFill>
                  <a:srgbClr val="111418"/>
                </a:solidFill>
                <a:latin typeface="Cascadia Mono"/>
                <a:ea typeface="Cascadia Mono"/>
                <a:cs typeface="Cascadia Mono"/>
              </a:rPr>
              <a:t>DSP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FBD713-9CD3-4987-9A22-87C765D7C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686300"/>
            <a:ext cx="428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27C47B-67FE-4B3B-845F-6CFDA8449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686300"/>
            <a:ext cx="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1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600D0C-CAF1-4B5A-9AF0-3C59CA9C7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2915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68717D"/>
                </a:solidFill>
                <a:latin typeface="Microsoft YaHei UI"/>
                <a:ea typeface="Microsoft YaHei UI"/>
                <a:cs typeface="Microsoft YaHei UI"/>
              </a:rPr>
              <a:t>+0.00%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1BC370-7288-4EB5-B6E0-A62FC500C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353050"/>
            <a:ext cx="828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423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B42318"/>
                </a:solidFill>
                <a:latin typeface="Microsoft YaHei UI"/>
                <a:ea typeface="Microsoft YaHei UI"/>
                <a:cs typeface="Microsoft YaHei UI"/>
              </a:rPr>
              <a:t>Timing MET, slack 0.177 ns. Cycle-level runtime overhead remains unsupported.</a:t>
            </a:r>
          </a:p>
        </p:txBody>
      </p:sp>
    </p:spTree>
    <p:extLst>
      <p:ext uri="{BB962C8B-B14F-4D97-AF65-F5344CB8AC3E}">
        <p14:creationId xmlns:p14="http://schemas.microsoft.com/office/powerpoint/2010/main" val="1221103178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3881C6-8B02-47F2-8D65-131D5674F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BFF3BE-569A-4931-8EE7-0F44FE11F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5BB68A-8DF9-47AB-B41F-EC980A8CF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REPRODUCIBILITY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080DEC-BADF-4787-83CE-50C29189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C2D06C-528E-4ADA-BAE6-45B3EA155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The artifact package is reviewable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62ADE5-35B1-49C4-82F4-A57E1190D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FFC15F-1E81-4D73-8ABF-D3EC614EA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rPr>
              <a:t>Evidence packaging and checkers are ahead of manuscript completeness.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5E25C7-D268-4A8F-AC17-F6055872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381250"/>
            <a:ext cx="1381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8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FB4D40-6BE6-4F71-B13B-5984232A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38400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MANIFEST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41BAFB-68D2-4E8F-99A5-1E3753120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622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current artifact root accepted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F423BB-B05A-4599-98CD-BAF3D5722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9146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AB0C4C-4445-45AF-A67B-62C7F747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62300"/>
            <a:ext cx="1381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7C9C98-B2A9-4B4D-9C20-D93B48158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19450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ARCHIVE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9632D9-3BE7-4F58-882C-D9F51F900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432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3160 files, 316.9 MB, SHA d5b806...433b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FEA3CD-CE63-40DB-B634-029E88ADA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6957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73E011-FA03-46A0-8EE6-FC603CB3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943350"/>
            <a:ext cx="1381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289556-CEC0-41B3-A465-09535A493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000500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CHECKERS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D11F94-246B-491A-982A-0A71722F4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9243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repro:quick and documented full gates pass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80C35E-C635-449D-9931-3FF1DB434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D4C021-10D8-4BAD-9B8F-9B2CD665A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724400"/>
            <a:ext cx="1381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BD7733-DAFA-4548-88B5-B6A70887C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781550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PAPER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AF91EA-A584-4FC7-8565-EA1D307DE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7053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LaTeX skeleton builds, content incomplete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203720-E0E9-4353-8446-3F110C195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2578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28109519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02B63D-FF7D-4F4E-9A87-7B48BCFD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918DDB-58BE-446A-AF90-731AC49AB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96CC40-2B8C-4BEA-98D7-C2AB4DC7A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CLAIM BOUNDARIES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1CE729-3BA0-49A2-BFA8-71CF431C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CBD157-236E-4D64-A93A-FF8671373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Claim boundaries are explicit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150BBF-F570-4721-8CDF-3FCA6D920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21E2AB-09F7-4936-A7A4-E4550ED7B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rPr>
              <a:t>Unsupported topics become limitations or future work.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95E8F1-DA76-472F-BFE0-41CBC055F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305050"/>
            <a:ext cx="1381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8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523FD9-CF96-4A01-A383-03073EC29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362200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WRITE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B1E637-30EB-4A11-A061-A2C2B023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8600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hardware-assisted behavior tracing and analysis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302D61-BED8-41E6-815B-B87BAF615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8956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8CD247-9A9D-4DAD-9E33-0824E85F3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086100"/>
            <a:ext cx="1381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8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1237F4-AD17-4995-88BC-BD668CE69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43250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WRITE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C5748C-4CBA-469A-95BC-1E42E8656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670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35T end-to-end prototype; scoped CVA6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00C2D6-D41F-487C-9143-FC6520F3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6766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096D7A-836F-41B9-B99C-0A47BFD9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67150"/>
            <a:ext cx="1381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BF87A8-72FF-415D-B284-5F173E3D8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924300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LIMIT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93FDCC-8395-413E-8B65-73BE6F165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84810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synthetic and safety-controlled malware-derived behaviors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C180EE-009C-498F-9994-A5ECA259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577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37BB17-36DD-42F1-B06E-E43D9AF98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648200"/>
            <a:ext cx="1381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449839-2F76-4CB9-9406-E427F8582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705350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DO NOT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457EAC-9852-4394-A834-C98B58F99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6291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real-malware accuracy, payload equivalence, production detector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C0B8E3-9044-485C-A420-C8F409D58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2387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512920162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7DA3A2-2C12-4D54-9581-F7AF9669B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6A812C-F189-4F97-B35E-6B8B7561D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EFC0D9-F6BF-4767-97AB-7C1842ADE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PAPER STORY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F63786-8A9A-4E71-AAF7-8687CBAB6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8C9416-6347-484E-B798-7090E8ADB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Paper narrative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1E6D81-B956-4AAE-95D3-FB5B4DB71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B5109C-08B3-4299-9B84-D1CDAA19E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rPr>
              <a:t>Hardware trace + code attribution + rule-based malware-behavior analysis.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4889CE-E439-4D2C-9C9A-B7C43604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233362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19050">
            <a:solidFill>
              <a:srgbClr val="005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E9B7AB-8655-4E0C-B281-8048D0083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385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57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0057FF"/>
                </a:solidFill>
                <a:latin typeface="Microsoft YaHei UI"/>
                <a:ea typeface="Microsoft YaHei UI"/>
                <a:cs typeface="Microsoft YaHei UI"/>
              </a:rPr>
              <a:t>Problem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9DCB24-9E99-42F2-9792-F75B3E64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95700"/>
            <a:ext cx="1762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visible software observers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8D8D8B-ED9D-46B1-99B3-8C6EC74F9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52750"/>
            <a:ext cx="233362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19050">
            <a:solidFill>
              <a:srgbClr val="005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5E1E15-8EC8-47DD-A3DA-676C2F4DB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2385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57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0057FF"/>
                </a:solidFill>
                <a:latin typeface="Microsoft YaHei UI"/>
                <a:ea typeface="Microsoft YaHei UI"/>
                <a:cs typeface="Microsoft YaHei UI"/>
              </a:rPr>
              <a:t>Mechanism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15B67D-CD7A-4088-8807-E79A7C619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695700"/>
            <a:ext cx="1762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commit events + code map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90171F-4D64-4387-BC3D-99C6400AB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52750"/>
            <a:ext cx="233362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EF"/>
          </a:solidFill>
          <a:ln xmlns:a="http://schemas.openxmlformats.org/drawingml/2006/main" w="19050">
            <a:solidFill>
              <a:srgbClr val="12783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C54B22-AE7A-49FC-9084-0DA8C4FAC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385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783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2783A"/>
                </a:solidFill>
                <a:latin typeface="Microsoft YaHei UI"/>
                <a:ea typeface="Microsoft YaHei UI"/>
                <a:cs typeface="Microsoft YaHei UI"/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A8E29C-952C-4C1C-9FF9-724FF0C8C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95700"/>
            <a:ext cx="1762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rule-based analysis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EAA7B4-03AE-4D95-8998-180A1740B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52750"/>
            <a:ext cx="233362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D"/>
          </a:solidFill>
          <a:ln xmlns:a="http://schemas.openxmlformats.org/drawingml/2006/main" w="19050">
            <a:solidFill>
              <a:srgbClr val="B4231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EB4099-76A7-4DC1-A780-4728D2962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2385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23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B42318"/>
                </a:solidFill>
                <a:latin typeface="Microsoft YaHei UI"/>
                <a:ea typeface="Microsoft YaHei UI"/>
                <a:cs typeface="Microsoft YaHei UI"/>
              </a:rPr>
              <a:t>Boundary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0839EE-4EBF-42D0-BAC8-3D9A4F3F7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695700"/>
            <a:ext cx="1762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no mature detector claim</a:t>
            </a:r>
          </a:p>
        </p:txBody>
      </p:sp>
    </p:spTree>
    <p:extLst>
      <p:ext uri="{BB962C8B-B14F-4D97-AF65-F5344CB8AC3E}">
        <p14:creationId xmlns:p14="http://schemas.microsoft.com/office/powerpoint/2010/main" val="337768923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21AE20-5F27-4749-8C87-4EE37EDF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BDD562-95EC-4618-8E27-14694375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530810-B172-4273-B49F-69CED1F39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APPENDIX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06A2AC-6148-48E1-AFA8-65FFF5FB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EFB00F-FCDC-49B0-8029-B6DC767ED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Streaming/DMA remains future 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DD358C-2926-4D2B-AC66-4495DD2E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099E53-711D-4D73-9EA3-256FF5178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rPr>
              <a:t>Readiness and target profiles are not throughput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7C8EF1-32EE-42F0-B7C9-879DED395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1381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CA75B3-901C-4392-A702-A86BF607A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724150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TARGET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28FE52-C02D-4E89-99B8-6CF771F78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479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p99 = 0.0215755 event bytes/cycle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083FF9-D1CC-4855-B80E-53F16D788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004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31729C-36D7-4691-B46E-DB59367C0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448050"/>
            <a:ext cx="1381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BAB2C3-2265-4172-82B0-E2A820D62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05200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REQUIRED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2197F1-FD1D-4CFE-A8FD-E3CF80912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4290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0.0323633 event bytes/cycle, about 1.618 MB/s at 50 MHz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A2C77B-6181-4731-B0A4-387FA199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9814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0BD03B-10AB-42C5-9FA1-5BC29BA5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229100"/>
            <a:ext cx="1381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EE4D93-C7B9-4B5C-83F8-7D30597FE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286250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CURRENT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4E692D-CCE5-4797-AD0D-59B3C1E2D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2100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75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sustained streaming = 0; noninterference = false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BC29F0-15C8-48C3-BA3E-69F05DCE4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7625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15141155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1EC259-8394-431B-BAC9-62294E75F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E636FF-1B17-4BB2-99F3-9A9F7C628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0CE8A2-87E4-4840-82F5-E0E0CFF2F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APPENDIX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F7A2FF-31A5-4610-8B10-6E680DEF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DA2289-8D32-458C-BCEA-D387DA55E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Workload roster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B96EA8-40D8-4958-B2EA-940A87DF9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953786-080A-4E9F-982E-0C45F3FBD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rPr>
              <a:t>Sample names are appendix material, not main-story material.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D6ADCD-C12F-4DA6-9134-CD332649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209800"/>
            <a:ext cx="1381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B8D7E4-9979-4C05-9099-10EA54C2F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266950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SAFE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75CCDA-6568-4FF3-89C2-A63A0D5D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907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hello_write; file_open_read_write; fork_exec; illegal_instruction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1C35D1-B35C-4067-B675-7BC745D8E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8384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624EE4-2FF7-463E-8371-DC47637B1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990850"/>
            <a:ext cx="1381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79B039-A84E-4CFC-BD05-235C79CE0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048000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SURROGATE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30A9BD-9166-43D9-8A80-22456C02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97180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file_scan; batch_open_read_write; self_copy_sim; abnormal_syscall_sequence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A914BE-BD07-48C8-B934-4C9F9E32A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6195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4BF733-60FE-43EB-A845-A965A9A2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71900"/>
            <a:ext cx="1381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72A19B-8993-4B21-A148-07FDD30AF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29050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SURROGATE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9A95C9-CA70-4A24-BE7C-85B03A63D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528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illegal_trap; process_chain; dynamic_executable_memory; anti_debug_like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73E7AF-07D5-42CE-B189-F509A90D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005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BFBC7F-8C26-449E-9487-27F19B8B7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552950"/>
            <a:ext cx="1381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8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BCB736-16E5-4E8C-BD10-58631A446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610100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BENIGN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D6B4BC-EE62-459B-9ADE-D7DB1CCCB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53390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hello; cat; clock_status; getdents_only; mmap_rw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C5ACAD-25F3-4E58-B705-43B93D87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1816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86653391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B6A178-0D7E-4DEF-A287-EF7ABEBC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32E7EF-FB96-4EBB-9342-C3603DBE3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1F93ED-1995-44AC-9B7F-3651FE90C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APPENDIX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BC7EE4-A543-41B4-B740-F853F9B9C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AC15B0-3BAA-4D68-9ED7-6600A009E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Resource detail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953098-A530-4E60-B8E8-F6FF64C59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FF8ABB-550C-49DE-9A94-3A7C86EA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242A31"/>
                </a:solidFill>
                <a:latin typeface="Microsoft YaHei UI"/>
                <a:ea typeface="Microsoft YaHei UI"/>
                <a:cs typeface="Microsoft YaHei UI"/>
              </a:rPr>
              <a:t>Resource/timing claim is supported; runtime overhead is not.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A54A41-8050-4B0A-8ADE-6F964F3EF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288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rPr>
              <a:t>LUT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5D4396-F88F-48B9-9FFD-6810DD5D3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4288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rPr>
              <a:t>FF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7D577B-7D68-4F27-8B8C-C7BB62420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288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rPr>
              <a:t>BRAM18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4E5DDA-4B52-4F9E-9944-D575B3D55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288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68717D"/>
                </a:solidFill>
                <a:latin typeface="Cascadia Mono"/>
                <a:ea typeface="Cascadia Mono"/>
                <a:cs typeface="Cascadia Mono"/>
              </a:rPr>
              <a:t>DSP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5A3766-EFF1-4292-8150-F218FA999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9718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418"/>
                </a:solidFill>
                <a:latin typeface="Cascadia Mono"/>
                <a:ea typeface="Cascadia Mono"/>
                <a:cs typeface="Cascadia Mono"/>
              </a:defRPr>
            </a:pPr>
            <a:r>
              <a:rPr sz="1650" b="1">
                <a:solidFill>
                  <a:srgbClr val="111418"/>
                </a:solidFill>
                <a:latin typeface="Cascadia Mono"/>
                <a:ea typeface="Cascadia Mono"/>
                <a:cs typeface="Cascadia Mono"/>
              </a:rPr>
              <a:t>baseline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5F78B1-150E-4A85-A753-753328D8D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718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84,923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228110-07D2-41A0-A5DD-5B8B48502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9718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56,491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FD43E3-BC33-4233-8FC3-E67C7C04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718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108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708FEE-170F-47E3-A352-5011E829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718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27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3A92E1-B770-4520-A0D3-2BD9D31D3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09950"/>
            <a:ext cx="838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E29EF9-8923-4F32-B5D4-3DC7CF0C8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714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418"/>
                </a:solidFill>
                <a:latin typeface="Cascadia Mono"/>
                <a:ea typeface="Cascadia Mono"/>
                <a:cs typeface="Cascadia Mono"/>
              </a:defRPr>
            </a:pPr>
            <a:r>
              <a:rPr sz="1650" b="1">
                <a:solidFill>
                  <a:srgbClr val="111418"/>
                </a:solidFill>
                <a:latin typeface="Cascadia Mono"/>
                <a:ea typeface="Cascadia Mono"/>
                <a:cs typeface="Cascadia Mono"/>
              </a:rPr>
              <a:t>trace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82164C-6ECD-494B-9658-FFD09391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14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106,428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D1C3BB-F2F2-45CE-AF74-8FF9D93A4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714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65,634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06D8D6-2B8D-4AD8-9E84-E632AB19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14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114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386D97-3CB4-4A6E-800E-0ACCDF27B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14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111418"/>
                </a:solidFill>
                <a:latin typeface="Microsoft YaHei UI"/>
                <a:ea typeface="Microsoft YaHei UI"/>
                <a:cs typeface="Microsoft YaHei UI"/>
              </a:rPr>
              <a:t>27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D5F207-C86C-4ADB-8477-6B604866E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52900"/>
            <a:ext cx="838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2C512E-BB75-455A-8995-ECEB2CCF3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4577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defRPr>
            </a:pPr>
            <a:r>
              <a:rPr sz="1650" b="1">
                <a:solidFill>
                  <a:srgbClr val="0057FF"/>
                </a:solidFill>
                <a:latin typeface="Cascadia Mono"/>
                <a:ea typeface="Cascadia Mono"/>
                <a:cs typeface="Cascadia Mono"/>
              </a:rPr>
              <a:t>delta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5E3987-AF3B-4A30-947A-C55509496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577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57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0057FF"/>
                </a:solidFill>
                <a:latin typeface="Microsoft YaHei UI"/>
                <a:ea typeface="Microsoft YaHei UI"/>
                <a:cs typeface="Microsoft YaHei UI"/>
              </a:rPr>
              <a:t>+25.32%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CAFF21-DA53-47C3-B3C3-4917EABEC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4577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57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0057FF"/>
                </a:solidFill>
                <a:latin typeface="Microsoft YaHei UI"/>
                <a:ea typeface="Microsoft YaHei UI"/>
                <a:cs typeface="Microsoft YaHei UI"/>
              </a:rPr>
              <a:t>+16.18%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9F5ACC-0CC1-451E-B6A0-9B34E1719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577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57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0057FF"/>
                </a:solidFill>
                <a:latin typeface="Microsoft YaHei UI"/>
                <a:ea typeface="Microsoft YaHei UI"/>
                <a:cs typeface="Microsoft YaHei UI"/>
              </a:rPr>
              <a:t>+5.56%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EAF1A6-1A45-419C-94CF-88F9724CF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577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57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0057FF"/>
                </a:solidFill>
                <a:latin typeface="Microsoft YaHei UI"/>
                <a:ea typeface="Microsoft YaHei UI"/>
                <a:cs typeface="Microsoft YaHei UI"/>
              </a:rPr>
              <a:t>+0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DC0AD5-967F-4E3C-BA27-CEC84C3A8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95850"/>
            <a:ext cx="838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757224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2026-06-24T14:25:31.5120000Z</dcterms:created>
  <dcterms:modified xsi:type="dcterms:W3CDTF">2026-06-24T14:25:31.5120000Z</dcterms:modified>
</coreProperties>
</file>