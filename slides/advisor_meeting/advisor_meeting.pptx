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over-title|s=$title"/>
          <p:cNvSpPr txBox="1"/>
          <p:nvPr/>
        </p:nvSpPr>
        <p:spPr>
          <a:xfrm>
            <a:off x="1333500" y="2095500"/>
            <a:ext cx="9525000" cy="1143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3000" noProof="1" spc="150">
                <a:solidFill>
                  <a:srgbClr val="FFFFFF"/>
                </a:solidFill>
                <a:latin typeface="QuattrocentoSans"/>
                <a:ea typeface="MiSans"/>
              </a:rPr>
              <a:t>RV-MalTrace</a:t>
            </a:r>
          </a:p>
        </p:txBody>
      </p:sp>
      <p:sp>
        <p:nvSpPr>
          <p:cNvPr id="3" name="dsl:cover-subtitle|s=$subtitle"/>
          <p:cNvSpPr txBox="1"/>
          <p:nvPr/>
        </p:nvSpPr>
        <p:spPr>
          <a:xfrm>
            <a:off x="1333500" y="3429000"/>
            <a:ext cx="95250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650" noProof="1">
                <a:solidFill>
                  <a:srgbClr val="FFFFFF"/>
                </a:solidFill>
                <a:latin typeface="QuattrocentoSans"/>
                <a:ea typeface="MiSans"/>
              </a:rPr>
              <a:t>RISC-V 硬件辅助恶意软件行为追踪</a:t>
            </a:r>
          </a:p>
        </p:txBody>
      </p:sp>
      <p:sp>
        <p:nvSpPr>
          <p:cNvPr id="4" name="dsl:cover-accent-line"/>
          <p:cNvSpPr/>
          <p:nvPr/>
        </p:nvSpPr>
        <p:spPr>
          <a:xfrm>
            <a:off x="5524500" y="3333750"/>
            <a:ext cx="1143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over-info"/>
          <p:cNvSpPr txBox="1"/>
          <p:nvPr/>
        </p:nvSpPr>
        <p:spPr>
          <a:xfrm>
            <a:off x="1333500" y="4476750"/>
            <a:ext cx="9525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350" noProof="1">
                <a:solidFill>
                  <a:srgbClr val="FFFFFF">
                    <a:alpha val="60000"/>
                  </a:srgbClr>
                </a:solidFill>
                <a:latin typeface="QuattrocentoSans"/>
                <a:ea typeface="MiSans"/>
              </a:rPr>
              <a:t>博士课题进展汇报  |  与导师第一次会议  |  2025年7月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label"/>
          <p:cNvSpPr txBox="1"/>
          <p:nvPr/>
        </p:nvSpPr>
        <p:spPr>
          <a:xfrm>
            <a:off x="571500" y="76200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050" noProof="1" spc="300">
                <a:solidFill>
                  <a:srgbClr val="5B6B82"/>
                </a:solidFill>
                <a:latin typeface="QuattrocentoSans"/>
                <a:ea typeface="MiSans"/>
              </a:rPr>
              <a:t>CONTENTS</a:t>
            </a:r>
          </a:p>
        </p:txBody>
      </p:sp>
      <p:sp>
        <p:nvSpPr>
          <p:cNvPr id="3" name="dsl:toc-title|s=$heading"/>
          <p:cNvSpPr txBox="1"/>
          <p:nvPr/>
        </p:nvSpPr>
        <p:spPr>
          <a:xfrm>
            <a:off x="571500" y="1238250"/>
            <a:ext cx="381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700" noProof="1">
                <a:solidFill>
                  <a:srgbClr val="1E3A5F"/>
                </a:solidFill>
                <a:latin typeface="QuattrocentoSans"/>
                <a:ea typeface="MiSans"/>
              </a:rPr>
              <a:t>汇报提纲</a:t>
            </a:r>
          </a:p>
        </p:txBody>
      </p:sp>
      <p:sp>
        <p:nvSpPr>
          <p:cNvPr id="4" name="dsl:toc-accent-line"/>
          <p:cNvSpPr/>
          <p:nvPr/>
        </p:nvSpPr>
        <p:spPr>
          <a:xfrm>
            <a:off x="571500" y="1905000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toc-item1-num"/>
          <p:cNvSpPr txBox="1"/>
          <p:nvPr/>
        </p:nvSpPr>
        <p:spPr>
          <a:xfrm>
            <a:off x="571500" y="24765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B45309"/>
                </a:solidFill>
                <a:latin typeface="QuattrocentoSans"/>
                <a:ea typeface="MiSans"/>
              </a:rPr>
              <a:t>01</a:t>
            </a:r>
          </a:p>
        </p:txBody>
      </p:sp>
      <p:sp>
        <p:nvSpPr>
          <p:cNvPr id="6" name="dsl:toc-item1-title"/>
          <p:cNvSpPr txBox="1"/>
          <p:nvPr/>
        </p:nvSpPr>
        <p:spPr>
          <a:xfrm>
            <a:off x="1333500" y="2476500"/>
            <a:ext cx="476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650" noProof="1">
                <a:solidFill>
                  <a:srgbClr val="1A1D23"/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7" name="dsl:toc-item1-desc"/>
          <p:cNvSpPr txBox="1"/>
          <p:nvPr/>
        </p:nvSpPr>
        <p:spPr>
          <a:xfrm>
            <a:off x="1333500" y="295275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当前研究问题与动机</a:t>
            </a:r>
          </a:p>
        </p:txBody>
      </p:sp>
      <p:sp>
        <p:nvSpPr>
          <p:cNvPr id="8" name="dsl:toc-divider1"/>
          <p:cNvSpPr/>
          <p:nvPr/>
        </p:nvSpPr>
        <p:spPr>
          <a:xfrm>
            <a:off x="571500" y="3429000"/>
            <a:ext cx="514350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oc-item2-num"/>
          <p:cNvSpPr txBox="1"/>
          <p:nvPr/>
        </p:nvSpPr>
        <p:spPr>
          <a:xfrm>
            <a:off x="571500" y="36195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B45309"/>
                </a:solidFill>
                <a:latin typeface="QuattrocentoSans"/>
                <a:ea typeface="MiSans"/>
              </a:rPr>
              <a:t>02</a:t>
            </a:r>
          </a:p>
        </p:txBody>
      </p:sp>
      <p:sp>
        <p:nvSpPr>
          <p:cNvPr id="10" name="dsl:toc-item2-title"/>
          <p:cNvSpPr txBox="1"/>
          <p:nvPr/>
        </p:nvSpPr>
        <p:spPr>
          <a:xfrm>
            <a:off x="1333500" y="3619500"/>
            <a:ext cx="476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650" noProof="1">
                <a:solidFill>
                  <a:srgbClr val="1A1D23"/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11" name="dsl:toc-item2-desc"/>
          <p:cNvSpPr txBox="1"/>
          <p:nvPr/>
        </p:nvSpPr>
        <p:spPr>
          <a:xfrm>
            <a:off x="1333500" y="409575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技术难点与实现挑战</a:t>
            </a:r>
          </a:p>
        </p:txBody>
      </p:sp>
      <p:sp>
        <p:nvSpPr>
          <p:cNvPr id="12" name="dsl:toc-divider2"/>
          <p:cNvSpPr/>
          <p:nvPr/>
        </p:nvSpPr>
        <p:spPr>
          <a:xfrm>
            <a:off x="571500" y="4572000"/>
            <a:ext cx="514350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oc-item3-num"/>
          <p:cNvSpPr txBox="1"/>
          <p:nvPr/>
        </p:nvSpPr>
        <p:spPr>
          <a:xfrm>
            <a:off x="571500" y="47625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B45309"/>
                </a:solidFill>
                <a:latin typeface="QuattrocentoSans"/>
                <a:ea typeface="MiSans"/>
              </a:rPr>
              <a:t>03</a:t>
            </a:r>
          </a:p>
        </p:txBody>
      </p:sp>
      <p:sp>
        <p:nvSpPr>
          <p:cNvPr id="14" name="dsl:toc-item3-title"/>
          <p:cNvSpPr txBox="1"/>
          <p:nvPr/>
        </p:nvSpPr>
        <p:spPr>
          <a:xfrm>
            <a:off x="1333500" y="4762500"/>
            <a:ext cx="476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650" noProof="1">
                <a:solidFill>
                  <a:srgbClr val="1A1D23"/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15" name="dsl:toc-item3-desc"/>
          <p:cNvSpPr txBox="1"/>
          <p:nvPr/>
        </p:nvSpPr>
        <p:spPr>
          <a:xfrm>
            <a:off x="1333500" y="523875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系统架构与应对策略</a:t>
            </a:r>
          </a:p>
        </p:txBody>
      </p:sp>
      <p:sp>
        <p:nvSpPr>
          <p:cNvPr id="16" name="dsl:toc-divider3"/>
          <p:cNvSpPr/>
          <p:nvPr/>
        </p:nvSpPr>
        <p:spPr>
          <a:xfrm>
            <a:off x="571500" y="5715000"/>
            <a:ext cx="514350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oc-item4-num"/>
          <p:cNvSpPr txBox="1"/>
          <p:nvPr/>
        </p:nvSpPr>
        <p:spPr>
          <a:xfrm>
            <a:off x="571500" y="5905500"/>
            <a:ext cx="762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400" noProof="1">
                <a:solidFill>
                  <a:srgbClr val="B45309"/>
                </a:solidFill>
                <a:latin typeface="QuattrocentoSans"/>
                <a:ea typeface="MiSans"/>
              </a:rPr>
              <a:t>04</a:t>
            </a:r>
          </a:p>
        </p:txBody>
      </p:sp>
      <p:sp>
        <p:nvSpPr>
          <p:cNvPr id="18" name="dsl:toc-item4-title"/>
          <p:cNvSpPr txBox="1"/>
          <p:nvPr/>
        </p:nvSpPr>
        <p:spPr>
          <a:xfrm>
            <a:off x="1333500" y="5905500"/>
            <a:ext cx="4762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650" noProof="1">
                <a:solidFill>
                  <a:srgbClr val="1A1D23"/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19" name="dsl:toc-item4-desc"/>
          <p:cNvSpPr txBox="1"/>
          <p:nvPr/>
        </p:nvSpPr>
        <p:spPr>
          <a:xfrm>
            <a:off x="1333500" y="638175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架构细节、评估框架与当前进展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1-num-bg"/>
          <p:cNvSpPr txBox="1"/>
          <p:nvPr/>
        </p:nvSpPr>
        <p:spPr>
          <a:xfrm>
            <a:off x="4191000" y="1714500"/>
            <a:ext cx="3810000" cy="1905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0" noProof="1">
                <a:solidFill>
                  <a:srgbClr val="FFFFFF">
                    <a:alpha val="8235"/>
                  </a:srgbClr>
                </a:solidFill>
                <a:latin typeface="QuattrocentoSans"/>
                <a:ea typeface="MiSans"/>
              </a:rPr>
              <a:t>01</a:t>
            </a:r>
          </a:p>
        </p:txBody>
      </p:sp>
      <p:sp>
        <p:nvSpPr>
          <p:cNvPr id="3" name="dsl:ch1-title"/>
          <p:cNvSpPr txBox="1"/>
          <p:nvPr/>
        </p:nvSpPr>
        <p:spPr>
          <a:xfrm>
            <a:off x="2286000" y="266700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4" name="dsl:ch1-accent"/>
          <p:cNvSpPr/>
          <p:nvPr/>
        </p:nvSpPr>
        <p:spPr>
          <a:xfrm>
            <a:off x="5524500" y="3524250"/>
            <a:ext cx="1143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1-subtitle"/>
          <p:cNvSpPr txBox="1"/>
          <p:nvPr/>
        </p:nvSpPr>
        <p:spPr>
          <a:xfrm>
            <a:off x="2286000" y="3810000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为什么需要硬件层的行为追踪？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当前研究的问题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ore-problem-card"/>
          <p:cNvSpPr/>
          <p:nvPr/>
        </p:nvSpPr>
        <p:spPr>
          <a:xfrm>
            <a:off x="571500" y="1333500"/>
            <a:ext cx="11049000" cy="85725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ore-problem-left"/>
          <p:cNvSpPr/>
          <p:nvPr/>
        </p:nvSpPr>
        <p:spPr>
          <a:xfrm>
            <a:off x="571500" y="1333500"/>
            <a:ext cx="47625" cy="8572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core-problem-text|s=$body"/>
          <p:cNvSpPr txBox="1"/>
          <p:nvPr/>
        </p:nvSpPr>
        <p:spPr>
          <a:xfrm>
            <a:off x="762000" y="1381125"/>
            <a:ext cx="10668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350" noProof="1">
                <a:solidFill>
                  <a:srgbClr val="1A1D23"/>
                </a:solidFill>
                <a:latin typeface="QuattrocentoSans"/>
                <a:ea typeface="MiSans"/>
              </a:rPr>
              <a:t>核心问题：</a:t>
            </a:r>
            <a:r>
              <a:rPr sz="1350" noProof="1">
                <a:solidFill>
                  <a:srgbClr val="1A1D23"/>
                </a:solidFill>
                <a:latin typeface="QuattrocentoSans"/>
                <a:ea typeface="MiSans"/>
              </a:rPr>
              <a:t>硬件 trace 是低层事件，而恶意软件行为声称是高层语义。如何在不把软件参考日志误报成硬件恢复结果的前提下，将低层硬件事件连接到</a:t>
            </a:r>
            <a:r>
              <a:rPr b="1" sz="1350" noProof="1">
                <a:solidFill>
                  <a:srgbClr val="B45309"/>
                </a:solidFill>
                <a:latin typeface="QuattrocentoSans"/>
                <a:ea typeface="MiSans"/>
              </a:rPr>
              <a:t>进程、可执行文件和行为标签</a:t>
            </a:r>
            <a:r>
              <a:rPr sz="1350" noProof="1">
                <a:solidFill>
                  <a:srgbClr val="1A1D23"/>
                </a:solidFill>
                <a:latin typeface="QuattrocentoSans"/>
                <a:ea typeface="MiSans"/>
              </a:rPr>
              <a:t>？</a:t>
            </a:r>
          </a:p>
        </p:txBody>
      </p:sp>
      <p:pic>
        <p:nvPicPr>
          <p:cNvPr id="13" name="dsl:point1-icon|i=fas:microchip" descr="tmpecu43t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2887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point1-title"/>
          <p:cNvSpPr txBox="1"/>
          <p:nvPr/>
        </p:nvSpPr>
        <p:spPr>
          <a:xfrm>
            <a:off x="952500" y="2381250"/>
            <a:ext cx="4762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A1D23"/>
                </a:solidFill>
                <a:latin typeface="QuattrocentoSans"/>
                <a:ea typeface="MiSans"/>
              </a:rPr>
              <a:t>语义鸿沟</a:t>
            </a:r>
          </a:p>
        </p:txBody>
      </p:sp>
      <p:sp>
        <p:nvSpPr>
          <p:cNvPr id="15" name="dsl:point1-text|s=$body"/>
          <p:cNvSpPr txBox="1"/>
          <p:nvPr/>
        </p:nvSpPr>
        <p:spPr>
          <a:xfrm>
            <a:off x="952500" y="2714625"/>
            <a:ext cx="47625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现有软件 tracing（strace、eBPF）是测量系统的一部分，存在可检测性和可绕过性问题。目标程序可通过 timing check、/proc 检测等手段发现 tracer 存在。</a:t>
            </a:r>
          </a:p>
        </p:txBody>
      </p:sp>
      <p:pic>
        <p:nvPicPr>
          <p:cNvPr id="16" name="dsl:point2-icon|i=fas:shield-halved" descr="tmpecu43t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428875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7" name="dsl:point2-title"/>
          <p:cNvSpPr txBox="1"/>
          <p:nvPr/>
        </p:nvSpPr>
        <p:spPr>
          <a:xfrm>
            <a:off x="6667500" y="238125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A1D23"/>
                </a:solidFill>
                <a:latin typeface="QuattrocentoSans"/>
                <a:ea typeface="MiSans"/>
              </a:rPr>
              <a:t>独立观察点缺失</a:t>
            </a:r>
          </a:p>
        </p:txBody>
      </p:sp>
      <p:sp>
        <p:nvSpPr>
          <p:cNvPr id="18" name="dsl:point2-text|s=$body"/>
          <p:cNvSpPr txBox="1"/>
          <p:nvPr/>
        </p:nvSpPr>
        <p:spPr>
          <a:xfrm>
            <a:off x="6667500" y="2714625"/>
            <a:ext cx="49530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硬件 trace 提供 CPU 外部的独立观察点，目标程序无法感知或篡改。但硬件事件本身不足以支撑 malware behavior 声称，缺少归因和边界机制。</a:t>
            </a:r>
          </a:p>
        </p:txBody>
      </p:sp>
      <p:pic>
        <p:nvPicPr>
          <p:cNvPr id="19" name="dsl:point3-icon|i=fas:link" descr="tmpecu43t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00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point3-title"/>
          <p:cNvSpPr txBox="1"/>
          <p:nvPr/>
        </p:nvSpPr>
        <p:spPr>
          <a:xfrm>
            <a:off x="952500" y="3952875"/>
            <a:ext cx="1066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A1D23"/>
                </a:solidFill>
                <a:latin typeface="QuattrocentoSans"/>
                <a:ea typeface="MiSans"/>
              </a:rPr>
              <a:t>证据链断裂</a:t>
            </a:r>
          </a:p>
        </p:txBody>
      </p:sp>
      <p:sp>
        <p:nvSpPr>
          <p:cNvPr id="21" name="dsl:point3-text|s=$body"/>
          <p:cNvSpPr txBox="1"/>
          <p:nvPr/>
        </p:nvSpPr>
        <p:spPr>
          <a:xfrm>
            <a:off x="952500" y="4286250"/>
            <a:ext cx="106680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需要构建一条从 </a:t>
            </a:r>
            <a:r>
              <a:rPr b="1" sz="1200" noProof="1">
                <a:solidFill>
                  <a:srgbClr val="B45309"/>
                </a:solidFill>
                <a:latin typeface="QuattrocentoSans"/>
                <a:ea typeface="MiSans"/>
              </a:rPr>
              <a:t>RTL 级提交事件 → 代码映射 → 运行时映射 → 语义行为重建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的可验证证据链。任何一步的混淆都会导致“看似正确”的错误声称。</a:t>
            </a:r>
          </a:p>
        </p:txBody>
      </p:sp>
      <p:sp>
        <p:nvSpPr>
          <p:cNvPr id="22" name="dsl:bottom-summary-bar"/>
          <p:cNvSpPr/>
          <p:nvPr/>
        </p:nvSpPr>
        <p:spPr>
          <a:xfrm>
            <a:off x="571500" y="4953000"/>
            <a:ext cx="11049000" cy="5715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bottom-summary-text"/>
          <p:cNvSpPr txBox="1"/>
          <p:nvPr/>
        </p:nvSpPr>
        <p:spPr>
          <a:xfrm>
            <a:off x="762000" y="495300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研究本质：建立硬件 rooted 的 RISC-V 行为追踪与语义重建系统，作为对抗性场景下的独立证据来源。</a:t>
            </a:r>
          </a:p>
        </p:txBody>
      </p:sp>
      <p:sp>
        <p:nvSpPr>
          <p:cNvPr id="24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研究动机与价值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left-card"/>
          <p:cNvSpPr/>
          <p:nvPr/>
        </p:nvSpPr>
        <p:spPr>
          <a:xfrm>
            <a:off x="571500" y="1333500"/>
            <a:ext cx="5334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left-card-title"/>
          <p:cNvSpPr txBox="1"/>
          <p:nvPr/>
        </p:nvSpPr>
        <p:spPr>
          <a:xfrm>
            <a:off x="762000" y="142875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E3A5F"/>
                </a:solidFill>
                <a:latin typeface="QuattrocentoSans"/>
                <a:ea typeface="MiSans"/>
              </a:rPr>
              <a:t>软件 Tracing 的局限</a:t>
            </a:r>
          </a:p>
        </p:txBody>
      </p:sp>
      <p:sp>
        <p:nvSpPr>
          <p:cNvPr id="12" name="dsl:left-card-line"/>
          <p:cNvSpPr/>
          <p:nvPr/>
        </p:nvSpPr>
        <p:spPr>
          <a:xfrm>
            <a:off x="762000" y="1762125"/>
            <a:ext cx="495300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left-card-body|s=$body"/>
          <p:cNvSpPr txBox="1"/>
          <p:nvPr/>
        </p:nvSpPr>
        <p:spPr>
          <a:xfrm>
            <a:off x="762000" y="1857375"/>
            <a:ext cx="4953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软件 tracer 是测量系统的一部分，可被目标检测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Anti-debug：检测 ptrace 附加状态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Timing check：测量系统调用耗时差异发现 tracer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Direct syscall：绕过 libc 直接调用内核，避开用户态 hook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Packed code：在运行时解密，静态分析失效</a:t>
            </a:r>
          </a:p>
        </p:txBody>
      </p:sp>
      <p:sp>
        <p:nvSpPr>
          <p:cNvPr id="14" name="dsl:right-card"/>
          <p:cNvSpPr/>
          <p:nvPr/>
        </p:nvSpPr>
        <p:spPr>
          <a:xfrm>
            <a:off x="6286500" y="1333500"/>
            <a:ext cx="5334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right-card-title"/>
          <p:cNvSpPr txBox="1"/>
          <p:nvPr/>
        </p:nvSpPr>
        <p:spPr>
          <a:xfrm>
            <a:off x="6477000" y="142875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E3A5F"/>
                </a:solidFill>
                <a:latin typeface="QuattrocentoSans"/>
                <a:ea typeface="MiSans"/>
              </a:rPr>
              <a:t>硬件 Trace 的价值</a:t>
            </a:r>
          </a:p>
        </p:txBody>
      </p:sp>
      <p:sp>
        <p:nvSpPr>
          <p:cNvPr id="16" name="dsl:right-card-line"/>
          <p:cNvSpPr/>
          <p:nvPr/>
        </p:nvSpPr>
        <p:spPr>
          <a:xfrm>
            <a:off x="6477000" y="1762125"/>
            <a:ext cx="495300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right-card-body|s=$body"/>
          <p:cNvSpPr txBox="1"/>
          <p:nvPr/>
        </p:nvSpPr>
        <p:spPr>
          <a:xfrm>
            <a:off x="6477000" y="1857375"/>
            <a:ext cx="4953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独立于被测程序，无法被检测或绕过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记录 committed architectural state，不可抵赖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不依赖 OS 内核支持，适用于裸机到 Linux 全栈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为对抗性分析提供可信的独立证据源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填补"硬件可信但语义缺失"的研究空白</a:t>
            </a:r>
          </a:p>
        </p:txBody>
      </p:sp>
      <p:sp>
        <p:nvSpPr>
          <p:cNvPr id="18" name="dsl:bottom-note|s=$body"/>
          <p:cNvSpPr txBox="1"/>
          <p:nvPr/>
        </p:nvSpPr>
        <p:spPr>
          <a:xfrm>
            <a:off x="571500" y="4191000"/>
            <a:ext cx="11049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D23"/>
                </a:solidFill>
                <a:latin typeface="QuattrocentoSans"/>
                <a:ea typeface="MiSans"/>
              </a:rPr>
              <a:t>核心洞察：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软件 tracing 不是没用，而是不适合单独承担对抗性 workload 的全部证据链。硬件 trace 提供独立观察点，但必须补上</a:t>
            </a: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归因（attribution）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和</a:t>
            </a: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边界（boundary）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机制，才能支撑可信的行为声称。</a:t>
            </a:r>
          </a:p>
        </p:txBody>
      </p:sp>
      <p:sp>
        <p:nvSpPr>
          <p:cNvPr id="19" name="dsl:value-flow-diagram"/>
          <p:cNvSpPr/>
          <p:nvPr/>
        </p:nvSpPr>
        <p:spPr>
          <a:xfrm>
            <a:off x="571500" y="5143500"/>
            <a:ext cx="11049000" cy="523875"/>
          </a:xfrm>
          <a:prstGeom prst="rect">
            <a:avLst/>
          </a:prstGeom>
          <a:solidFill>
            <a:srgbClr val="EFF1F5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value-flow-text"/>
          <p:cNvSpPr txBox="1"/>
          <p:nvPr/>
        </p:nvSpPr>
        <p:spPr>
          <a:xfrm>
            <a:off x="762000" y="5143500"/>
            <a:ext cx="10668000" cy="523875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b="1" sz="1200" noProof="1">
                <a:solidFill>
                  <a:srgbClr val="1A1D23"/>
                </a:solidFill>
                <a:latin typeface="QuattrocentoSans"/>
                <a:ea typeface="MiSans"/>
              </a:rPr>
              <a:t>软件 Tracing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 </a:t>
            </a:r>
            <a:r>
              <a:rPr sz="1200" noProof="1">
                <a:solidFill>
                  <a:srgbClr val="5B6B82"/>
                </a:solidFill>
                <a:latin typeface="QuattrocentoSans"/>
                <a:ea typeface="MiSans"/>
              </a:rPr>
              <a:t>→ 参考日志 / 易检测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　　</a:t>
            </a:r>
            <a:r>
              <a:rPr b="1" sz="1200" noProof="1">
                <a:solidFill>
                  <a:srgbClr val="1A1D23"/>
                </a:solidFill>
                <a:latin typeface="QuattrocentoSans"/>
                <a:ea typeface="MiSans"/>
              </a:rPr>
              <a:t>硬件 Trace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 </a:t>
            </a:r>
            <a:r>
              <a:rPr sz="1200" noProof="1">
                <a:solidFill>
                  <a:srgbClr val="5B6B82"/>
                </a:solidFill>
                <a:latin typeface="QuattrocentoSans"/>
                <a:ea typeface="MiSans"/>
              </a:rPr>
              <a:t>→ 独立证据 / 语义缺失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　　</a:t>
            </a:r>
            <a:r>
              <a:rPr b="1" sz="1200" noProof="1">
                <a:solidFill>
                  <a:srgbClr val="1A1D23"/>
                </a:solidFill>
                <a:latin typeface="QuattrocentoSans"/>
                <a:ea typeface="MiSans"/>
              </a:rPr>
              <a:t>RV-MalTrace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 </a:t>
            </a:r>
            <a:r>
              <a:rPr sz="1200" noProof="1">
                <a:solidFill>
                  <a:srgbClr val="B45309"/>
                </a:solidFill>
                <a:latin typeface="QuattrocentoSans"/>
                <a:ea typeface="MiSans"/>
              </a:rPr>
              <a:t>→ 硬件可信 + 语义重建</a:t>
            </a:r>
          </a:p>
        </p:txBody>
      </p:sp>
      <p:sp>
        <p:nvSpPr>
          <p:cNvPr id="21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2-num-bg"/>
          <p:cNvSpPr txBox="1"/>
          <p:nvPr/>
        </p:nvSpPr>
        <p:spPr>
          <a:xfrm>
            <a:off x="4191000" y="1714500"/>
            <a:ext cx="3810000" cy="1905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0" noProof="1">
                <a:solidFill>
                  <a:srgbClr val="FFFFFF">
                    <a:alpha val="8235"/>
                  </a:srgbClr>
                </a:solidFill>
                <a:latin typeface="QuattrocentoSans"/>
                <a:ea typeface="MiSans"/>
              </a:rPr>
              <a:t>02</a:t>
            </a:r>
          </a:p>
        </p:txBody>
      </p:sp>
      <p:sp>
        <p:nvSpPr>
          <p:cNvPr id="3" name="dsl:ch2-title"/>
          <p:cNvSpPr txBox="1"/>
          <p:nvPr/>
        </p:nvSpPr>
        <p:spPr>
          <a:xfrm>
            <a:off x="2286000" y="266700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4" name="dsl:ch2-accent"/>
          <p:cNvSpPr/>
          <p:nvPr/>
        </p:nvSpPr>
        <p:spPr>
          <a:xfrm>
            <a:off x="5524500" y="3524250"/>
            <a:ext cx="1143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2-subtitle"/>
          <p:cNvSpPr txBox="1"/>
          <p:nvPr/>
        </p:nvSpPr>
        <p:spPr>
          <a:xfrm>
            <a:off x="2286000" y="3810000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从硬件事件到行为声称的鸿沟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304800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解决该问题的技术难点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diff1-bar"/>
          <p:cNvSpPr/>
          <p:nvPr/>
        </p:nvSpPr>
        <p:spPr>
          <a:xfrm>
            <a:off x="571500" y="1333500"/>
            <a:ext cx="47625" cy="952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diff1-title"/>
          <p:cNvSpPr txBox="1"/>
          <p:nvPr/>
        </p:nvSpPr>
        <p:spPr>
          <a:xfrm>
            <a:off x="762000" y="13335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语义鸿沟（Semantic Gap）</a:t>
            </a:r>
          </a:p>
        </p:txBody>
      </p:sp>
      <p:sp>
        <p:nvSpPr>
          <p:cNvPr id="12" name="dsl:diff1-text"/>
          <p:cNvSpPr txBox="1"/>
          <p:nvPr/>
        </p:nvSpPr>
        <p:spPr>
          <a:xfrm>
            <a:off x="762000" y="1619250"/>
            <a:ext cx="4762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硬件只记录 committed instruction / register / CSR，而行为分析需要 syscall 参数、文件路径、进程树等高层语义。</a:t>
            </a:r>
          </a:p>
        </p:txBody>
      </p:sp>
      <p:sp>
        <p:nvSpPr>
          <p:cNvPr id="13" name="dsl:diff2-bar"/>
          <p:cNvSpPr/>
          <p:nvPr/>
        </p:nvSpPr>
        <p:spPr>
          <a:xfrm>
            <a:off x="6286500" y="1333500"/>
            <a:ext cx="47625" cy="952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diff2-title"/>
          <p:cNvSpPr txBox="1"/>
          <p:nvPr/>
        </p:nvSpPr>
        <p:spPr>
          <a:xfrm>
            <a:off x="6477000" y="13335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归因难题（Attribution）</a:t>
            </a:r>
          </a:p>
        </p:txBody>
      </p:sp>
      <p:sp>
        <p:nvSpPr>
          <p:cNvPr id="15" name="dsl:diff2-text"/>
          <p:cNvSpPr txBox="1"/>
          <p:nvPr/>
        </p:nvSpPr>
        <p:spPr>
          <a:xfrm>
            <a:off x="6477000" y="1619250"/>
            <a:ext cx="4762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同一物理 trace 可能来自多个进程（fork/exec）；PIE/ASLR 使静态 ELF 分析不足以定位代码；动态库加载改变地址空间。</a:t>
            </a:r>
          </a:p>
        </p:txBody>
      </p:sp>
      <p:sp>
        <p:nvSpPr>
          <p:cNvPr id="16" name="dsl:diff3-bar"/>
          <p:cNvSpPr/>
          <p:nvPr/>
        </p:nvSpPr>
        <p:spPr>
          <a:xfrm>
            <a:off x="571500" y="2476500"/>
            <a:ext cx="47625" cy="952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diff3-title"/>
          <p:cNvSpPr txBox="1"/>
          <p:nvPr/>
        </p:nvSpPr>
        <p:spPr>
          <a:xfrm>
            <a:off x="762000" y="24765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证据混淆风险（Evidence Confusion）</a:t>
            </a:r>
          </a:p>
        </p:txBody>
      </p:sp>
      <p:sp>
        <p:nvSpPr>
          <p:cNvPr id="18" name="dsl:diff3-text"/>
          <p:cNvSpPr txBox="1"/>
          <p:nvPr/>
        </p:nvSpPr>
        <p:spPr>
          <a:xfrm>
            <a:off x="762000" y="2762250"/>
            <a:ext cx="4762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软件参考日志（strace）容易与硬件 trace 混淆，导致"看似正确"实则错误的声称。必须标记每个字段的来源。</a:t>
            </a:r>
          </a:p>
        </p:txBody>
      </p:sp>
      <p:sp>
        <p:nvSpPr>
          <p:cNvPr id="19" name="dsl:diff4-bar"/>
          <p:cNvSpPr/>
          <p:nvPr/>
        </p:nvSpPr>
        <p:spPr>
          <a:xfrm>
            <a:off x="6286500" y="2476500"/>
            <a:ext cx="47625" cy="952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diff4-title"/>
          <p:cNvSpPr txBox="1"/>
          <p:nvPr/>
        </p:nvSpPr>
        <p:spPr>
          <a:xfrm>
            <a:off x="6477000" y="2476500"/>
            <a:ext cx="47625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指针语义恢复（Pointer Reconstruction）</a:t>
            </a:r>
          </a:p>
        </p:txBody>
      </p:sp>
      <p:sp>
        <p:nvSpPr>
          <p:cNvPr id="21" name="dsl:diff4-text"/>
          <p:cNvSpPr txBox="1"/>
          <p:nvPr/>
        </p:nvSpPr>
        <p:spPr>
          <a:xfrm>
            <a:off x="6477000" y="2762250"/>
            <a:ext cx="47625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syscall 参数中的指针（如 openat 的路径字符串）需要额外的内存快照机制，但不能对 core 产生 backpressure。</a:t>
            </a:r>
          </a:p>
        </p:txBody>
      </p:sp>
      <p:sp>
        <p:nvSpPr>
          <p:cNvPr id="22" name="dsl:diff5-bar"/>
          <p:cNvSpPr/>
          <p:nvPr/>
        </p:nvSpPr>
        <p:spPr>
          <a:xfrm>
            <a:off x="571500" y="3619500"/>
            <a:ext cx="47625" cy="9525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diff5-title"/>
          <p:cNvSpPr txBox="1"/>
          <p:nvPr/>
        </p:nvSpPr>
        <p:spPr>
          <a:xfrm>
            <a:off x="762000" y="3619500"/>
            <a:ext cx="106680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反分析对抗（Anti-Analysis Evasion）</a:t>
            </a:r>
          </a:p>
        </p:txBody>
      </p:sp>
      <p:sp>
        <p:nvSpPr>
          <p:cNvPr id="24" name="dsl:diff5-text"/>
          <p:cNvSpPr txBox="1"/>
          <p:nvPr/>
        </p:nvSpPr>
        <p:spPr>
          <a:xfrm>
            <a:off x="762000" y="3905250"/>
            <a:ext cx="10668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Anti-debug、timing check、direct-syscall、packed code 等样本专门检测并绕过软件 tracer。硬件 tracer 天然免疫，但重建后的行为声称仍需受控验证，不能直接等同于"检测器准确率"。</a:t>
            </a:r>
          </a:p>
        </p:txBody>
      </p:sp>
      <p:sp>
        <p:nvSpPr>
          <p:cNvPr id="25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304800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实现该方案的挑战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hal1-title"/>
          <p:cNvSpPr txBox="1"/>
          <p:nvPr/>
        </p:nvSpPr>
        <p:spPr>
          <a:xfrm>
            <a:off x="571500" y="1333500"/>
            <a:ext cx="5334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CVA6 信号定位与 commit 语义</a:t>
            </a:r>
          </a:p>
        </p:txBody>
      </p:sp>
      <p:sp>
        <p:nvSpPr>
          <p:cNvPr id="11" name="dsl:chal1-text"/>
          <p:cNvSpPr txBox="1"/>
          <p:nvPr/>
        </p:nvSpPr>
        <p:spPr>
          <a:xfrm>
            <a:off x="571500" y="1619250"/>
            <a:ext cx="5334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CVA6 有双 commit port，ECALL 走 trap path 而非正常 retire。需要区分 valid commit、trap、flush/kill 三种状态，并从 RVFI 接口提取正确的 pc、instr、cause、mode。</a:t>
            </a:r>
          </a:p>
        </p:txBody>
      </p:sp>
      <p:sp>
        <p:nvSpPr>
          <p:cNvPr id="12" name="dsl:chal2-title"/>
          <p:cNvSpPr txBox="1"/>
          <p:nvPr/>
        </p:nvSpPr>
        <p:spPr>
          <a:xfrm>
            <a:off x="6286500" y="1333500"/>
            <a:ext cx="5334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Syscall Entry/Return 关联</a:t>
            </a:r>
          </a:p>
        </p:txBody>
      </p:sp>
      <p:sp>
        <p:nvSpPr>
          <p:cNvPr id="13" name="dsl:chal2-text"/>
          <p:cNvSpPr txBox="1"/>
          <p:nvPr/>
        </p:nvSpPr>
        <p:spPr>
          <a:xfrm>
            <a:off x="6286500" y="1619250"/>
            <a:ext cx="5334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EVT_SYSCALL_ENTRY 仅在 U-mode ECALL 时触发；EVT_SYSCALL_RET 需要 SRET 返回 U-mode 且存在 outstanding syscall 时才触发。需要维护 per-hart syscall 状态机。</a:t>
            </a:r>
          </a:p>
        </p:txBody>
      </p:sp>
      <p:sp>
        <p:nvSpPr>
          <p:cNvPr id="14" name="dsl:chal3-title"/>
          <p:cNvSpPr txBox="1"/>
          <p:nvPr/>
        </p:nvSpPr>
        <p:spPr>
          <a:xfrm>
            <a:off x="571500" y="2667000"/>
            <a:ext cx="5334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无侵入 Sideband-Only 设计</a:t>
            </a:r>
          </a:p>
        </p:txBody>
      </p:sp>
      <p:sp>
        <p:nvSpPr>
          <p:cNvPr id="15" name="dsl:chal3-text"/>
          <p:cNvSpPr txBox="1"/>
          <p:nvPr/>
        </p:nvSpPr>
        <p:spPr>
          <a:xfrm>
            <a:off x="571500" y="2952750"/>
            <a:ext cx="5334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Trace tap 不能增加 CVA6 寄存器堆读端口，不能 backpressure commit stage，不能改变关键路径时序。通过 shadow register 监听 writeback 实现 syscall 参数跟踪。</a:t>
            </a:r>
          </a:p>
        </p:txBody>
      </p:sp>
      <p:sp>
        <p:nvSpPr>
          <p:cNvPr id="16" name="dsl:chal4-title"/>
          <p:cNvSpPr txBox="1"/>
          <p:nvPr/>
        </p:nvSpPr>
        <p:spPr>
          <a:xfrm>
            <a:off x="6286500" y="2667000"/>
            <a:ext cx="5334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FPGA 资源与时序约束</a:t>
            </a:r>
          </a:p>
        </p:txBody>
      </p:sp>
      <p:sp>
        <p:nvSpPr>
          <p:cNvPr id="17" name="dsl:chal4-text"/>
          <p:cNvSpPr txBox="1"/>
          <p:nvPr/>
        </p:nvSpPr>
        <p:spPr>
          <a:xfrm>
            <a:off x="6286500" y="2952750"/>
            <a:ext cx="5334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Genesys2 (Kintex-7 325T) 上 CVA6 已占用大量 LUT/FF/BRAM。Trace logic 必须在时序闭合（Slack &gt; 0）前提下增加最小资源开销。当前 trace-enabled build Slack = 0.177 ns。</a:t>
            </a:r>
          </a:p>
        </p:txBody>
      </p:sp>
      <p:sp>
        <p:nvSpPr>
          <p:cNvPr id="18" name="dsl:chal5-title"/>
          <p:cNvSpPr txBox="1"/>
          <p:nvPr/>
        </p:nvSpPr>
        <p:spPr>
          <a:xfrm>
            <a:off x="571500" y="4000500"/>
            <a:ext cx="5334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Trace 导出与存储瓶颈</a:t>
            </a:r>
          </a:p>
        </p:txBody>
      </p:sp>
      <p:sp>
        <p:nvSpPr>
          <p:cNvPr id="19" name="dsl:chal5-text"/>
          <p:cNvSpPr txBox="1"/>
          <p:nvPr/>
        </p:nvSpPr>
        <p:spPr>
          <a:xfrm>
            <a:off x="571500" y="4286250"/>
            <a:ext cx="5334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BRAM 容量有限，适合 marker window 级别的捕获；UART 带宽低（~921600 baud），需要 aggressive filtering；AXI DMA 集成复杂，尚未完成。当前采用分阶段策略。</a:t>
            </a:r>
          </a:p>
        </p:txBody>
      </p:sp>
      <p:sp>
        <p:nvSpPr>
          <p:cNvPr id="20" name="dsl:chal6-title"/>
          <p:cNvSpPr txBox="1"/>
          <p:nvPr/>
        </p:nvSpPr>
        <p:spPr>
          <a:xfrm>
            <a:off x="6286500" y="4000500"/>
            <a:ext cx="5334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Linux 工作负载验证链</a:t>
            </a:r>
          </a:p>
        </p:txBody>
      </p:sp>
      <p:sp>
        <p:nvSpPr>
          <p:cNvPr id="21" name="dsl:chal6-text"/>
          <p:cNvSpPr txBox="1"/>
          <p:nvPr/>
        </p:nvSpPr>
        <p:spPr>
          <a:xfrm>
            <a:off x="6286500" y="4286250"/>
            <a:ext cx="5334000" cy="857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从 bare-metal 到 Linux 用户态需要完整链条：bootloader → OpenSBI → Linux kernel → 用户态 ELF 加载 → 代码映射 → 运行时映射。每一步都是独立的验证关卡。</a:t>
            </a:r>
          </a:p>
        </p:txBody>
      </p:sp>
      <p:sp>
        <p:nvSpPr>
          <p:cNvPr id="22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3-num-bg"/>
          <p:cNvSpPr txBox="1"/>
          <p:nvPr/>
        </p:nvSpPr>
        <p:spPr>
          <a:xfrm>
            <a:off x="4191000" y="1714500"/>
            <a:ext cx="3810000" cy="1905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0" noProof="1">
                <a:solidFill>
                  <a:srgbClr val="FFFFFF">
                    <a:alpha val="8235"/>
                  </a:srgbClr>
                </a:solidFill>
                <a:latin typeface="QuattrocentoSans"/>
                <a:ea typeface="MiSans"/>
              </a:rPr>
              <a:t>03</a:t>
            </a:r>
          </a:p>
        </p:txBody>
      </p:sp>
      <p:sp>
        <p:nvSpPr>
          <p:cNvPr id="3" name="dsl:ch3-title"/>
          <p:cNvSpPr txBox="1"/>
          <p:nvPr/>
        </p:nvSpPr>
        <p:spPr>
          <a:xfrm>
            <a:off x="2286000" y="266700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4" name="dsl:ch3-accent"/>
          <p:cNvSpPr/>
          <p:nvPr/>
        </p:nvSpPr>
        <p:spPr>
          <a:xfrm>
            <a:off x="5524500" y="3524250"/>
            <a:ext cx="1143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3-subtitle"/>
          <p:cNvSpPr txBox="1"/>
          <p:nvPr/>
        </p:nvSpPr>
        <p:spPr>
          <a:xfrm>
            <a:off x="2286000" y="3810000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RV-MalTrace 系统架构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609600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提出的解决方案：RV-MalTrace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arch-flow-box"/>
          <p:cNvSpPr/>
          <p:nvPr/>
        </p:nvSpPr>
        <p:spPr>
          <a:xfrm>
            <a:off x="571500" y="1333500"/>
            <a:ext cx="11049000" cy="952500"/>
          </a:xfrm>
          <a:prstGeom prst="rect">
            <a:avLst/>
          </a:prstGeom>
          <a:solidFill>
            <a:srgbClr val="EFF1F5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arch-flow-text"/>
          <p:cNvSpPr txBox="1"/>
          <p:nvPr/>
        </p:nvSpPr>
        <p:spPr>
          <a:xfrm>
            <a:off x="762000" y="1381125"/>
            <a:ext cx="10668000" cy="857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b="1" sz="1200" noProof="1">
                <a:solidFill>
                  <a:srgbClr val="1E3A5F"/>
                </a:solidFill>
                <a:latin typeface="QuattrocentoSans"/>
                <a:ea typeface="MiSans"/>
              </a:rPr>
              <a:t>CVA6 RTL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 →  </a:t>
            </a:r>
            <a:r>
              <a:rPr b="1" sz="1200" noProof="1">
                <a:solidFill>
                  <a:srgbClr val="1E3A5F"/>
                </a:solidFill>
                <a:latin typeface="QuattrocentoSans"/>
                <a:ea typeface="MiSans"/>
              </a:rPr>
              <a:t>Trace Tap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 →  </a:t>
            </a:r>
            <a:r>
              <a:rPr b="1" sz="1200" noProof="1">
                <a:solidFill>
                  <a:srgbClr val="1E3A5F"/>
                </a:solidFill>
                <a:latin typeface="QuattrocentoSans"/>
                <a:ea typeface="MiSans"/>
              </a:rPr>
              <a:t>Trace Packet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 →  </a:t>
            </a:r>
            <a:r>
              <a:rPr b="1" sz="1200" noProof="1">
                <a:solidFill>
                  <a:srgbClr val="1E3A5F"/>
                </a:solidFill>
                <a:latin typeface="QuattrocentoSans"/>
                <a:ea typeface="MiSans"/>
              </a:rPr>
              <a:t>Sink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  →  </a:t>
            </a:r>
            <a:r>
              <a:rPr b="1" sz="1200" noProof="1">
                <a:solidFill>
                  <a:srgbClr val="B45309"/>
                </a:solidFill>
                <a:latin typeface="QuattrocentoSans"/>
                <a:ea typeface="MiSans"/>
              </a:rPr>
              <a:t>Behavior Graph</a:t>
            </a:r>
          </a:p>
          <a:p>
            <a:pPr algn="ctr">
              <a:lnSpc>
                <a:spcPct val="15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commit/CSR/trap/wb signals  →  sideband tap  →  JSONL event  →  BRAM/UART  →  semantic reconstruction</a:t>
            </a:r>
          </a:p>
        </p:txBody>
      </p:sp>
      <p:sp>
        <p:nvSpPr>
          <p:cNvPr id="12" name="dsl:sol1-bar"/>
          <p:cNvSpPr/>
          <p:nvPr/>
        </p:nvSpPr>
        <p:spPr>
          <a:xfrm>
            <a:off x="571500" y="2524125"/>
            <a:ext cx="47625" cy="7143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sol1-title"/>
          <p:cNvSpPr txBox="1"/>
          <p:nvPr/>
        </p:nvSpPr>
        <p:spPr>
          <a:xfrm>
            <a:off x="762000" y="2524125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核心设计：RTL 级 Sideband Trace Tap</a:t>
            </a:r>
          </a:p>
        </p:txBody>
      </p:sp>
      <p:sp>
        <p:nvSpPr>
          <p:cNvPr id="14" name="dsl:sol1-text"/>
          <p:cNvSpPr txBox="1"/>
          <p:nvPr/>
        </p:nvSpPr>
        <p:spPr>
          <a:xfrm>
            <a:off x="762000" y="2809875"/>
            <a:ext cx="4762500" cy="809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在 CVA6 中植入轻量级 trace tap，捕获 committed behavior 事件（syscall、branch、trap、CSR、privilege change），不改变 core 状态。</a:t>
            </a:r>
          </a:p>
        </p:txBody>
      </p:sp>
      <p:sp>
        <p:nvSpPr>
          <p:cNvPr id="15" name="dsl:sol2-bar"/>
          <p:cNvSpPr/>
          <p:nvPr/>
        </p:nvSpPr>
        <p:spPr>
          <a:xfrm>
            <a:off x="6286500" y="2524125"/>
            <a:ext cx="47625" cy="7143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sol2-title"/>
          <p:cNvSpPr txBox="1"/>
          <p:nvPr/>
        </p:nvSpPr>
        <p:spPr>
          <a:xfrm>
            <a:off x="6477000" y="2524125"/>
            <a:ext cx="4953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事件驱动：仅记录 Committed 事件</a:t>
            </a:r>
          </a:p>
        </p:txBody>
      </p:sp>
      <p:sp>
        <p:nvSpPr>
          <p:cNvPr id="17" name="dsl:sol2-text"/>
          <p:cNvSpPr txBox="1"/>
          <p:nvPr/>
        </p:nvSpPr>
        <p:spPr>
          <a:xfrm>
            <a:off x="6477000" y="2809875"/>
            <a:ext cx="4953000" cy="666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不记录 speculative、被 flush/kill 的指令、错误路径上的控制流。只记录真正影响 architectural state 的事件。</a:t>
            </a:r>
          </a:p>
        </p:txBody>
      </p:sp>
      <p:sp>
        <p:nvSpPr>
          <p:cNvPr id="18" name="dsl:sol3-bar"/>
          <p:cNvSpPr/>
          <p:nvPr/>
        </p:nvSpPr>
        <p:spPr>
          <a:xfrm>
            <a:off x="571500" y="3667125"/>
            <a:ext cx="47625" cy="7143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sol3-title"/>
          <p:cNvSpPr txBox="1"/>
          <p:nvPr/>
        </p:nvSpPr>
        <p:spPr>
          <a:xfrm>
            <a:off x="762000" y="3667125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语义重建流水线</a:t>
            </a:r>
          </a:p>
        </p:txBody>
      </p:sp>
      <p:sp>
        <p:nvSpPr>
          <p:cNvPr id="20" name="dsl:sol3-text"/>
          <p:cNvSpPr txBox="1"/>
          <p:nvPr/>
        </p:nvSpPr>
        <p:spPr>
          <a:xfrm>
            <a:off x="762000" y="3952875"/>
            <a:ext cx="476250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hardware trace → Python parser → code map (ELF+symbol) → runtime map → behavior graph。每一步标注来源。</a:t>
            </a:r>
          </a:p>
        </p:txBody>
      </p:sp>
      <p:sp>
        <p:nvSpPr>
          <p:cNvPr id="21" name="dsl:sol4-bar"/>
          <p:cNvSpPr/>
          <p:nvPr/>
        </p:nvSpPr>
        <p:spPr>
          <a:xfrm>
            <a:off x="6286500" y="3667125"/>
            <a:ext cx="47625" cy="7143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sol4-title"/>
          <p:cNvSpPr txBox="1"/>
          <p:nvPr/>
        </p:nvSpPr>
        <p:spPr>
          <a:xfrm>
            <a:off x="6477000" y="3667125"/>
            <a:ext cx="4953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明确的证据来源标记</a:t>
            </a:r>
          </a:p>
        </p:txBody>
      </p:sp>
      <p:sp>
        <p:nvSpPr>
          <p:cNvPr id="23" name="dsl:sol4-text"/>
          <p:cNvSpPr txBox="1"/>
          <p:nvPr/>
        </p:nvSpPr>
        <p:spPr>
          <a:xfrm>
            <a:off x="6477000" y="3952875"/>
            <a:ext cx="4953000" cy="523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每个重建字段标注来源：hardware_derived、elf_mapped、runtime_inferred、reference_oracle。避免证据混淆。</a:t>
            </a:r>
          </a:p>
        </p:txBody>
      </p:sp>
      <p:sp>
        <p:nvSpPr>
          <p:cNvPr id="24" name="dsl:bottom-box"/>
          <p:cNvSpPr/>
          <p:nvPr/>
        </p:nvSpPr>
        <p:spPr>
          <a:xfrm>
            <a:off x="571500" y="4762500"/>
            <a:ext cx="11049000" cy="1143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bottom-text"/>
          <p:cNvSpPr txBox="1"/>
          <p:nvPr/>
        </p:nvSpPr>
        <p:spPr>
          <a:xfrm>
            <a:off x="762000" y="4810125"/>
            <a:ext cx="10668000" cy="1047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FFFFF"/>
                </a:solidFill>
                <a:latin typeface="QuattrocentoSans"/>
                <a:ea typeface="MiSans"/>
              </a:rPr>
              <a:t>分阶段验证策略：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Vivado simulation MVP  →  Bare-metal board bring-up  →  Linux workload  →  Controlled malware-like surrogate</a:t>
            </a:r>
          </a:p>
          <a:p>
            <a:pPr algn="l">
              <a:lnSpc>
                <a:spcPct val="150000"/>
              </a:lnSpc>
            </a:pPr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每一阶段都有对应的 artifact checker 和 golden comparison，不跨阶段声称。</a:t>
            </a:r>
          </a:p>
        </p:txBody>
      </p:sp>
      <p:sp>
        <p:nvSpPr>
          <p:cNvPr id="26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609600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应对挑战的方法与策略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dsl:strat-table"/>
          <p:cNvGraphicFramePr>
            <a:graphicFrameLocks noGrp="1"/>
          </p:cNvGraphicFramePr>
          <p:nvPr/>
        </p:nvGraphicFramePr>
        <p:xfrm>
          <a:off x="571500" y="1333500"/>
          <a:ext cx="11049000" cy="4095745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2430780"/>
                <a:gridCol w="4198620"/>
                <a:gridCol w="4419600"/>
              </a:tblGrid>
              <a:tr h="409575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挑战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策略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具体措施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</a:tr>
              <a:tr h="73723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信号定位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基于 RVFI 建立信号映射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signal_map.md 记录每个 commit port 的 valid/pc/instr/trap/cause，RVFI 适配器处理双端口和压缩指令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723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无侵入设计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Shadow register + Drop mode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arg_shadow 监听 writeback 跟踪 a0-a7，不增加 RF 端口；FIFO 溢出时 emit EVT_DROP 并计数，绝不 backpressure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</a:tr>
              <a:tr h="73723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Trace 导出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分阶段导出策略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Phase 1: BRAM ring + ILA/JTAG（证明 packet shape）；Phase 2: UART streaming；Phase 3: AXI DMA（未来）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723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验证矩阵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受控分层验证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bare-metal smoke → branch/jump/ecall/trap/CSR → board 验证 → Linux workload → controlled surrogate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</a:tr>
              <a:tr h="737234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资源/时序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增量对比 + 时序闭合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trace-enabled bitstream vs baseline bitstream 对比 LUT/FF/BRAM 增量；当前 Slack = 0.177 ns，0 routing errors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dsl:bottom-note|s=$body"/>
          <p:cNvSpPr txBox="1"/>
          <p:nvPr/>
        </p:nvSpPr>
        <p:spPr>
          <a:xfrm>
            <a:off x="571500" y="5619750"/>
            <a:ext cx="1104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1A1D23"/>
                </a:solidFill>
                <a:latin typeface="QuattrocentoSans"/>
                <a:ea typeface="MiSans"/>
              </a:rPr>
              <a:t>核心原则：</a:t>
            </a:r>
            <a:r>
              <a:rPr sz="1200" noProof="1">
                <a:solidFill>
                  <a:srgbClr val="1A1D23"/>
                </a:solidFill>
                <a:latin typeface="QuattrocentoSans"/>
                <a:ea typeface="MiSans"/>
              </a:rPr>
              <a:t>每个策略都对应可检查的 artifact 和 gate，不依赖主观判断或不可复现的手动步骤。</a:t>
            </a:r>
          </a:p>
        </p:txBody>
      </p:sp>
      <p:sp>
        <p:nvSpPr>
          <p:cNvPr id="12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ch4-num-bg"/>
          <p:cNvSpPr txBox="1"/>
          <p:nvPr/>
        </p:nvSpPr>
        <p:spPr>
          <a:xfrm>
            <a:off x="4191000" y="1714500"/>
            <a:ext cx="3810000" cy="1905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000" noProof="1">
                <a:solidFill>
                  <a:srgbClr val="FFFFFF">
                    <a:alpha val="8235"/>
                  </a:srgbClr>
                </a:solidFill>
                <a:latin typeface="QuattrocentoSans"/>
                <a:ea typeface="MiSans"/>
              </a:rPr>
              <a:t>04</a:t>
            </a:r>
          </a:p>
        </p:txBody>
      </p:sp>
      <p:sp>
        <p:nvSpPr>
          <p:cNvPr id="3" name="dsl:ch4-title"/>
          <p:cNvSpPr txBox="1"/>
          <p:nvPr/>
        </p:nvSpPr>
        <p:spPr>
          <a:xfrm>
            <a:off x="2286000" y="2667000"/>
            <a:ext cx="7620000" cy="666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3000" noProof="1">
                <a:solidFill>
                  <a:srgbClr val="FFFFFF"/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4" name="dsl:ch4-accent"/>
          <p:cNvSpPr/>
          <p:nvPr/>
        </p:nvSpPr>
        <p:spPr>
          <a:xfrm>
            <a:off x="5524500" y="3524250"/>
            <a:ext cx="1143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h4-subtitle"/>
          <p:cNvSpPr txBox="1"/>
          <p:nvPr/>
        </p:nvSpPr>
        <p:spPr>
          <a:xfrm>
            <a:off x="2286000" y="3810000"/>
            <a:ext cx="762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500" noProof="1">
                <a:solidFill>
                  <a:srgbClr val="FFFFFF">
                    <a:alpha val="73333"/>
                  </a:srgbClr>
                </a:solidFill>
                <a:latin typeface="QuattrocentoSans"/>
                <a:ea typeface="MiSans"/>
              </a:rPr>
              <a:t>架构、背景与证据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914400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必要的技术背景知识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bg1-bar"/>
          <p:cNvSpPr/>
          <p:nvPr/>
        </p:nvSpPr>
        <p:spPr>
          <a:xfrm>
            <a:off x="571500" y="13335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bg1-title"/>
          <p:cNvSpPr txBox="1"/>
          <p:nvPr/>
        </p:nvSpPr>
        <p:spPr>
          <a:xfrm>
            <a:off x="762000" y="1333500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RISC-V 特权架构</a:t>
            </a:r>
          </a:p>
        </p:txBody>
      </p:sp>
      <p:sp>
        <p:nvSpPr>
          <p:cNvPr id="12" name="dsl:bg1-text"/>
          <p:cNvSpPr txBox="1"/>
          <p:nvPr/>
        </p:nvSpPr>
        <p:spPr>
          <a:xfrm>
            <a:off x="762000" y="1619250"/>
            <a:ext cx="4762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U-mode (User) / S-mode (Supervisor) / M-mode (Machine)。ECALL 从 U-mode 陷入 S-mode 的 trap handler，处理完成后通过 SRET 返回 U-mode。</a:t>
            </a:r>
          </a:p>
        </p:txBody>
      </p:sp>
      <p:sp>
        <p:nvSpPr>
          <p:cNvPr id="13" name="dsl:bg2-bar"/>
          <p:cNvSpPr/>
          <p:nvPr/>
        </p:nvSpPr>
        <p:spPr>
          <a:xfrm>
            <a:off x="6286500" y="13335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bg2-title"/>
          <p:cNvSpPr txBox="1"/>
          <p:nvPr/>
        </p:nvSpPr>
        <p:spPr>
          <a:xfrm>
            <a:off x="6477000" y="1333500"/>
            <a:ext cx="4953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CVA6 RVFI 接口</a:t>
            </a:r>
          </a:p>
        </p:txBody>
      </p:sp>
      <p:sp>
        <p:nvSpPr>
          <p:cNvPr id="15" name="dsl:bg2-text"/>
          <p:cNvSpPr txBox="1"/>
          <p:nvPr/>
        </p:nvSpPr>
        <p:spPr>
          <a:xfrm>
            <a:off x="6477000" y="1619250"/>
            <a:ext cx="4953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RISC-V Formal Interface，每周期输出最多 2 个 commit port 的 valid、pc、insn、trap、cause、mode、rd_addr、rd_wdata 等信号，是 trace tap 的数据源。</a:t>
            </a:r>
          </a:p>
        </p:txBody>
      </p:sp>
      <p:sp>
        <p:nvSpPr>
          <p:cNvPr id="16" name="dsl:bg3-bar"/>
          <p:cNvSpPr/>
          <p:nvPr/>
        </p:nvSpPr>
        <p:spPr>
          <a:xfrm>
            <a:off x="571500" y="257175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bg3-title"/>
          <p:cNvSpPr txBox="1"/>
          <p:nvPr/>
        </p:nvSpPr>
        <p:spPr>
          <a:xfrm>
            <a:off x="762000" y="2571750"/>
            <a:ext cx="4762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Syscall ABI</a:t>
            </a:r>
          </a:p>
        </p:txBody>
      </p:sp>
      <p:sp>
        <p:nvSpPr>
          <p:cNvPr id="18" name="dsl:bg3-text"/>
          <p:cNvSpPr txBox="1"/>
          <p:nvPr/>
        </p:nvSpPr>
        <p:spPr>
          <a:xfrm>
            <a:off x="762000" y="2857500"/>
            <a:ext cx="47625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RISC-V Linux 中 a7 为 syscall number，a0-a5 为参数，a0 为返回值。openat/write/execve 等 syscall 携带指针参数，需要额外恢复机制。</a:t>
            </a:r>
          </a:p>
        </p:txBody>
      </p:sp>
      <p:sp>
        <p:nvSpPr>
          <p:cNvPr id="19" name="dsl:bg4-bar"/>
          <p:cNvSpPr/>
          <p:nvPr/>
        </p:nvSpPr>
        <p:spPr>
          <a:xfrm>
            <a:off x="6286500" y="257175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bg4-title"/>
          <p:cNvSpPr txBox="1"/>
          <p:nvPr/>
        </p:nvSpPr>
        <p:spPr>
          <a:xfrm>
            <a:off x="6477000" y="2571750"/>
            <a:ext cx="4953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硬件 vs 软件 Tracing</a:t>
            </a:r>
          </a:p>
        </p:txBody>
      </p:sp>
      <p:sp>
        <p:nvSpPr>
          <p:cNvPr id="21" name="dsl:bg4-text"/>
          <p:cNvSpPr txBox="1"/>
          <p:nvPr/>
        </p:nvSpPr>
        <p:spPr>
          <a:xfrm>
            <a:off x="6477000" y="2857500"/>
            <a:ext cx="4953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软件 tracer 通过 ptrace/eBPF/动态插桩获取信息，可被检测；硬件 tracer 通过 sideband 观察 committed state，目标不可感知，提供独立证据源。</a:t>
            </a:r>
          </a:p>
        </p:txBody>
      </p:sp>
      <p:sp>
        <p:nvSpPr>
          <p:cNvPr id="22" name="dsl:bg5-bar"/>
          <p:cNvSpPr/>
          <p:nvPr/>
        </p:nvSpPr>
        <p:spPr>
          <a:xfrm>
            <a:off x="571500" y="38100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bg5-title"/>
          <p:cNvSpPr txBox="1"/>
          <p:nvPr/>
        </p:nvSpPr>
        <p:spPr>
          <a:xfrm>
            <a:off x="762000" y="3810000"/>
            <a:ext cx="10668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行为图模型（Behavior Graph）</a:t>
            </a:r>
          </a:p>
        </p:txBody>
      </p:sp>
      <p:sp>
        <p:nvSpPr>
          <p:cNvPr id="24" name="dsl:bg5-text"/>
          <p:cNvSpPr txBox="1"/>
          <p:nvPr/>
        </p:nvSpPr>
        <p:spPr>
          <a:xfrm>
            <a:off x="762000" y="4095750"/>
            <a:ext cx="10668000" cy="76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节点为 process / file / socket / memory region，边为 syscall 关系（open/read/write/exec/clone 等）。用于 malware behavior audit 和规则匹配，而非简单的"检测/未检测"二元判断。</a:t>
            </a:r>
          </a:p>
        </p:txBody>
      </p:sp>
      <p:sp>
        <p:nvSpPr>
          <p:cNvPr id="25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914400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具体方案细节 — 硬件架构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left-block"/>
          <p:cNvSpPr/>
          <p:nvPr/>
        </p:nvSpPr>
        <p:spPr>
          <a:xfrm>
            <a:off x="571500" y="1333500"/>
            <a:ext cx="342900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left-title"/>
          <p:cNvSpPr txBox="1"/>
          <p:nvPr/>
        </p:nvSpPr>
        <p:spPr>
          <a:xfrm>
            <a:off x="762000" y="1428750"/>
            <a:ext cx="3048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事件类型（13 种）</a:t>
            </a:r>
          </a:p>
        </p:txBody>
      </p:sp>
      <p:sp>
        <p:nvSpPr>
          <p:cNvPr id="12" name="dsl:left-body"/>
          <p:cNvSpPr txBox="1"/>
          <p:nvPr/>
        </p:nvSpPr>
        <p:spPr>
          <a:xfrm>
            <a:off x="762000" y="1762125"/>
            <a:ext cx="3048000" cy="3095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EVT_RETIRE / BRANCH / JUMP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EVT_SYSCALL_ENTRY / RET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EVT_TRAP / CSR / SATP / PRIV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EVT_ARG_MEM（指针快照）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EVT_DROP / MARKER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统一结构体 trace_packet_t，包含 cycle, pc, instr, target, taken, priv, satp, csr, value, cause, tval, syscall_id, duration, a0-a7, arg_index, mem_addr, mem_data, mem_size, mem_last</a:t>
            </a:r>
          </a:p>
        </p:txBody>
      </p:sp>
      <p:sp>
        <p:nvSpPr>
          <p:cNvPr id="13" name="dsl:mid-block"/>
          <p:cNvSpPr/>
          <p:nvPr/>
        </p:nvSpPr>
        <p:spPr>
          <a:xfrm>
            <a:off x="4191000" y="1333500"/>
            <a:ext cx="361950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mid-title"/>
          <p:cNvSpPr txBox="1"/>
          <p:nvPr/>
        </p:nvSpPr>
        <p:spPr>
          <a:xfrm>
            <a:off x="4381500" y="1428750"/>
            <a:ext cx="3238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Tap 模块与仲裁</a:t>
            </a:r>
          </a:p>
        </p:txBody>
      </p:sp>
      <p:sp>
        <p:nvSpPr>
          <p:cNvPr id="15" name="dsl:mid-body"/>
          <p:cNvSpPr txBox="1"/>
          <p:nvPr/>
        </p:nvSpPr>
        <p:spPr>
          <a:xfrm>
            <a:off x="4381500" y="1762125"/>
            <a:ext cx="3238500" cy="3095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retire_tap：commit_valid &amp;&amp; !exception &amp;&amp; !kill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branch_tap：decode opcode + next_pc 推导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syscall_tap：U-mode ECALL + SRET-to-U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trap_tap：trap_valid + cause + tval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context_tap：privilege change + CSR write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arg_mem_tap：syscall pointer snapshot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仲裁优先级：TRAP &gt; SYSCALL &gt; ARG_MEM &gt; CONTEXT &gt; BRANCH &gt; RETIRE</a:t>
            </a:r>
          </a:p>
        </p:txBody>
      </p:sp>
      <p:sp>
        <p:nvSpPr>
          <p:cNvPr id="16" name="dsl:right-block"/>
          <p:cNvSpPr/>
          <p:nvPr/>
        </p:nvSpPr>
        <p:spPr>
          <a:xfrm>
            <a:off x="8001000" y="1333500"/>
            <a:ext cx="3619500" cy="3619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right-title"/>
          <p:cNvSpPr txBox="1"/>
          <p:nvPr/>
        </p:nvSpPr>
        <p:spPr>
          <a:xfrm>
            <a:off x="8191500" y="1428750"/>
            <a:ext cx="3238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Filter 与 Queue</a:t>
            </a:r>
          </a:p>
        </p:txBody>
      </p:sp>
      <p:sp>
        <p:nvSpPr>
          <p:cNvPr id="18" name="dsl:right-body"/>
          <p:cNvSpPr txBox="1"/>
          <p:nvPr/>
        </p:nvSpPr>
        <p:spPr>
          <a:xfrm>
            <a:off x="8191500" y="1762125"/>
            <a:ext cx="3238500" cy="30956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trace_filter.sv：enable/disable 各事件类型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PC range filter：trace_pc_start ~ trace_pc_end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Privilege mask filter：priv_mask 控制特权级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EVENT_QUEUE_DEPTH = 8，pending FIFO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 Queue 满时 emit EVT_DROP，计数但不丢数据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PIPELINE_INPUTS 参数控制输入打拍，平衡时序与延迟</a:t>
            </a:r>
          </a:p>
        </p:txBody>
      </p:sp>
      <p:sp>
        <p:nvSpPr>
          <p:cNvPr id="19" name="dsl:bottom-code"/>
          <p:cNvSpPr/>
          <p:nvPr/>
        </p:nvSpPr>
        <p:spPr>
          <a:xfrm>
            <a:off x="571500" y="5143500"/>
            <a:ext cx="11049000" cy="952500"/>
          </a:xfrm>
          <a:prstGeom prst="rect">
            <a:avLst/>
          </a:prstGeom>
          <a:solidFill>
            <a:srgbClr val="EFF1F5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bottom-code-text"/>
          <p:cNvSpPr txBox="1"/>
          <p:nvPr/>
        </p:nvSpPr>
        <p:spPr>
          <a:xfrm>
            <a:off x="762000" y="5191125"/>
            <a:ext cx="10668000" cy="857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1A1D23"/>
                </a:solidFill>
                <a:latin typeface="QuattrocentoSans"/>
                <a:ea typeface="MiSans"/>
              </a:rPr>
              <a:t>trace_top.sv 核心逻辑：</a:t>
            </a: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always_comb 仲裁 6 个 source_valid，若 drop_count_q 非零则先 emit DROP；否则若 pending queue 非空则出队；否则扫描 source 输出最高优先级事件。同周期未选中事件入 pending queue。</a:t>
            </a:r>
          </a:p>
        </p:txBody>
      </p:sp>
      <p:sp>
        <p:nvSpPr>
          <p:cNvPr id="21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914400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具体方案细节 — 语义重建流水线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stage1-box"/>
          <p:cNvSpPr/>
          <p:nvPr/>
        </p:nvSpPr>
        <p:spPr>
          <a:xfrm>
            <a:off x="571500" y="1333500"/>
            <a:ext cx="2095500" cy="1905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tage1-text"/>
          <p:cNvSpPr txBox="1"/>
          <p:nvPr/>
        </p:nvSpPr>
        <p:spPr>
          <a:xfrm>
            <a:off x="666750" y="1428750"/>
            <a:ext cx="1905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Stage 1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硬件解析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trace.jsonl → 按事件分类，提取 cycle, pc, instr, syscall_id, a0-a7, cause</a:t>
            </a:r>
          </a:p>
        </p:txBody>
      </p:sp>
      <p:cxnSp>
        <p:nvCxnSpPr>
          <p:cNvPr id="12" name="dsl:arrow1"/>
          <p:cNvCxnSpPr/>
          <p:nvPr/>
        </p:nvCxnSpPr>
        <p:spPr>
          <a:xfrm>
            <a:off x="2667000" y="2190750"/>
            <a:ext cx="381000" cy="0"/>
          </a:xfrm>
          <a:prstGeom prst="straightConnector1">
            <a:avLst/>
          </a:prstGeom>
          <a:ln w="25400">
            <a:solidFill>
              <a:srgbClr val="5B6B82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stage2-box"/>
          <p:cNvSpPr/>
          <p:nvPr/>
        </p:nvSpPr>
        <p:spPr>
          <a:xfrm>
            <a:off x="3048000" y="1333500"/>
            <a:ext cx="2095500" cy="1905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stage2-text"/>
          <p:cNvSpPr txBox="1"/>
          <p:nvPr/>
        </p:nvSpPr>
        <p:spPr>
          <a:xfrm>
            <a:off x="3143250" y="1428750"/>
            <a:ext cx="1905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Stage 2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代码归因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join ELF .symtab + .debug_line + 反汇编，pc → 函数名/源文件行；PIE/ASLR 基址重定位</a:t>
            </a:r>
          </a:p>
        </p:txBody>
      </p:sp>
      <p:cxnSp>
        <p:nvCxnSpPr>
          <p:cNvPr id="15" name="dsl:arrow2"/>
          <p:cNvCxnSpPr/>
          <p:nvPr/>
        </p:nvCxnSpPr>
        <p:spPr>
          <a:xfrm>
            <a:off x="5143500" y="2190750"/>
            <a:ext cx="381000" cy="0"/>
          </a:xfrm>
          <a:prstGeom prst="straightConnector1">
            <a:avLst/>
          </a:prstGeom>
          <a:ln w="25400">
            <a:solidFill>
              <a:srgbClr val="5B6B82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stage3-box"/>
          <p:cNvSpPr/>
          <p:nvPr/>
        </p:nvSpPr>
        <p:spPr>
          <a:xfrm>
            <a:off x="5524500" y="1333500"/>
            <a:ext cx="2095500" cy="1905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stage3-text"/>
          <p:cNvSpPr txBox="1"/>
          <p:nvPr/>
        </p:nvSpPr>
        <p:spPr>
          <a:xfrm>
            <a:off x="5619750" y="1428750"/>
            <a:ext cx="19050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Stage 3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运行时映射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识别进程边界（fork/exec/clone）、fd-to-path 关系、内存映射；构建 fd graph 和 process tree</a:t>
            </a:r>
          </a:p>
        </p:txBody>
      </p:sp>
      <p:cxnSp>
        <p:nvCxnSpPr>
          <p:cNvPr id="18" name="dsl:arrow3"/>
          <p:cNvCxnSpPr/>
          <p:nvPr/>
        </p:nvCxnSpPr>
        <p:spPr>
          <a:xfrm>
            <a:off x="7620000" y="2190750"/>
            <a:ext cx="381000" cy="0"/>
          </a:xfrm>
          <a:prstGeom prst="straightConnector1">
            <a:avLst/>
          </a:prstGeom>
          <a:ln w="25400">
            <a:solidFill>
              <a:srgbClr val="5B6B82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sl:stage4-box"/>
          <p:cNvSpPr/>
          <p:nvPr/>
        </p:nvSpPr>
        <p:spPr>
          <a:xfrm>
            <a:off x="8001000" y="1333500"/>
            <a:ext cx="2095500" cy="20002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tage4-text"/>
          <p:cNvSpPr txBox="1"/>
          <p:nvPr/>
        </p:nvSpPr>
        <p:spPr>
          <a:xfrm>
            <a:off x="8096250" y="1428750"/>
            <a:ext cx="190500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Stage 4</a:t>
            </a:r>
          </a:p>
          <a:p>
            <a:pPr algn="l">
              <a:lnSpc>
                <a:spcPct val="15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行为重建</a:t>
            </a: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syscall 序列 → 行为规则匹配（anti_debug、file_scan 等）→ behavior_graph.json</a:t>
            </a:r>
          </a:p>
        </p:txBody>
      </p:sp>
      <p:sp>
        <p:nvSpPr>
          <p:cNvPr id="21" name="dsl:stage5-box"/>
          <p:cNvSpPr/>
          <p:nvPr/>
        </p:nvSpPr>
        <p:spPr>
          <a:xfrm>
            <a:off x="571500" y="3524250"/>
            <a:ext cx="11049000" cy="762000"/>
          </a:xfrm>
          <a:prstGeom prst="rect">
            <a:avLst/>
          </a:prstGeom>
          <a:solidFill>
            <a:srgbClr val="EFF1F5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stage5-text"/>
          <p:cNvSpPr txBox="1"/>
          <p:nvPr/>
        </p:nvSpPr>
        <p:spPr>
          <a:xfrm>
            <a:off x="762000" y="3571875"/>
            <a:ext cx="10668000" cy="6667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125" noProof="1">
                <a:solidFill>
                  <a:srgbClr val="1A1D23"/>
                </a:solidFill>
                <a:latin typeface="QuattrocentoSans"/>
                <a:ea typeface="MiSans"/>
              </a:rPr>
              <a:t>Stage 5 证据标记：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每个输出字段标注来源 — </a:t>
            </a:r>
            <a:r>
              <a:rPr sz="1125" noProof="1">
                <a:solidFill>
                  <a:srgbClr val="1E3A5F"/>
                </a:solidFill>
                <a:latin typeface="QuattrocentoSans"/>
                <a:ea typeface="MiSans"/>
              </a:rPr>
              <a:t>hardware_derived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（来自 trace）、</a:t>
            </a:r>
            <a:r>
              <a:rPr sz="1125" noProof="1">
                <a:solidFill>
                  <a:srgbClr val="1E3A5F"/>
                </a:solidFill>
                <a:latin typeface="QuattrocentoSans"/>
                <a:ea typeface="MiSans"/>
              </a:rPr>
              <a:t>elf_mapped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（来自 ELF）、</a:t>
            </a:r>
            <a:r>
              <a:rPr sz="1125" noProof="1">
                <a:solidFill>
                  <a:srgbClr val="1E3A5F"/>
                </a:solidFill>
                <a:latin typeface="QuattrocentoSans"/>
                <a:ea typeface="MiSans"/>
              </a:rPr>
              <a:t>runtime_inferred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（来自运行时映射）、</a:t>
            </a:r>
            <a:r>
              <a:rPr sz="1125" noProof="1">
                <a:solidFill>
                  <a:srgbClr val="5B6B82"/>
                </a:solidFill>
                <a:latin typeface="QuattrocentoSans"/>
                <a:ea typeface="MiSans"/>
              </a:rPr>
              <a:t>reference_oracle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（仅用于对比）</a:t>
            </a:r>
          </a:p>
        </p:txBody>
      </p:sp>
      <p:sp>
        <p:nvSpPr>
          <p:cNvPr id="23" name="dsl:output-title"/>
          <p:cNvSpPr txBox="1"/>
          <p:nvPr/>
        </p:nvSpPr>
        <p:spPr>
          <a:xfrm>
            <a:off x="571500" y="4476750"/>
            <a:ext cx="2857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输出产物</a:t>
            </a:r>
          </a:p>
        </p:txBody>
      </p:sp>
      <p:sp>
        <p:nvSpPr>
          <p:cNvPr id="24" name="dsl:output-body"/>
          <p:cNvSpPr txBox="1"/>
          <p:nvPr/>
        </p:nvSpPr>
        <p:spPr>
          <a:xfrm>
            <a:off x="571500" y="4762500"/>
            <a:ext cx="11049000" cy="1428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semantic_events.json — 结构化语义事件序列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behavior_graph.json — 进程/文件/内存关系图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recovery_report.md — 人工可读的恢复报告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timeline.html / graph.html — 可视化时间线和关系图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scorecard.md — 行为匹配评分卡（明确标注非检测器准确率）</a:t>
            </a:r>
          </a:p>
        </p:txBody>
      </p:sp>
      <p:sp>
        <p:nvSpPr>
          <p:cNvPr id="25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914400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评估框架与证据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dsl:rq-table"/>
          <p:cNvGraphicFramePr>
            <a:graphicFrameLocks noGrp="1"/>
          </p:cNvGraphicFramePr>
          <p:nvPr/>
        </p:nvGraphicFramePr>
        <p:xfrm>
          <a:off x="571500" y="1333500"/>
          <a:ext cx="6667500" cy="2666995"/>
        </p:xfrm>
        <a:graphic>
          <a:graphicData uri="http://schemas.openxmlformats.org/drawingml/2006/table">
            <a:tbl>
              <a:tblPr firstRow="0" bandRow="0" lastRow="0" firstCol="0" lastCol="0" bandCol="0">
                <a:tableStyleId>{2D5ABB26-0587-4C30-8999-92F81FD0307C}</a:tableStyleId>
              </a:tblPr>
              <a:tblGrid>
                <a:gridCol w="800100"/>
                <a:gridCol w="1866900"/>
                <a:gridCol w="4000500"/>
              </a:tblGrid>
              <a:tr h="320040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RQ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研究问题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b="1" sz="1200" noProof="1">
                          <a:solidFill>
                            <a:srgbClr val="FFFFFF"/>
                          </a:solidFill>
                          <a:latin typeface="QuattrocentoSans"/>
                          <a:ea typeface="MiSans"/>
                        </a:rPr>
                        <a:t>当前状态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1E3A5F"/>
                    </a:solidFill>
                  </a:tcPr>
                </a:tc>
              </a:tr>
              <a:tr h="46939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RQ1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正确性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Simulation PASS, 20 tests golden match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939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RQ2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语义重建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Bounded semantics PASS, pointer prefix accepted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</a:tr>
              <a:tr h="46939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RQ3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低扰动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UART smoke only, cycle overhead open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939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RQ4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抗绕过性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Controlled safe surrogate PASS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EFF1F5"/>
                    </a:solidFill>
                  </a:tcPr>
                </a:tc>
              </a:tr>
              <a:tr h="469391"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RQ5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硬件开销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>
                      <a:no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A1D23"/>
                          </a:solidFill>
                          <a:latin typeface="QuattrocentoSans"/>
                          <a:ea typeface="MiSans"/>
                        </a:rPr>
                        <a:t>BRAM cost PASS, streaming DMA open</a:t>
                      </a: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E5EA"/>
                      </a:solidFill>
                      <a:prstDash val="solid"/>
                    </a:lnL>
                    <a:lnR w="12700" cap="flat" cmpd="sng" algn="ctr">
                      <a:solidFill>
                        <a:srgbClr val="E2E5EA"/>
                      </a:solidFill>
                      <a:prstDash val="solid"/>
                    </a:lnR>
                    <a:lnT w="12700" cap="flat" cmpd="sng" algn="ctr">
                      <a:solidFill>
                        <a:srgbClr val="E2E5EA"/>
                      </a:solidFill>
                      <a:prstDash val="solid"/>
                    </a:lnT>
                    <a:lnB w="12700" cap="flat" cmpd="sng" algn="ctr">
                      <a:solidFill>
                        <a:srgbClr val="E2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dsl:metric-box"/>
          <p:cNvSpPr/>
          <p:nvPr/>
        </p:nvSpPr>
        <p:spPr>
          <a:xfrm>
            <a:off x="571500" y="4191000"/>
            <a:ext cx="6667500" cy="1333500"/>
          </a:xfrm>
          <a:prstGeom prst="rect">
            <a:avLst/>
          </a:prstGeom>
          <a:solidFill>
            <a:srgbClr val="EFF1F5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metric-title"/>
          <p:cNvSpPr txBox="1"/>
          <p:nvPr/>
        </p:nvSpPr>
        <p:spPr>
          <a:xfrm>
            <a:off x="762000" y="4238625"/>
            <a:ext cx="62865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E3A5F"/>
                </a:solidFill>
                <a:latin typeface="QuattrocentoSans"/>
                <a:ea typeface="MiSans"/>
              </a:rPr>
              <a:t>关键指标</a:t>
            </a:r>
          </a:p>
        </p:txBody>
      </p:sp>
      <p:sp>
        <p:nvSpPr>
          <p:cNvPr id="13" name="dsl:metric-body"/>
          <p:cNvSpPr txBox="1"/>
          <p:nvPr/>
        </p:nvSpPr>
        <p:spPr>
          <a:xfrm>
            <a:off x="762000" y="4524375"/>
            <a:ext cx="6286500" cy="904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syscall precision/recall | argument accuracy | path accuracy | fd graph accuracy</a:t>
            </a:r>
          </a:p>
          <a:p>
            <a:pPr algn="l">
              <a:lnSpc>
                <a:spcPct val="150000"/>
              </a:lnSpc>
            </a:pPr>
            <a:r>
              <a:rPr sz="1050" noProof="1">
                <a:solidFill>
                  <a:srgbClr val="1A1D23"/>
                </a:solidFill>
                <a:latin typeface="QuattrocentoSans"/>
                <a:ea typeface="MiSans"/>
              </a:rPr>
              <a:t>runtime overhead | trace drop rate | LUT/FF/BRAM/Fmax</a:t>
            </a:r>
          </a:p>
        </p:txBody>
      </p:sp>
      <p:sp>
        <p:nvSpPr>
          <p:cNvPr id="14" name="dsl:right-evidence"/>
          <p:cNvSpPr/>
          <p:nvPr/>
        </p:nvSpPr>
        <p:spPr>
          <a:xfrm>
            <a:off x="7429500" y="1333500"/>
            <a:ext cx="4191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right-title"/>
          <p:cNvSpPr txBox="1"/>
          <p:nvPr/>
        </p:nvSpPr>
        <p:spPr>
          <a:xfrm>
            <a:off x="7620000" y="142875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350" noProof="1">
                <a:solidFill>
                  <a:srgbClr val="1E3A5F"/>
                </a:solidFill>
                <a:latin typeface="QuattrocentoSans"/>
                <a:ea typeface="MiSans"/>
              </a:rPr>
              <a:t>当前核心证据</a:t>
            </a:r>
          </a:p>
        </p:txBody>
      </p:sp>
      <p:sp>
        <p:nvSpPr>
          <p:cNvPr id="16" name="dsl:right-body"/>
          <p:cNvSpPr txBox="1"/>
          <p:nvPr/>
        </p:nvSpPr>
        <p:spPr>
          <a:xfrm>
            <a:off x="7620000" y="1809750"/>
            <a:ext cx="3810000" cy="357187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Simulation: 20 expected tests PASS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Board baseline: clock/UART/bare-metal PASS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Board trace: 122 accepted windows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0 drops / 0 wraps / 0 gaps in accepted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4 failed attempts retained and audited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Slack = 0.177 ns, 0 routing errors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Semantic reconstruction: bounded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Safe surrogate behavior audit: 1.0/0.0</a:t>
            </a: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975" noProof="1">
                <a:solidFill>
                  <a:srgbClr val="5B6B82"/>
                </a:solidFill>
                <a:latin typeface="QuattrocentoSans"/>
                <a:ea typeface="MiSans"/>
              </a:rPr>
              <a:t>注：1.0/0.0 是 reconstruction 指标，不是检测器准确率</a:t>
            </a:r>
          </a:p>
        </p:txBody>
      </p:sp>
      <p:sp>
        <p:nvSpPr>
          <p:cNvPr id="17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active"/>
          <p:cNvSpPr/>
          <p:nvPr/>
        </p:nvSpPr>
        <p:spPr>
          <a:xfrm>
            <a:off x="9144000" y="438150"/>
            <a:ext cx="30480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nav-text1|s=$nav"/>
          <p:cNvSpPr txBox="1"/>
          <p:nvPr/>
        </p:nvSpPr>
        <p:spPr>
          <a:xfrm>
            <a:off x="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研究背景与问题</a:t>
            </a:r>
          </a:p>
        </p:txBody>
      </p:sp>
      <p:sp>
        <p:nvSpPr>
          <p:cNvPr id="5" name="dsl:nav-text2|s=$nav"/>
          <p:cNvSpPr txBox="1"/>
          <p:nvPr/>
        </p:nvSpPr>
        <p:spPr>
          <a:xfrm>
            <a:off x="3048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难点与挑战</a:t>
            </a:r>
          </a:p>
        </p:txBody>
      </p:sp>
      <p:sp>
        <p:nvSpPr>
          <p:cNvPr id="6" name="dsl:nav-text3|s=$nav"/>
          <p:cNvSpPr txBox="1"/>
          <p:nvPr/>
        </p:nvSpPr>
        <p:spPr>
          <a:xfrm>
            <a:off x="6096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050" noProof="1">
                <a:solidFill>
                  <a:srgbClr val="FFFFFF">
                    <a:alpha val="66666"/>
                  </a:srgbClr>
                </a:solidFill>
                <a:latin typeface="QuattrocentoSans"/>
                <a:ea typeface="MiSans"/>
              </a:rPr>
              <a:t>解决方案</a:t>
            </a:r>
          </a:p>
        </p:txBody>
      </p:sp>
      <p:sp>
        <p:nvSpPr>
          <p:cNvPr id="7" name="dsl:nav-text4|s=$nav"/>
          <p:cNvSpPr txBox="1"/>
          <p:nvPr/>
        </p:nvSpPr>
        <p:spPr>
          <a:xfrm>
            <a:off x="9144000" y="0"/>
            <a:ext cx="3048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b="1" sz="1050" noProof="1">
                <a:solidFill>
                  <a:srgbClr val="FFFFFF"/>
                </a:solidFill>
                <a:latin typeface="QuattrocentoSans"/>
                <a:ea typeface="MiSans"/>
              </a:rPr>
              <a:t>技术细节与评估</a:t>
            </a:r>
          </a:p>
        </p:txBody>
      </p:sp>
      <p:sp>
        <p:nvSpPr>
          <p:cNvPr id="8" name="dsl:page-title|s=$heading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b="1" sz="2100" noProof="1">
                <a:solidFill>
                  <a:srgbClr val="1E3A5F"/>
                </a:solidFill>
                <a:latin typeface="QuattrocentoSans"/>
                <a:ea typeface="MiSans"/>
              </a:rPr>
              <a:t>当前进展与边界</a:t>
            </a:r>
          </a:p>
        </p:txBody>
      </p:sp>
      <p:sp>
        <p:nvSpPr>
          <p:cNvPr id="9" name="dsl:title-accent"/>
          <p:cNvSpPr/>
          <p:nvPr/>
        </p:nvSpPr>
        <p:spPr>
          <a:xfrm>
            <a:off x="571500" y="1095375"/>
            <a:ext cx="762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done-card"/>
          <p:cNvSpPr/>
          <p:nvPr/>
        </p:nvSpPr>
        <p:spPr>
          <a:xfrm>
            <a:off x="571500" y="1333500"/>
            <a:ext cx="5334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done-title"/>
          <p:cNvSpPr txBox="1"/>
          <p:nvPr/>
        </p:nvSpPr>
        <p:spPr>
          <a:xfrm>
            <a:off x="762000" y="142875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1E3A5F"/>
                </a:solidFill>
                <a:latin typeface="QuattrocentoSans"/>
                <a:ea typeface="MiSans"/>
              </a:rPr>
              <a:t>已完成</a:t>
            </a:r>
          </a:p>
        </p:txBody>
      </p:sp>
      <p:sp>
        <p:nvSpPr>
          <p:cNvPr id="12" name="dsl:done-line"/>
          <p:cNvSpPr/>
          <p:nvPr/>
        </p:nvSpPr>
        <p:spPr>
          <a:xfrm>
            <a:off x="762000" y="1762125"/>
            <a:ext cx="495300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done-body"/>
          <p:cNvSpPr txBox="1"/>
          <p:nvPr/>
        </p:nvSpPr>
        <p:spPr>
          <a:xfrm>
            <a:off x="762000" y="1857375"/>
            <a:ext cx="4953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CVA6 Vivado simulation MVP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trace_pkg / trace_top / tap 实现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Genesys2 board baseline bring-up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First-board trace validation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Behavior demo 语义重建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●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Controlled safe surrogate 评估</a:t>
            </a:r>
          </a:p>
        </p:txBody>
      </p:sp>
      <p:sp>
        <p:nvSpPr>
          <p:cNvPr id="14" name="dsl:boundary-card"/>
          <p:cNvSpPr/>
          <p:nvPr/>
        </p:nvSpPr>
        <p:spPr>
          <a:xfrm>
            <a:off x="6286500" y="1333500"/>
            <a:ext cx="5334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boundary-title"/>
          <p:cNvSpPr txBox="1"/>
          <p:nvPr/>
        </p:nvSpPr>
        <p:spPr>
          <a:xfrm>
            <a:off x="6477000" y="1428750"/>
            <a:ext cx="4953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B45309"/>
                </a:solidFill>
                <a:latin typeface="QuattrocentoSans"/>
                <a:ea typeface="MiSans"/>
              </a:rPr>
              <a:t>明确边界（非声称）</a:t>
            </a:r>
          </a:p>
        </p:txBody>
      </p:sp>
      <p:sp>
        <p:nvSpPr>
          <p:cNvPr id="16" name="dsl:boundary-line"/>
          <p:cNvSpPr/>
          <p:nvPr/>
        </p:nvSpPr>
        <p:spPr>
          <a:xfrm>
            <a:off x="6477000" y="1762125"/>
            <a:ext cx="4953000" cy="9525"/>
          </a:xfrm>
          <a:prstGeom prst="rect">
            <a:avLst/>
          </a:prstGeom>
          <a:solidFill>
            <a:srgbClr val="E2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boundary-body"/>
          <p:cNvSpPr txBox="1"/>
          <p:nvPr/>
        </p:nvSpPr>
        <p:spPr>
          <a:xfrm>
            <a:off x="6477000" y="1857375"/>
            <a:ext cx="4953000" cy="2000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✗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真实 malware detection accuracy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✗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Production streaming/DMA throughput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✗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完整硬件指针字符串（bounded only）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✗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Cycle-level overhead（smoke only）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✗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Board-native DWARF source lines</a:t>
            </a:r>
          </a:p>
        </p:txBody>
      </p:sp>
      <p:sp>
        <p:nvSpPr>
          <p:cNvPr id="18" name="dsl:todo-box"/>
          <p:cNvSpPr/>
          <p:nvPr/>
        </p:nvSpPr>
        <p:spPr>
          <a:xfrm>
            <a:off x="571500" y="4191000"/>
            <a:ext cx="11049000" cy="1524000"/>
          </a:xfrm>
          <a:prstGeom prst="rect">
            <a:avLst/>
          </a:prstGeom>
          <a:solidFill>
            <a:srgbClr val="EFF1F5"/>
          </a:solidFill>
          <a:ln w="12700">
            <a:solidFill>
              <a:srgbClr val="E2E5E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todo-title"/>
          <p:cNvSpPr txBox="1"/>
          <p:nvPr/>
        </p:nvSpPr>
        <p:spPr>
          <a:xfrm>
            <a:off x="762000" y="4286250"/>
            <a:ext cx="10668000" cy="2476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200" noProof="1">
                <a:solidFill>
                  <a:srgbClr val="1E3A5F"/>
                </a:solidFill>
                <a:latin typeface="QuattrocentoSans"/>
                <a:ea typeface="MiSans"/>
              </a:rPr>
              <a:t>待关闭的外部项（External Closure）</a:t>
            </a:r>
          </a:p>
        </p:txBody>
      </p:sp>
      <p:sp>
        <p:nvSpPr>
          <p:cNvPr id="20" name="dsl:todo-body"/>
          <p:cNvSpPr txBox="1"/>
          <p:nvPr/>
        </p:nvSpPr>
        <p:spPr>
          <a:xfrm>
            <a:off x="762000" y="4572000"/>
            <a:ext cx="106680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1.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board_native_dwarf_source_lines — 需要 board 上重新编译带 .debug_line 的 ELF 并跑 trace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2.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full_hardware_pointer_strings — 需要 CVA6 LSU/user-copy hook 支持连续指针组边界和 mem_last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3.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production_streaming_dma_trace_sink — 需要 AXI DMA 或 Ethernet 集成和带宽验证</a:t>
            </a: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B45309"/>
                </a:solidFill>
                <a:latin typeface="QuattrocentoSans"/>
                <a:ea typeface="MiSans"/>
              </a:rPr>
              <a:t>4.</a:t>
            </a:r>
            <a:r>
              <a:rPr sz="1125" noProof="1">
                <a:solidFill>
                  <a:srgbClr val="1A1D23"/>
                </a:solidFill>
                <a:latin typeface="QuattrocentoSans"/>
                <a:ea typeface="MiSans"/>
              </a:rPr>
              <a:t> genesys2_board_benign_control — 需要 board 上跑 benign Linux workload 并对比 strace</a:t>
            </a:r>
          </a:p>
        </p:txBody>
      </p:sp>
      <p:sp>
        <p:nvSpPr>
          <p:cNvPr id="21" name="dsl:page-num|s=$caption"/>
          <p:cNvSpPr txBox="1"/>
          <p:nvPr/>
        </p:nvSpPr>
        <p:spPr>
          <a:xfrm>
            <a:off x="11239500" y="6572250"/>
            <a:ext cx="571500" cy="190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B6B82"/>
                </a:solidFill>
                <a:latin typeface="QuattrocentoSans"/>
                <a:ea typeface="Mi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final-title"/>
          <p:cNvSpPr txBox="1"/>
          <p:nvPr/>
        </p:nvSpPr>
        <p:spPr>
          <a:xfrm>
            <a:off x="1333500" y="1143000"/>
            <a:ext cx="9525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2700" noProof="1">
                <a:solidFill>
                  <a:srgbClr val="FFFFFF"/>
                </a:solidFill>
                <a:latin typeface="QuattrocentoSans"/>
                <a:ea typeface="MiSans"/>
              </a:rPr>
              <a:t>总结与讨论</a:t>
            </a:r>
          </a:p>
        </p:txBody>
      </p:sp>
      <p:sp>
        <p:nvSpPr>
          <p:cNvPr id="3" name="dsl:final-accent"/>
          <p:cNvSpPr/>
          <p:nvPr/>
        </p:nvSpPr>
        <p:spPr>
          <a:xfrm>
            <a:off x="5524500" y="1857375"/>
            <a:ext cx="1143000" cy="28575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conclusion-box"/>
          <p:cNvSpPr/>
          <p:nvPr/>
        </p:nvSpPr>
        <p:spPr>
          <a:xfrm>
            <a:off x="1143000" y="2095500"/>
            <a:ext cx="9906000" cy="952500"/>
          </a:xfrm>
          <a:prstGeom prst="rect">
            <a:avLst/>
          </a:prstGeom>
          <a:solidFill>
            <a:srgbClr val="FFFFFF">
              <a:alpha val="8235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conclusion-text"/>
          <p:cNvSpPr txBox="1"/>
          <p:nvPr/>
        </p:nvSpPr>
        <p:spPr>
          <a:xfrm>
            <a:off x="1333500" y="2143125"/>
            <a:ext cx="9525000" cy="85725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FFFFF"/>
                </a:solidFill>
                <a:latin typeface="QuattrocentoSans"/>
                <a:ea typeface="MiSans"/>
              </a:rPr>
              <a:t>核心结论：</a:t>
            </a:r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在受控 RISC-V Linux workload 下，可以从 CVA6/Genesys2 硬件 trace 重建 source-labeled behavior；当前证据支持 controlled behavior reconstruction，不支持 real malware detection accuracy。</a:t>
            </a:r>
          </a:p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FFFFF"/>
                </a:solidFill>
                <a:latin typeface="QuattrocentoSans"/>
                <a:ea typeface="MiSans"/>
              </a:rPr>
              <a:t>关键创新：</a:t>
            </a:r>
            <a:r>
              <a:rPr sz="1200" noProof="1">
                <a:solidFill>
                  <a:srgbClr val="FFFFFF"/>
                </a:solidFill>
                <a:latin typeface="QuattrocentoSans"/>
                <a:ea typeface="MiSans"/>
              </a:rPr>
              <a:t>RTL-level committed behavior trace + 明确的证据来源标记 + 分阶段 artifact-backed validation。</a:t>
            </a:r>
          </a:p>
        </p:txBody>
      </p:sp>
      <p:sp>
        <p:nvSpPr>
          <p:cNvPr id="6" name="dsl:question-title"/>
          <p:cNvSpPr txBox="1"/>
          <p:nvPr/>
        </p:nvSpPr>
        <p:spPr>
          <a:xfrm>
            <a:off x="1333500" y="3238500"/>
            <a:ext cx="9525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500" noProof="1">
                <a:solidFill>
                  <a:srgbClr val="B45309"/>
                </a:solidFill>
                <a:latin typeface="QuattrocentoSans"/>
                <a:ea typeface="MiSans"/>
              </a:rPr>
              <a:t>需要导师帮助判断的问题</a:t>
            </a:r>
          </a:p>
        </p:txBody>
      </p:sp>
      <p:sp>
        <p:nvSpPr>
          <p:cNvPr id="7" name="dsl:q1"/>
          <p:cNvSpPr txBox="1"/>
          <p:nvPr/>
        </p:nvSpPr>
        <p:spPr>
          <a:xfrm>
            <a:off x="1333500" y="3619500"/>
            <a:ext cx="9525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1.</a:t>
            </a:r>
            <a:r>
              <a:rPr sz="12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 当前主 claim 的 scope 和边界是否适合作为论文方向？</a:t>
            </a:r>
          </a:p>
        </p:txBody>
      </p:sp>
      <p:sp>
        <p:nvSpPr>
          <p:cNvPr id="8" name="dsl:q2"/>
          <p:cNvSpPr txBox="1"/>
          <p:nvPr/>
        </p:nvSpPr>
        <p:spPr>
          <a:xfrm>
            <a:off x="1333500" y="4238625"/>
            <a:ext cx="9525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2.</a:t>
            </a:r>
            <a:r>
              <a:rPr sz="12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 是否需要优先补齐 board-native benign control 或 full pointer string 证据？</a:t>
            </a:r>
          </a:p>
        </p:txBody>
      </p:sp>
      <p:sp>
        <p:nvSpPr>
          <p:cNvPr id="9" name="dsl:q3"/>
          <p:cNvSpPr txBox="1"/>
          <p:nvPr/>
        </p:nvSpPr>
        <p:spPr>
          <a:xfrm>
            <a:off x="1333500" y="4857750"/>
            <a:ext cx="95250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2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3.</a:t>
            </a:r>
            <a:r>
              <a:rPr sz="1200" noProof="1">
                <a:solidFill>
                  <a:srgbClr val="FFFFFF">
                    <a:alpha val="80000"/>
                  </a:srgbClr>
                </a:solidFill>
                <a:latin typeface="QuattrocentoSans"/>
                <a:ea typeface="MiSans"/>
              </a:rPr>
              <a:t> 论文投稿目标应定位 CCF-A 会议还是更务实的 workshop？</a:t>
            </a:r>
          </a:p>
        </p:txBody>
      </p:sp>
      <p:sp>
        <p:nvSpPr>
          <p:cNvPr id="10" name="dsl:thankyou"/>
          <p:cNvSpPr txBox="1"/>
          <p:nvPr/>
        </p:nvSpPr>
        <p:spPr>
          <a:xfrm>
            <a:off x="1333500" y="5715000"/>
            <a:ext cx="9525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noProof="1">
                <a:solidFill>
                  <a:srgbClr val="FFFFFF"/>
                </a:solidFill>
                <a:latin typeface="QuattrocentoSans"/>
                <a:ea typeface="MiSans"/>
              </a:rPr>
              <a:t>谢谢！欢迎提问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1E3A5F"/>
    <Color name="secondary" value="#5B6B82"/>
    <Color name="accent" value="#B45309"/>
    <Color name="background" value="#F7F8FA"/>
    <Color name="text" value="#1A1D23"/>
    <Color name="surface" value="#FFFFFF"/>
    <Color name="lightbg" value="#EFF1F5"/>
  </Colors>
  <TextStyles>
    <TextStyle name="title" font_size="40.0" color="#FFFFFF" font_family="QuattrocentoSans, MiSans" line_height="1.2" letter_spacing="2.0"/>
    <TextStyle name="subtitle" font_size="22.0" color="#FFFFFF" font_family="QuattrocentoSans, MiSans" line_height="1.4"/>
    <TextStyle name="heading" font_size="28.0" color="$primary" font_family="QuattrocentoSans, MiSans" line_height="1.3"/>
    <TextStyle name="body" font_size="18.0" color="$text" font_family="QuattrocentoSans, MiSans" line_height="1.6"/>
    <TextStyle name="caption" font_size="14.0" color="$secondary" font_family="QuattrocentoSans, MiSans" line_height="1.4"/>
    <TextStyle name="nav" font_size="14.0" color="#FFFFFF" font_family="QuattrocentoSans, MiSans" line_height="1.2"/>
  </TextStyles>
  <TableStyles>
    <TableStyle name="default" fontSize="16.0" fontFamily="QuattrocentoSans, MiSans" headerFill="$primary" headerColor="#FFFFFF" headerBold="true" bodyFill="#FFFFFF,#EFF1F5" bodyColor="$text" firstColumnBold="false">
      <Border style="solid" width="1.0" color="#E2E5EA"/>
    </TableStyle>
  </TableStyles>
</DslMetadata>
</file>

<file path=customXml/itemProps1.xml><?xml version="1.0" encoding="utf-8"?>
<ns0:datastoreItem xmlns:ns0="http://schemas.openxmlformats.org/officeDocument/2006/customXml" ns0:itemID="{2DBBAAE5-1163-4D02-A484-667198C54D25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